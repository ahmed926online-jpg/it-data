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516" y="-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97858" y="655573"/>
            <a:ext cx="1748282" cy="63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06775" y="321564"/>
            <a:ext cx="2330450" cy="941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949" y="1574482"/>
            <a:ext cx="6134100" cy="288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728" y="4746069"/>
            <a:ext cx="2313940" cy="36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15" dirty="0"/>
              <a:t>C</a:t>
            </a:r>
            <a:r>
              <a:rPr spc="20" dirty="0"/>
              <a:t>o</a:t>
            </a:r>
            <a:r>
              <a:rPr spc="25" dirty="0"/>
              <a:t>p</a:t>
            </a:r>
            <a:r>
              <a:rPr spc="-5" dirty="0"/>
              <a:t>y</a:t>
            </a:r>
            <a:r>
              <a:rPr dirty="0"/>
              <a:t>r</a:t>
            </a:r>
            <a:r>
              <a:rPr spc="20" dirty="0"/>
              <a:t>i</a:t>
            </a:r>
            <a:r>
              <a:rPr spc="-30" dirty="0"/>
              <a:t>g</a:t>
            </a:r>
            <a:r>
              <a:rPr spc="25" dirty="0"/>
              <a:t>h</a:t>
            </a:r>
            <a:r>
              <a:rPr dirty="0"/>
              <a:t>t</a:t>
            </a:r>
            <a:r>
              <a:rPr spc="-65" dirty="0"/>
              <a:t> </a:t>
            </a:r>
            <a:r>
              <a:rPr spc="-600" dirty="0"/>
              <a:t>©️</a:t>
            </a:r>
            <a:r>
              <a:rPr spc="45" dirty="0"/>
              <a:t> </a:t>
            </a:r>
            <a:r>
              <a:rPr spc="25" dirty="0"/>
              <a:t>A</a:t>
            </a:r>
            <a:r>
              <a:rPr dirty="0"/>
              <a:t>mer</a:t>
            </a:r>
            <a:r>
              <a:rPr spc="20" dirty="0"/>
              <a:t>i</a:t>
            </a:r>
            <a:r>
              <a:rPr spc="-30" dirty="0"/>
              <a:t>c</a:t>
            </a:r>
            <a:r>
              <a:rPr spc="25" dirty="0"/>
              <a:t>a</a:t>
            </a:r>
            <a:r>
              <a:rPr dirty="0"/>
              <a:t>n</a:t>
            </a:r>
            <a:r>
              <a:rPr spc="-65" dirty="0"/>
              <a:t> </a:t>
            </a:r>
            <a:r>
              <a:rPr spc="20" dirty="0"/>
              <a:t>C</a:t>
            </a:r>
            <a:r>
              <a:rPr spc="25" dirty="0"/>
              <a:t>o</a:t>
            </a:r>
            <a:r>
              <a:rPr spc="20" dirty="0"/>
              <a:t>ll</a:t>
            </a:r>
            <a:r>
              <a:rPr dirty="0"/>
              <a:t>e</a:t>
            </a:r>
            <a:r>
              <a:rPr spc="-25" dirty="0"/>
              <a:t>g</a:t>
            </a:r>
            <a:r>
              <a:rPr dirty="0"/>
              <a:t>e</a:t>
            </a:r>
            <a:r>
              <a:rPr spc="-90" dirty="0"/>
              <a:t> </a:t>
            </a:r>
            <a:r>
              <a:rPr spc="25" dirty="0"/>
              <a:t>o</a:t>
            </a:r>
            <a:r>
              <a:rPr dirty="0"/>
              <a:t>f</a:t>
            </a:r>
            <a:r>
              <a:rPr spc="-100" dirty="0"/>
              <a:t> </a:t>
            </a:r>
            <a:r>
              <a:rPr spc="15" dirty="0"/>
              <a:t>t</a:t>
            </a:r>
            <a:r>
              <a:rPr spc="25" dirty="0"/>
              <a:t>h</a:t>
            </a:r>
            <a:r>
              <a:rPr dirty="0"/>
              <a:t>e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M</a:t>
            </a:r>
            <a:r>
              <a:rPr spc="20" dirty="0"/>
              <a:t>i</a:t>
            </a:r>
            <a:r>
              <a:rPr spc="25" dirty="0"/>
              <a:t>dd</a:t>
            </a:r>
            <a:r>
              <a:rPr spc="20" dirty="0"/>
              <a:t>l</a:t>
            </a:r>
            <a:r>
              <a:rPr dirty="0"/>
              <a:t>e</a:t>
            </a:r>
            <a:r>
              <a:rPr spc="-90" dirty="0"/>
              <a:t> </a:t>
            </a:r>
            <a:r>
              <a:rPr spc="10" dirty="0"/>
              <a:t>E</a:t>
            </a:r>
            <a:r>
              <a:rPr spc="20" dirty="0"/>
              <a:t>a</a:t>
            </a:r>
            <a:r>
              <a:rPr spc="5" dirty="0"/>
              <a:t>s</a:t>
            </a:r>
            <a:r>
              <a:rPr spc="15" dirty="0"/>
              <a:t>t</a:t>
            </a:r>
            <a:r>
              <a:rPr dirty="0"/>
              <a:t>.</a:t>
            </a:r>
            <a:r>
              <a:rPr spc="-80" dirty="0"/>
              <a:t> </a:t>
            </a:r>
            <a:r>
              <a:rPr spc="-10" dirty="0"/>
              <a:t>2020</a:t>
            </a:r>
            <a:r>
              <a:rPr dirty="0"/>
              <a:t>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2246312"/>
            <a:ext cx="22040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E82728"/>
                </a:solidFill>
              </a:rPr>
              <a:t>CLASS</a:t>
            </a:r>
            <a:r>
              <a:rPr sz="4000" spc="-150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2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420" y="2246312"/>
            <a:ext cx="445833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404040"/>
                </a:solidFill>
              </a:rPr>
              <a:t>CLASS</a:t>
            </a:r>
            <a:r>
              <a:rPr sz="4000" spc="-100" dirty="0">
                <a:solidFill>
                  <a:srgbClr val="404040"/>
                </a:solidFill>
              </a:rPr>
              <a:t> </a:t>
            </a:r>
            <a:r>
              <a:rPr sz="4000" spc="15" dirty="0">
                <a:solidFill>
                  <a:srgbClr val="404040"/>
                </a:solidFill>
              </a:rPr>
              <a:t>1</a:t>
            </a:r>
            <a:r>
              <a:rPr sz="4000" spc="-30" dirty="0">
                <a:solidFill>
                  <a:srgbClr val="404040"/>
                </a:solidFill>
              </a:rPr>
              <a:t> </a:t>
            </a:r>
            <a:r>
              <a:rPr sz="4000" spc="15" dirty="0">
                <a:solidFill>
                  <a:srgbClr val="404040"/>
                </a:solidFill>
              </a:rPr>
              <a:t>REVIEW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577" y="2285364"/>
            <a:ext cx="77641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/>
              <a:t>what</a:t>
            </a:r>
            <a:r>
              <a:rPr sz="4350" spc="30" dirty="0"/>
              <a:t> </a:t>
            </a:r>
            <a:r>
              <a:rPr sz="4350" spc="35" dirty="0"/>
              <a:t>is</a:t>
            </a:r>
            <a:r>
              <a:rPr sz="4350" spc="-60" dirty="0"/>
              <a:t> </a:t>
            </a:r>
            <a:r>
              <a:rPr sz="4350" spc="20" dirty="0"/>
              <a:t>a</a:t>
            </a:r>
            <a:r>
              <a:rPr sz="4350" spc="15" dirty="0"/>
              <a:t> “Microprocessor”?</a:t>
            </a:r>
            <a:endParaRPr sz="4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030" y="1884298"/>
            <a:ext cx="7898765" cy="18237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065" marR="5080" algn="ctr">
              <a:lnSpc>
                <a:spcPct val="91100"/>
              </a:lnSpc>
              <a:spcBef>
                <a:spcPts val="470"/>
              </a:spcBef>
            </a:pP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150" spc="-5" dirty="0">
                <a:solidFill>
                  <a:srgbClr val="404040"/>
                </a:solidFill>
                <a:latin typeface="Verdana"/>
                <a:cs typeface="Verdana"/>
              </a:rPr>
              <a:t>Microprocessor,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also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known as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150" spc="-10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Central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Processing Unit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(CPU),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brain 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all computers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many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household</a:t>
            </a:r>
            <a:r>
              <a:rPr sz="315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 electronic</a:t>
            </a:r>
            <a:r>
              <a:rPr sz="315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devices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8210" y="788670"/>
            <a:ext cx="73164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/>
              <a:t>what </a:t>
            </a:r>
            <a:r>
              <a:rPr sz="4350" spc="40" dirty="0"/>
              <a:t>is</a:t>
            </a:r>
            <a:r>
              <a:rPr sz="4350" spc="-50" dirty="0"/>
              <a:t> </a:t>
            </a:r>
            <a:r>
              <a:rPr sz="4350" spc="20" dirty="0"/>
              <a:t>a</a:t>
            </a:r>
            <a:r>
              <a:rPr sz="4350" spc="10" dirty="0"/>
              <a:t> microprocessor?</a:t>
            </a:r>
            <a:endParaRPr sz="4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9875" y="287401"/>
            <a:ext cx="352679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30" dirty="0"/>
              <a:t>MPU</a:t>
            </a:r>
            <a:r>
              <a:rPr sz="4350" spc="10" dirty="0"/>
              <a:t> vs</a:t>
            </a:r>
            <a:r>
              <a:rPr sz="4350" spc="-15" dirty="0"/>
              <a:t> </a:t>
            </a:r>
            <a:r>
              <a:rPr sz="4350" spc="25" dirty="0"/>
              <a:t>MCU</a:t>
            </a:r>
            <a:endParaRPr sz="4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1066800"/>
            <a:ext cx="73456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767" y="287401"/>
            <a:ext cx="72815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/>
              <a:t>what</a:t>
            </a:r>
            <a:r>
              <a:rPr sz="4350" spc="25" dirty="0"/>
              <a:t> </a:t>
            </a:r>
            <a:r>
              <a:rPr sz="4350" spc="35" dirty="0"/>
              <a:t>is</a:t>
            </a:r>
            <a:r>
              <a:rPr sz="4350" spc="-40" dirty="0"/>
              <a:t> </a:t>
            </a:r>
            <a:r>
              <a:rPr sz="4350" spc="20" dirty="0"/>
              <a:t>a </a:t>
            </a:r>
            <a:r>
              <a:rPr sz="4350" spc="15" dirty="0"/>
              <a:t>microcontroller?</a:t>
            </a:r>
            <a:endParaRPr sz="4350"/>
          </a:p>
        </p:txBody>
      </p:sp>
      <p:sp>
        <p:nvSpPr>
          <p:cNvPr id="3" name="object 3"/>
          <p:cNvSpPr txBox="1"/>
          <p:nvPr/>
        </p:nvSpPr>
        <p:spPr>
          <a:xfrm>
            <a:off x="582930" y="1822195"/>
            <a:ext cx="7974330" cy="19761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-2540" algn="ctr">
              <a:lnSpc>
                <a:spcPct val="101699"/>
              </a:lnSpc>
              <a:spcBef>
                <a:spcPts val="70"/>
              </a:spcBef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microcontroller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is 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computer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present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single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integrated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circuit </a:t>
            </a:r>
            <a:r>
              <a:rPr sz="315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15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dedicated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 to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perform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task </a:t>
            </a:r>
            <a:r>
              <a:rPr sz="3150" spc="-10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execute</a:t>
            </a:r>
            <a:r>
              <a:rPr sz="3150" spc="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315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specific</a:t>
            </a:r>
            <a:r>
              <a:rPr sz="315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application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767" y="287401"/>
            <a:ext cx="72815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what</a:t>
            </a:r>
            <a:r>
              <a:rPr sz="435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35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435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a </a:t>
            </a:r>
            <a:r>
              <a:rPr sz="4350" spc="15" dirty="0">
                <a:solidFill>
                  <a:srgbClr val="014EA0"/>
                </a:solidFill>
                <a:latin typeface="Verdana"/>
                <a:cs typeface="Verdana"/>
              </a:rPr>
              <a:t>microcontroller?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7730" y="2007488"/>
            <a:ext cx="7371080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MCUs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contain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memory,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programmable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input/output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peripherals as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well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processor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143000"/>
            <a:ext cx="85953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57" y="1048448"/>
            <a:ext cx="758317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E82728"/>
                </a:solidFill>
              </a:rPr>
              <a:t>in</a:t>
            </a:r>
            <a:r>
              <a:rPr sz="4000" spc="-15" dirty="0">
                <a:solidFill>
                  <a:srgbClr val="E82728"/>
                </a:solidFill>
              </a:rPr>
              <a:t> </a:t>
            </a:r>
            <a:r>
              <a:rPr sz="4000" spc="20" dirty="0">
                <a:solidFill>
                  <a:srgbClr val="E82728"/>
                </a:solidFill>
              </a:rPr>
              <a:t>order</a:t>
            </a:r>
            <a:r>
              <a:rPr sz="4000" spc="-135" dirty="0">
                <a:solidFill>
                  <a:srgbClr val="E82728"/>
                </a:solidFill>
              </a:rPr>
              <a:t> </a:t>
            </a:r>
            <a:r>
              <a:rPr sz="4000" dirty="0">
                <a:solidFill>
                  <a:srgbClr val="E82728"/>
                </a:solidFill>
              </a:rPr>
              <a:t>to</a:t>
            </a:r>
            <a:r>
              <a:rPr sz="4000" spc="25" dirty="0">
                <a:solidFill>
                  <a:srgbClr val="E82728"/>
                </a:solidFill>
              </a:rPr>
              <a:t> work,</a:t>
            </a:r>
            <a:r>
              <a:rPr sz="4000" spc="-180" dirty="0">
                <a:solidFill>
                  <a:srgbClr val="E82728"/>
                </a:solidFill>
              </a:rPr>
              <a:t> </a:t>
            </a:r>
            <a:r>
              <a:rPr sz="4000" spc="5" dirty="0">
                <a:solidFill>
                  <a:srgbClr val="E82728"/>
                </a:solidFill>
              </a:rPr>
              <a:t>MCUs</a:t>
            </a:r>
            <a:r>
              <a:rPr sz="4000" spc="-25" dirty="0">
                <a:solidFill>
                  <a:srgbClr val="E82728"/>
                </a:solidFill>
              </a:rPr>
              <a:t> </a:t>
            </a:r>
            <a:r>
              <a:rPr sz="4000" spc="10" dirty="0">
                <a:solidFill>
                  <a:srgbClr val="E82728"/>
                </a:solidFill>
              </a:rPr>
              <a:t>need: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6257" y="2206155"/>
            <a:ext cx="7925434" cy="16357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561340" indent="-54927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561975" algn="l"/>
              </a:tabLst>
            </a:pP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Power</a:t>
            </a:r>
            <a:endParaRPr sz="3150">
              <a:latin typeface="Verdana"/>
              <a:cs typeface="Verdana"/>
            </a:endParaRPr>
          </a:p>
          <a:p>
            <a:pPr marL="1019175" indent="-549275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1019810" algn="l"/>
              </a:tabLst>
            </a:pP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315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(code)</a:t>
            </a:r>
            <a:r>
              <a:rPr sz="3150" spc="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15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follow</a:t>
            </a:r>
            <a:endParaRPr sz="3150">
              <a:latin typeface="Verdana"/>
              <a:cs typeface="Verdana"/>
            </a:endParaRPr>
          </a:p>
          <a:p>
            <a:pPr marL="1476375" indent="-54927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477010" algn="l"/>
              </a:tabLst>
            </a:pP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Inputs</a:t>
            </a:r>
            <a:r>
              <a:rPr sz="315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3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 Outputs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(HW</a:t>
            </a:r>
            <a:r>
              <a:rPr sz="3150" spc="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sz="315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404040"/>
                </a:solidFill>
                <a:latin typeface="Verdana"/>
                <a:cs typeface="Verdana"/>
              </a:rPr>
              <a:t>SW)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947" y="349250"/>
            <a:ext cx="667765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20" dirty="0">
                <a:latin typeface="Verdana"/>
                <a:cs typeface="Verdana"/>
              </a:rPr>
              <a:t>DIGITAL</a:t>
            </a:r>
            <a:r>
              <a:rPr sz="4000" b="1" spc="-220" dirty="0">
                <a:latin typeface="Verdana"/>
                <a:cs typeface="Verdana"/>
              </a:rPr>
              <a:t> </a:t>
            </a:r>
            <a:r>
              <a:rPr sz="4000" b="1" spc="15" dirty="0">
                <a:latin typeface="Verdana"/>
                <a:cs typeface="Verdana"/>
              </a:rPr>
              <a:t>COMPONENTS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0825" y="1467738"/>
            <a:ext cx="6108065" cy="331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basic</a:t>
            </a:r>
            <a:r>
              <a:rPr sz="3000" b="1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electronic components</a:t>
            </a:r>
            <a:endParaRPr sz="3000">
              <a:latin typeface="Verdana"/>
              <a:cs typeface="Verdana"/>
            </a:endParaRPr>
          </a:p>
          <a:p>
            <a:pPr marL="1621155" marR="1614170" indent="-5715" algn="ctr">
              <a:lnSpc>
                <a:spcPct val="200300"/>
              </a:lnSpc>
            </a:pPr>
            <a:r>
              <a:rPr sz="3000" b="1" spc="10" dirty="0">
                <a:solidFill>
                  <a:srgbClr val="404040"/>
                </a:solidFill>
                <a:latin typeface="Verdana"/>
                <a:cs typeface="Verdana"/>
              </a:rPr>
              <a:t>Ohm’s </a:t>
            </a:r>
            <a:r>
              <a:rPr sz="3000" b="1" spc="-10" dirty="0">
                <a:solidFill>
                  <a:srgbClr val="404040"/>
                </a:solidFill>
                <a:latin typeface="Verdana"/>
                <a:cs typeface="Verdana"/>
              </a:rPr>
              <a:t>law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Boolean</a:t>
            </a:r>
            <a:r>
              <a:rPr sz="3000" b="1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1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000" b="1" spc="5" dirty="0">
                <a:solidFill>
                  <a:srgbClr val="E82728"/>
                </a:solidFill>
                <a:latin typeface="Verdana"/>
                <a:cs typeface="Verdana"/>
              </a:rPr>
              <a:t>understand</a:t>
            </a:r>
            <a:r>
              <a:rPr sz="3000" b="1" spc="-1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E82728"/>
                </a:solidFill>
                <a:latin typeface="Verdana"/>
                <a:cs typeface="Verdana"/>
              </a:rPr>
              <a:t>variables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927" y="349250"/>
            <a:ext cx="700278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20" dirty="0">
                <a:solidFill>
                  <a:srgbClr val="E82728"/>
                </a:solidFill>
                <a:latin typeface="Verdana"/>
                <a:cs typeface="Verdana"/>
              </a:rPr>
              <a:t>DATA</a:t>
            </a:r>
            <a:r>
              <a:rPr sz="4000" b="1" spc="-1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5" dirty="0">
                <a:solidFill>
                  <a:srgbClr val="E82728"/>
                </a:solidFill>
                <a:latin typeface="Verdana"/>
                <a:cs typeface="Verdana"/>
              </a:rPr>
              <a:t>REPRESENTATION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7607" y="1467738"/>
            <a:ext cx="6790690" cy="331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000" b="1" spc="-5" dirty="0">
                <a:solidFill>
                  <a:srgbClr val="014EA0"/>
                </a:solidFill>
                <a:latin typeface="Verdana"/>
                <a:cs typeface="Verdana"/>
              </a:rPr>
              <a:t>binary</a:t>
            </a:r>
            <a:r>
              <a:rPr sz="3000" b="1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10" dirty="0">
                <a:solidFill>
                  <a:srgbClr val="014EA0"/>
                </a:solidFill>
                <a:latin typeface="Verdana"/>
                <a:cs typeface="Verdana"/>
              </a:rPr>
              <a:t>system</a:t>
            </a:r>
            <a:endParaRPr sz="3000">
              <a:latin typeface="Verdana"/>
              <a:cs typeface="Verdana"/>
            </a:endParaRPr>
          </a:p>
          <a:p>
            <a:pPr marL="1209675" marR="1202055" algn="ctr">
              <a:lnSpc>
                <a:spcPct val="200300"/>
              </a:lnSpc>
            </a:pPr>
            <a:r>
              <a:rPr sz="3000" b="1" spc="-10" dirty="0">
                <a:solidFill>
                  <a:srgbClr val="014EA0"/>
                </a:solidFill>
                <a:latin typeface="Verdana"/>
                <a:cs typeface="Verdana"/>
              </a:rPr>
              <a:t>hexadecimal</a:t>
            </a:r>
            <a:r>
              <a:rPr sz="3000" b="1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10" dirty="0">
                <a:solidFill>
                  <a:srgbClr val="014EA0"/>
                </a:solidFill>
                <a:latin typeface="Verdana"/>
                <a:cs typeface="Verdana"/>
              </a:rPr>
              <a:t>system </a:t>
            </a:r>
            <a:r>
              <a:rPr sz="3000" b="1" spc="-10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-10" dirty="0">
                <a:solidFill>
                  <a:srgbClr val="014EA0"/>
                </a:solidFill>
                <a:latin typeface="Verdana"/>
                <a:cs typeface="Verdana"/>
              </a:rPr>
              <a:t>decimal</a:t>
            </a:r>
            <a:r>
              <a:rPr sz="3000" b="1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b="1" spc="5" dirty="0">
                <a:solidFill>
                  <a:srgbClr val="014EA0"/>
                </a:solidFill>
                <a:latin typeface="Verdana"/>
                <a:cs typeface="Verdana"/>
              </a:rPr>
              <a:t>system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000" b="1" dirty="0">
                <a:solidFill>
                  <a:srgbClr val="404040"/>
                </a:solidFill>
                <a:latin typeface="Verdana"/>
                <a:cs typeface="Verdana"/>
              </a:rPr>
              <a:t>how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b="1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alternate</a:t>
            </a:r>
            <a:r>
              <a:rPr sz="3000" b="1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-5" dirty="0">
                <a:solidFill>
                  <a:srgbClr val="404040"/>
                </a:solidFill>
                <a:latin typeface="Verdana"/>
                <a:cs typeface="Verdana"/>
              </a:rPr>
              <a:t>between</a:t>
            </a:r>
            <a:r>
              <a:rPr sz="3000" b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b="1" spc="5" dirty="0">
                <a:solidFill>
                  <a:srgbClr val="404040"/>
                </a:solidFill>
                <a:latin typeface="Verdana"/>
                <a:cs typeface="Verdana"/>
              </a:rPr>
              <a:t>them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349250"/>
            <a:ext cx="499300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15" dirty="0">
                <a:solidFill>
                  <a:srgbClr val="E82728"/>
                </a:solidFill>
                <a:latin typeface="Verdana"/>
                <a:cs typeface="Verdana"/>
              </a:rPr>
              <a:t>binary</a:t>
            </a:r>
            <a:r>
              <a:rPr sz="4000" b="1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20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4000" b="1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5" dirty="0">
                <a:solidFill>
                  <a:srgbClr val="E82728"/>
                </a:solidFill>
                <a:latin typeface="Verdana"/>
                <a:cs typeface="Verdana"/>
              </a:rPr>
              <a:t>decimal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19" y="1798320"/>
            <a:ext cx="7452359" cy="21716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349250"/>
            <a:ext cx="499300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15" dirty="0">
                <a:solidFill>
                  <a:srgbClr val="E82728"/>
                </a:solidFill>
                <a:latin typeface="Verdana"/>
                <a:cs typeface="Verdana"/>
              </a:rPr>
              <a:t>binary</a:t>
            </a:r>
            <a:r>
              <a:rPr sz="4000" b="1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20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4000" b="1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5" dirty="0">
                <a:solidFill>
                  <a:srgbClr val="E82728"/>
                </a:solidFill>
                <a:latin typeface="Verdana"/>
                <a:cs typeface="Verdana"/>
              </a:rPr>
              <a:t>decimal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1203960"/>
            <a:ext cx="6614159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425450"/>
            <a:ext cx="499300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15" dirty="0">
                <a:solidFill>
                  <a:srgbClr val="E82728"/>
                </a:solidFill>
                <a:latin typeface="Verdana"/>
                <a:cs typeface="Verdana"/>
              </a:rPr>
              <a:t>binary</a:t>
            </a:r>
            <a:r>
              <a:rPr sz="4000" b="1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20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4000" b="1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b="1" spc="5" dirty="0">
                <a:solidFill>
                  <a:srgbClr val="E82728"/>
                </a:solidFill>
                <a:latin typeface="Verdana"/>
                <a:cs typeface="Verdana"/>
              </a:rPr>
              <a:t>decimal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1958339"/>
            <a:ext cx="7879080" cy="1722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448690"/>
            <a:ext cx="220408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>
                <a:solidFill>
                  <a:srgbClr val="E82728"/>
                </a:solidFill>
              </a:rPr>
              <a:t>CLASS</a:t>
            </a:r>
            <a:r>
              <a:rPr sz="4000" spc="-165">
                <a:solidFill>
                  <a:srgbClr val="E82728"/>
                </a:solidFill>
              </a:rPr>
              <a:t> </a:t>
            </a:r>
            <a:r>
              <a:rPr lang="en-US" sz="4000" spc="15">
                <a:solidFill>
                  <a:srgbClr val="E82728"/>
                </a:solidFill>
              </a:rPr>
              <a:t>2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245745" y="1805622"/>
            <a:ext cx="8630285" cy="231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INTRODUCTION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TO</a:t>
            </a:r>
            <a:r>
              <a:rPr sz="30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014EA0"/>
                </a:solidFill>
                <a:latin typeface="Verdana"/>
                <a:cs typeface="Verdana"/>
              </a:rPr>
              <a:t>ASSEMBLY</a:t>
            </a:r>
            <a:r>
              <a:rPr sz="3000" spc="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ADDING</a:t>
            </a:r>
            <a:r>
              <a:rPr sz="30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SUBSTRACTING</a:t>
            </a:r>
            <a:r>
              <a:rPr sz="30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VALUES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REGISTERS</a:t>
            </a:r>
            <a:r>
              <a:rPr sz="30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OPERATIONS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TRIS</a:t>
            </a:r>
            <a:r>
              <a:rPr sz="3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30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PORT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REGISTERS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LED</a:t>
            </a:r>
            <a:r>
              <a:rPr sz="3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BLINK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679" y="1884679"/>
            <a:ext cx="5654040" cy="13652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194435" marR="5080" indent="-1182370">
              <a:lnSpc>
                <a:spcPct val="101299"/>
              </a:lnSpc>
              <a:spcBef>
                <a:spcPts val="65"/>
              </a:spcBef>
            </a:pPr>
            <a:r>
              <a:rPr sz="4350" spc="20" dirty="0"/>
              <a:t>what</a:t>
            </a:r>
            <a:r>
              <a:rPr sz="4350" spc="35" dirty="0"/>
              <a:t> is</a:t>
            </a:r>
            <a:r>
              <a:rPr sz="4350" spc="-45" dirty="0"/>
              <a:t> </a:t>
            </a:r>
            <a:r>
              <a:rPr sz="4350" spc="20" dirty="0"/>
              <a:t>a </a:t>
            </a:r>
            <a:r>
              <a:rPr sz="4350" spc="-10" dirty="0"/>
              <a:t>“Assembly </a:t>
            </a:r>
            <a:r>
              <a:rPr sz="4350" spc="-1515" dirty="0"/>
              <a:t> </a:t>
            </a:r>
            <a:r>
              <a:rPr sz="4350" spc="10" dirty="0"/>
              <a:t>Language”?</a:t>
            </a:r>
            <a:endParaRPr sz="4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892" y="1329436"/>
            <a:ext cx="8352155" cy="277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4445" algn="ctr">
              <a:lnSpc>
                <a:spcPct val="100000"/>
              </a:lnSpc>
              <a:spcBef>
                <a:spcPts val="105"/>
              </a:spcBef>
            </a:pP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2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LANGUAGE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EXTREMELY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LOW-LEVEL</a:t>
            </a:r>
            <a:r>
              <a:rPr sz="3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PROGRAMMING</a:t>
            </a:r>
            <a:r>
              <a:rPr sz="3000" spc="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HAS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1-TO-1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CORRESPONDENCE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MACHINE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CODE —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SERIES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BINARY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INSTRUCTIONS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WHICH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MOVE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VALUES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REGISTERS</a:t>
            </a:r>
            <a:r>
              <a:rPr sz="3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1785" y="140715"/>
            <a:ext cx="5980430" cy="4461478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GENERAL</a:t>
            </a:r>
            <a:r>
              <a:rPr sz="3600" spc="-1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014EA0"/>
                </a:solidFill>
                <a:latin typeface="Verdana"/>
                <a:cs typeface="Verdana"/>
              </a:rPr>
              <a:t>OPERATIONS</a:t>
            </a:r>
            <a:endParaRPr sz="3600" dirty="0">
              <a:latin typeface="Verdana"/>
              <a:cs typeface="Verdana"/>
            </a:endParaRPr>
          </a:p>
          <a:p>
            <a:pPr marL="934719" marR="1204595">
              <a:lnSpc>
                <a:spcPct val="100000"/>
              </a:lnSpc>
              <a:spcBef>
                <a:spcPts val="1460"/>
              </a:spcBef>
            </a:pPr>
            <a:r>
              <a:rPr sz="3600" spc="-25" dirty="0">
                <a:solidFill>
                  <a:srgbClr val="404040"/>
                </a:solidFill>
                <a:latin typeface="Verdana"/>
                <a:cs typeface="Verdana"/>
              </a:rPr>
              <a:t>MOVLW </a:t>
            </a:r>
            <a:r>
              <a:rPr sz="3600" spc="25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6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404040"/>
                </a:solidFill>
                <a:latin typeface="Verdana"/>
                <a:cs typeface="Verdana"/>
              </a:rPr>
              <a:t>MOVWF</a:t>
            </a:r>
            <a:r>
              <a:rPr sz="36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-6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3600" spc="-13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15" dirty="0">
                <a:solidFill>
                  <a:srgbClr val="404040"/>
                </a:solidFill>
                <a:latin typeface="Verdana"/>
                <a:cs typeface="Verdana"/>
              </a:rPr>
              <a:t>ADDLW </a:t>
            </a:r>
            <a:r>
              <a:rPr sz="3600" spc="30" dirty="0">
                <a:solidFill>
                  <a:srgbClr val="014EA0"/>
                </a:solidFill>
                <a:latin typeface="Verdana"/>
                <a:cs typeface="Verdana"/>
              </a:rPr>
              <a:t>b101 </a:t>
            </a:r>
            <a:r>
              <a:rPr sz="36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25" dirty="0">
                <a:solidFill>
                  <a:srgbClr val="404040"/>
                </a:solidFill>
                <a:latin typeface="Verdana"/>
                <a:cs typeface="Verdana"/>
              </a:rPr>
              <a:t>SUBLW</a:t>
            </a:r>
            <a:r>
              <a:rPr sz="3600" spc="13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rgbClr val="014EA0"/>
                </a:solidFill>
                <a:latin typeface="Verdana"/>
                <a:cs typeface="Verdana"/>
              </a:rPr>
              <a:t>25</a:t>
            </a:r>
            <a:endParaRPr lang="en-US" sz="3600" spc="35" dirty="0">
              <a:solidFill>
                <a:srgbClr val="014EA0"/>
              </a:solidFill>
              <a:latin typeface="Verdana"/>
              <a:cs typeface="Verdana"/>
            </a:endParaRPr>
          </a:p>
          <a:p>
            <a:pPr marL="934719" marR="1204595">
              <a:lnSpc>
                <a:spcPct val="100000"/>
              </a:lnSpc>
              <a:spcBef>
                <a:spcPts val="1460"/>
              </a:spcBef>
            </a:pPr>
            <a:r>
              <a:rPr sz="3600" spc="15" dirty="0">
                <a:solidFill>
                  <a:srgbClr val="404040"/>
                </a:solidFill>
                <a:latin typeface="Verdana"/>
                <a:cs typeface="Verdana"/>
              </a:rPr>
              <a:t>BCF</a:t>
            </a:r>
            <a:r>
              <a:rPr sz="36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RP1</a:t>
            </a:r>
            <a:endParaRPr sz="3600" dirty="0">
              <a:latin typeface="Verdana"/>
              <a:cs typeface="Verdana"/>
            </a:endParaRPr>
          </a:p>
          <a:p>
            <a:pPr marL="934719">
              <a:lnSpc>
                <a:spcPct val="100000"/>
              </a:lnSpc>
              <a:spcBef>
                <a:spcPts val="35"/>
              </a:spcBef>
            </a:pPr>
            <a:r>
              <a:rPr sz="3600" spc="15" dirty="0">
                <a:solidFill>
                  <a:srgbClr val="404040"/>
                </a:solidFill>
                <a:latin typeface="Verdana"/>
                <a:cs typeface="Verdana"/>
              </a:rPr>
              <a:t>BSF</a:t>
            </a:r>
            <a:r>
              <a:rPr sz="36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772" y="2285364"/>
            <a:ext cx="846264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ADDING</a:t>
            </a:r>
            <a:r>
              <a:rPr sz="4350" spc="35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60" dirty="0">
                <a:solidFill>
                  <a:srgbClr val="E82728"/>
                </a:solidFill>
              </a:rPr>
              <a:t> </a:t>
            </a:r>
            <a:r>
              <a:rPr sz="4350" spc="20" dirty="0">
                <a:solidFill>
                  <a:srgbClr val="E82728"/>
                </a:solidFill>
              </a:rPr>
              <a:t>SUBSTRACTING</a:t>
            </a:r>
            <a:endParaRPr sz="4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8953" y="321881"/>
            <a:ext cx="201168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54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+</a:t>
            </a:r>
            <a:r>
              <a:rPr sz="54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1004" y="1891601"/>
            <a:ext cx="24955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MOVLW</a:t>
            </a:r>
            <a:r>
              <a:rPr sz="4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60770" y="1802129"/>
            <a:ext cx="853440" cy="853440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5"/>
              </a:spcBef>
            </a:pPr>
            <a:r>
              <a:rPr sz="5400" spc="5" dirty="0">
                <a:solidFill>
                  <a:srgbClr val="404040"/>
                </a:solidFill>
              </a:rPr>
              <a:t>A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5452109" y="3211829"/>
            <a:ext cx="2270760" cy="845819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35"/>
              </a:spcBef>
            </a:pP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5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+</a:t>
            </a:r>
            <a:r>
              <a:rPr sz="54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6119" y="2546921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0969" y="4019550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7266" y="3317811"/>
            <a:ext cx="245046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>
                <a:solidFill>
                  <a:srgbClr val="404040"/>
                </a:solidFill>
                <a:latin typeface="Verdana"/>
                <a:cs typeface="Verdana"/>
              </a:rPr>
              <a:t>ADDLW</a:t>
            </a:r>
            <a:r>
              <a:rPr sz="40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7354" y="2138298"/>
            <a:ext cx="281686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10</a:t>
            </a:r>
            <a:r>
              <a:rPr sz="54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+</a:t>
            </a:r>
            <a:r>
              <a:rPr sz="54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15" dirty="0">
                <a:solidFill>
                  <a:srgbClr val="014EA0"/>
                </a:solidFill>
                <a:latin typeface="Verdana"/>
                <a:cs typeface="Verdana"/>
              </a:rPr>
              <a:t>20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4420" y="2138298"/>
            <a:ext cx="4456430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0xF0</a:t>
            </a:r>
            <a:r>
              <a:rPr sz="5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+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15" dirty="0">
                <a:solidFill>
                  <a:srgbClr val="014EA0"/>
                </a:solidFill>
                <a:latin typeface="Verdana"/>
                <a:cs typeface="Verdana"/>
              </a:rPr>
              <a:t>0x01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1001" y="321881"/>
            <a:ext cx="176212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r>
              <a:rPr sz="54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-</a:t>
            </a:r>
            <a:r>
              <a:rPr sz="54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1004" y="1891601"/>
            <a:ext cx="24955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5" dirty="0">
                <a:solidFill>
                  <a:srgbClr val="404040"/>
                </a:solidFill>
                <a:latin typeface="Verdana"/>
                <a:cs typeface="Verdana"/>
              </a:rPr>
              <a:t>MOVLW</a:t>
            </a:r>
            <a:r>
              <a:rPr sz="4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en-US" sz="4000" spc="15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60770" y="1802129"/>
            <a:ext cx="853440" cy="853440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65"/>
              </a:spcBef>
            </a:pPr>
            <a:r>
              <a:rPr sz="5400" spc="5" dirty="0">
                <a:solidFill>
                  <a:srgbClr val="404040"/>
                </a:solidFill>
              </a:rPr>
              <a:t>A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5452109" y="3211829"/>
            <a:ext cx="2270760" cy="845819"/>
          </a:xfrm>
          <a:prstGeom prst="rect">
            <a:avLst/>
          </a:prstGeom>
          <a:ln w="7627">
            <a:solidFill>
              <a:srgbClr val="40404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35"/>
              </a:spcBef>
            </a:pPr>
            <a:r>
              <a:rPr lang="en-US" sz="5400" spc="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5400" spc="-45" dirty="0" smtClean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54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en-US" sz="5400" spc="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endParaRPr sz="5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6119" y="2546921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0969" y="4019550"/>
            <a:ext cx="213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82728"/>
                </a:solidFill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7745" y="3317811"/>
            <a:ext cx="238252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20" dirty="0">
                <a:solidFill>
                  <a:srgbClr val="404040"/>
                </a:solidFill>
                <a:latin typeface="Verdana"/>
                <a:cs typeface="Verdana"/>
              </a:rPr>
              <a:t>SUBLW</a:t>
            </a:r>
            <a:r>
              <a:rPr sz="40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en-US" sz="4000" spc="15" dirty="0">
                <a:solidFill>
                  <a:srgbClr val="014EA0"/>
                </a:solidFill>
                <a:latin typeface="Verdana"/>
                <a:cs typeface="Verdana"/>
              </a:rPr>
              <a:t>A</a:t>
            </a:r>
            <a:endParaRPr sz="4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96895" y="2138298"/>
            <a:ext cx="2567305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50</a:t>
            </a:r>
            <a:r>
              <a:rPr sz="54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-</a:t>
            </a:r>
            <a:r>
              <a:rPr sz="54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10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9101" y="2138298"/>
            <a:ext cx="4231005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10" dirty="0">
                <a:solidFill>
                  <a:srgbClr val="014EA0"/>
                </a:solidFill>
                <a:latin typeface="Verdana"/>
                <a:cs typeface="Verdana"/>
              </a:rPr>
              <a:t>0xFF</a:t>
            </a:r>
            <a:r>
              <a:rPr sz="54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dirty="0">
                <a:solidFill>
                  <a:srgbClr val="014EA0"/>
                </a:solidFill>
                <a:latin typeface="Verdana"/>
                <a:cs typeface="Verdana"/>
              </a:rPr>
              <a:t>-</a:t>
            </a:r>
            <a:r>
              <a:rPr sz="54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5400" spc="-5" dirty="0">
                <a:solidFill>
                  <a:srgbClr val="014EA0"/>
                </a:solidFill>
                <a:latin typeface="Verdana"/>
                <a:cs typeface="Verdana"/>
              </a:rPr>
              <a:t>0xAA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960" y="608584"/>
            <a:ext cx="4189729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LET’S</a:t>
            </a:r>
            <a:r>
              <a:rPr sz="4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812" y="2285364"/>
            <a:ext cx="858583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REGISTERS</a:t>
            </a:r>
            <a:r>
              <a:rPr sz="4350" spc="8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10" dirty="0">
                <a:solidFill>
                  <a:srgbClr val="E82728"/>
                </a:solidFill>
              </a:rPr>
              <a:t> </a:t>
            </a:r>
            <a:r>
              <a:rPr sz="4350" spc="-10" dirty="0">
                <a:solidFill>
                  <a:srgbClr val="E82728"/>
                </a:solidFill>
              </a:rPr>
              <a:t>OPERATIONS</a:t>
            </a:r>
            <a:endParaRPr sz="43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075" y="1599819"/>
            <a:ext cx="8290559" cy="277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change from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1 we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talk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STATUS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do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by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setting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RP0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and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RP1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bits.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most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cases</a:t>
            </a:r>
            <a:r>
              <a:rPr sz="3000" spc="3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we’ll</a:t>
            </a:r>
            <a:r>
              <a:rPr sz="3000" spc="40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3000" spc="4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moving</a:t>
            </a:r>
            <a:r>
              <a:rPr sz="3000" spc="3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only</a:t>
            </a:r>
            <a:r>
              <a:rPr sz="3000" spc="4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between</a:t>
            </a:r>
            <a:r>
              <a:rPr sz="3000" spc="4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Bank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1,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thus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just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modify the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value</a:t>
            </a:r>
            <a:r>
              <a:rPr sz="30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bit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STATUS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4890" y="321945"/>
            <a:ext cx="201485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" dirty="0"/>
              <a:t>S</a:t>
            </a:r>
            <a:r>
              <a:rPr sz="4000" spc="-235" dirty="0"/>
              <a:t>T</a:t>
            </a:r>
            <a:r>
              <a:rPr sz="4000" spc="-220" dirty="0"/>
              <a:t>A</a:t>
            </a:r>
            <a:r>
              <a:rPr sz="4000" spc="-10" dirty="0"/>
              <a:t>T</a:t>
            </a:r>
            <a:r>
              <a:rPr sz="4000" spc="15" dirty="0"/>
              <a:t>US</a:t>
            </a:r>
            <a:endParaRPr sz="4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405" y="656018"/>
            <a:ext cx="59734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404040"/>
                </a:solidFill>
              </a:rPr>
              <a:t>TRISD</a:t>
            </a:r>
            <a:r>
              <a:rPr sz="4800" spc="-55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is</a:t>
            </a:r>
            <a:r>
              <a:rPr sz="4800" spc="40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in</a:t>
            </a:r>
            <a:r>
              <a:rPr sz="4800" spc="45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1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34060">
              <a:lnSpc>
                <a:spcPct val="100000"/>
              </a:lnSpc>
              <a:spcBef>
                <a:spcPts val="130"/>
              </a:spcBef>
              <a:tabLst>
                <a:tab pos="2220595" algn="l"/>
              </a:tabLst>
            </a:pPr>
            <a:r>
              <a:rPr spc="5" dirty="0"/>
              <a:t>BSF	</a:t>
            </a:r>
            <a:r>
              <a:rPr spc="-45" dirty="0"/>
              <a:t>STATUS,</a:t>
            </a:r>
            <a:r>
              <a:rPr spc="100" dirty="0"/>
              <a:t> </a:t>
            </a:r>
            <a:r>
              <a:rPr spc="20" dirty="0"/>
              <a:t>5</a:t>
            </a:r>
          </a:p>
          <a:p>
            <a:pPr marL="8255">
              <a:lnSpc>
                <a:spcPct val="100000"/>
              </a:lnSpc>
            </a:pPr>
            <a:endParaRPr sz="3800"/>
          </a:p>
          <a:p>
            <a:pPr marL="20955">
              <a:lnSpc>
                <a:spcPct val="100000"/>
              </a:lnSpc>
              <a:spcBef>
                <a:spcPts val="3075"/>
              </a:spcBef>
            </a:pPr>
            <a:r>
              <a:rPr sz="4800" spc="-25" dirty="0">
                <a:solidFill>
                  <a:srgbClr val="404040"/>
                </a:solidFill>
              </a:rPr>
              <a:t>PORTD</a:t>
            </a:r>
            <a:r>
              <a:rPr sz="4800" spc="-5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is</a:t>
            </a:r>
            <a:r>
              <a:rPr sz="4800" spc="-5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in</a:t>
            </a:r>
            <a:r>
              <a:rPr sz="4800" spc="40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3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0</a:t>
            </a:r>
            <a:endParaRPr sz="4800"/>
          </a:p>
          <a:p>
            <a:pPr marL="734060">
              <a:lnSpc>
                <a:spcPct val="100000"/>
              </a:lnSpc>
              <a:spcBef>
                <a:spcPts val="1495"/>
              </a:spcBef>
              <a:tabLst>
                <a:tab pos="2220595" algn="l"/>
              </a:tabLst>
            </a:pPr>
            <a:r>
              <a:rPr spc="10" dirty="0"/>
              <a:t>BCF	</a:t>
            </a:r>
            <a:r>
              <a:rPr spc="-45" dirty="0"/>
              <a:t>STATUS,</a:t>
            </a:r>
            <a:r>
              <a:rPr spc="105" dirty="0"/>
              <a:t> </a:t>
            </a:r>
            <a:r>
              <a:rPr spc="20" dirty="0"/>
              <a:t>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322199"/>
            <a:ext cx="54883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/>
              <a:t>BANK</a:t>
            </a:r>
            <a:r>
              <a:rPr sz="4800" spc="-85" dirty="0"/>
              <a:t> </a:t>
            </a:r>
            <a:r>
              <a:rPr sz="4800" spc="5" dirty="0"/>
              <a:t>SELECTION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219200"/>
            <a:ext cx="4876800" cy="22783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8735" y="3695700"/>
            <a:ext cx="4682474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322199"/>
            <a:ext cx="548830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/>
              <a:t>BANK</a:t>
            </a:r>
            <a:r>
              <a:rPr sz="4800" spc="-85" dirty="0"/>
              <a:t> </a:t>
            </a:r>
            <a:r>
              <a:rPr sz="4800" spc="5" dirty="0"/>
              <a:t>SELECTION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695" y="1902637"/>
            <a:ext cx="6141818" cy="21245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9405" y="322199"/>
            <a:ext cx="59734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" dirty="0">
                <a:solidFill>
                  <a:srgbClr val="404040"/>
                </a:solidFill>
              </a:rPr>
              <a:t>TRISD</a:t>
            </a:r>
            <a:r>
              <a:rPr sz="4800" spc="-7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is</a:t>
            </a:r>
            <a:r>
              <a:rPr sz="4800" spc="50" dirty="0">
                <a:solidFill>
                  <a:srgbClr val="404040"/>
                </a:solidFill>
              </a:rPr>
              <a:t> </a:t>
            </a:r>
            <a:r>
              <a:rPr sz="4800" spc="-30" dirty="0">
                <a:solidFill>
                  <a:srgbClr val="404040"/>
                </a:solidFill>
              </a:rPr>
              <a:t>in</a:t>
            </a:r>
            <a:r>
              <a:rPr sz="4800" spc="45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BANK</a:t>
            </a:r>
            <a:r>
              <a:rPr sz="4800" spc="-1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226310" y="1340103"/>
            <a:ext cx="4172585" cy="999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0"/>
              </a:spcBef>
              <a:tabLst>
                <a:tab pos="1499235" algn="l"/>
              </a:tabLst>
            </a:pP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 </a:t>
            </a:r>
            <a:r>
              <a:rPr sz="3150" spc="-10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3205" y="2700337"/>
            <a:ext cx="61258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2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48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5" dirty="0">
                <a:solidFill>
                  <a:srgbClr val="404040"/>
                </a:solidFill>
                <a:latin typeface="Verdana"/>
                <a:cs typeface="Verdana"/>
              </a:rPr>
              <a:t>BANK</a:t>
            </a:r>
            <a:r>
              <a:rPr sz="4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6310" y="3718559"/>
            <a:ext cx="4172585" cy="999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0"/>
              </a:spcBef>
              <a:tabLst>
                <a:tab pos="1499235" algn="l"/>
              </a:tabLst>
            </a:pP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RP1 </a:t>
            </a:r>
            <a:r>
              <a:rPr sz="3150" spc="-10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150" spc="-4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150" spc="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RP0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314" y="321945"/>
            <a:ext cx="333946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20" dirty="0"/>
              <a:t>W</a:t>
            </a:r>
            <a:r>
              <a:rPr sz="4000" spc="-130" dirty="0"/>
              <a:t> </a:t>
            </a:r>
            <a:r>
              <a:rPr sz="4000" spc="15" dirty="0"/>
              <a:t>REGISTER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9450" cy="231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register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general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register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7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put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any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 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you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wish.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Once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you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3000" spc="10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assigned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25" dirty="0">
                <a:solidFill>
                  <a:srgbClr val="404040"/>
                </a:solidFill>
                <a:latin typeface="Verdana"/>
                <a:cs typeface="Verdana"/>
              </a:rPr>
              <a:t>W,</a:t>
            </a:r>
            <a:r>
              <a:rPr sz="3000" spc="-2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add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it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another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value,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move.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7750" y="321945"/>
            <a:ext cx="197167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/>
              <a:t>M</a:t>
            </a:r>
            <a:r>
              <a:rPr sz="4000" spc="25" dirty="0"/>
              <a:t>O</a:t>
            </a:r>
            <a:r>
              <a:rPr sz="4000" spc="15" dirty="0"/>
              <a:t>V</a:t>
            </a:r>
            <a:r>
              <a:rPr sz="4000" spc="-185" dirty="0"/>
              <a:t>L</a:t>
            </a:r>
            <a:r>
              <a:rPr sz="4000" spc="20" dirty="0"/>
              <a:t>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6275" cy="2815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MOVLW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command means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‘Move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Literal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Into </a:t>
            </a:r>
            <a:r>
              <a:rPr sz="3000" spc="-120" dirty="0">
                <a:solidFill>
                  <a:srgbClr val="404040"/>
                </a:solidFill>
                <a:latin typeface="Verdana"/>
                <a:cs typeface="Verdana"/>
              </a:rPr>
              <a:t>W’,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which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in English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means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put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value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follows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directly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into 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 dirty="0">
              <a:latin typeface="Verdana"/>
              <a:cs typeface="Verdana"/>
            </a:endParaRPr>
          </a:p>
          <a:p>
            <a:pPr marR="111125" algn="ctr">
              <a:lnSpc>
                <a:spcPct val="100000"/>
              </a:lnSpc>
              <a:spcBef>
                <a:spcPts val="5"/>
              </a:spcBef>
              <a:tabLst>
                <a:tab pos="2066289" algn="l"/>
              </a:tabLst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0xAA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2509" y="321945"/>
            <a:ext cx="200533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5" dirty="0"/>
              <a:t>M</a:t>
            </a:r>
            <a:r>
              <a:rPr sz="4000" spc="25" dirty="0"/>
              <a:t>O</a:t>
            </a:r>
            <a:r>
              <a:rPr sz="4000" spc="15" dirty="0"/>
              <a:t>VWF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0559" cy="2431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instruction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means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“Move</a:t>
            </a:r>
            <a:r>
              <a:rPr sz="3000" spc="10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Contents 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Into The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Register Address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Follows”.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Verdana"/>
              <a:cs typeface="Verdana"/>
            </a:endParaRPr>
          </a:p>
          <a:p>
            <a:pPr marR="85090" algn="ctr">
              <a:lnSpc>
                <a:spcPct val="100000"/>
              </a:lnSpc>
            </a:pP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69" y="2285364"/>
            <a:ext cx="794321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TRIS</a:t>
            </a:r>
            <a:r>
              <a:rPr sz="4350" spc="15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dirty="0">
                <a:solidFill>
                  <a:srgbClr val="E82728"/>
                </a:solidFill>
              </a:rPr>
              <a:t> </a:t>
            </a:r>
            <a:r>
              <a:rPr sz="4350" spc="-15" dirty="0">
                <a:solidFill>
                  <a:srgbClr val="E82728"/>
                </a:solidFill>
              </a:rPr>
              <a:t>PORT</a:t>
            </a:r>
            <a:r>
              <a:rPr sz="4350" spc="70" dirty="0">
                <a:solidFill>
                  <a:srgbClr val="E82728"/>
                </a:solidFill>
              </a:rPr>
              <a:t> </a:t>
            </a:r>
            <a:r>
              <a:rPr sz="4350" spc="20" dirty="0">
                <a:solidFill>
                  <a:srgbClr val="E82728"/>
                </a:solidFill>
              </a:rPr>
              <a:t>REGISTERS</a:t>
            </a:r>
            <a:endParaRPr sz="43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270" y="321945"/>
            <a:ext cx="126682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/>
              <a:t>T</a:t>
            </a:r>
            <a:r>
              <a:rPr sz="4000" spc="30" dirty="0"/>
              <a:t>R</a:t>
            </a:r>
            <a:r>
              <a:rPr sz="4000" spc="50" dirty="0"/>
              <a:t>I</a:t>
            </a:r>
            <a:r>
              <a:rPr sz="4000" spc="1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9450" cy="3114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use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TRIS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Register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program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pin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an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output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input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simply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sending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0</a:t>
            </a:r>
            <a:r>
              <a:rPr lang="en-US" sz="3000" dirty="0">
                <a:solidFill>
                  <a:srgbClr val="404040"/>
                </a:solidFill>
                <a:latin typeface="Verdana"/>
                <a:cs typeface="Verdana"/>
              </a:rPr>
              <a:t> (out)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r>
              <a:rPr lang="en-US" sz="3000" dirty="0">
                <a:solidFill>
                  <a:srgbClr val="404040"/>
                </a:solidFill>
                <a:latin typeface="Verdana"/>
                <a:cs typeface="Verdana"/>
              </a:rPr>
              <a:t> (in)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10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relevant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 </a:t>
            </a:r>
            <a:r>
              <a:rPr sz="3000" spc="7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 dirty="0">
              <a:latin typeface="Verdana"/>
              <a:cs typeface="Verdana"/>
            </a:endParaRPr>
          </a:p>
          <a:p>
            <a:pPr marL="2416810" marR="2510155" indent="190500">
              <a:lnSpc>
                <a:spcPct val="100000"/>
              </a:lnSpc>
              <a:spcBef>
                <a:spcPts val="1265"/>
              </a:spcBef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 0xFF </a:t>
            </a: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309" y="321945"/>
            <a:ext cx="139255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/>
              <a:t>P</a:t>
            </a:r>
            <a:r>
              <a:rPr sz="4000" spc="25" dirty="0"/>
              <a:t>O</a:t>
            </a:r>
            <a:r>
              <a:rPr sz="4000" spc="-85" dirty="0"/>
              <a:t>R</a:t>
            </a:r>
            <a:r>
              <a:rPr sz="4000" spc="1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3075" y="1599819"/>
            <a:ext cx="8290559" cy="2927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send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one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output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pins high,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we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simply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send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‘1’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to the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corresponding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bit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PORTx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register.</a:t>
            </a:r>
            <a:endParaRPr sz="3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 dirty="0">
              <a:latin typeface="Verdana"/>
              <a:cs typeface="Verdana"/>
            </a:endParaRPr>
          </a:p>
          <a:p>
            <a:pPr marL="2386330" marR="2468245" indent="220979">
              <a:lnSpc>
                <a:spcPct val="100000"/>
              </a:lnSpc>
            </a:pP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6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6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600" spc="-30" dirty="0">
                <a:solidFill>
                  <a:srgbClr val="014EA0"/>
                </a:solidFill>
                <a:latin typeface="Verdana"/>
                <a:cs typeface="Verdana"/>
              </a:rPr>
              <a:t>PORTx</a:t>
            </a:r>
            <a:endParaRPr sz="3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2628900"/>
            <a:ext cx="358140" cy="68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2628900"/>
            <a:ext cx="365759" cy="685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220" y="2628900"/>
            <a:ext cx="358140" cy="685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0" y="2628900"/>
            <a:ext cx="358140" cy="685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26289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220" y="26289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7059" y="2628900"/>
            <a:ext cx="358140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40" y="26289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45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19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971992"/>
            <a:ext cx="7773034" cy="1585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PORTB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854"/>
              </a:spcBef>
              <a:tabLst>
                <a:tab pos="998855" algn="l"/>
                <a:tab pos="2005964" algn="l"/>
                <a:tab pos="3004820" algn="l"/>
                <a:tab pos="4011295" algn="l"/>
                <a:tab pos="5010150" algn="l"/>
                <a:tab pos="6016625" algn="l"/>
                <a:tab pos="70161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PB7	PB6	PB5	PB4	PB3	PB2	PB1	PB0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3939540"/>
            <a:ext cx="358140" cy="6934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3939540"/>
            <a:ext cx="365759" cy="6934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220" y="3939540"/>
            <a:ext cx="358140" cy="693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0" y="3939540"/>
            <a:ext cx="358140" cy="6934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3939540"/>
            <a:ext cx="365759" cy="6934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220" y="3939540"/>
            <a:ext cx="358140" cy="6934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7059" y="3939540"/>
            <a:ext cx="358140" cy="6934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40" y="3939540"/>
            <a:ext cx="358140" cy="69341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78200" y="568959"/>
            <a:ext cx="2392680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0" y="1539239"/>
            <a:ext cx="1524000" cy="29337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9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3520"/>
              </a:spcBef>
            </a:pPr>
            <a:r>
              <a:rPr sz="4000" spc="5" dirty="0">
                <a:solidFill>
                  <a:srgbClr val="FFFFFF"/>
                </a:solidFill>
                <a:latin typeface="Verdana"/>
                <a:cs typeface="Verdana"/>
              </a:rPr>
              <a:t>MCU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0839" y="2712720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5"/>
                </a:lnTo>
                <a:lnTo>
                  <a:pt x="0" y="146685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40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83385" y="2444020"/>
            <a:ext cx="1473200" cy="2327275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sz="3600" spc="-10" dirty="0">
                <a:solidFill>
                  <a:srgbClr val="014EA0"/>
                </a:solidFill>
                <a:latin typeface="Verdana"/>
                <a:cs typeface="Verdana"/>
              </a:rPr>
              <a:t>PBO</a:t>
            </a:r>
            <a:endParaRPr sz="3600">
              <a:latin typeface="Verdana"/>
              <a:cs typeface="Verdana"/>
            </a:endParaRPr>
          </a:p>
          <a:p>
            <a:pPr marL="805180" marR="5080" indent="-389255">
              <a:lnSpc>
                <a:spcPts val="5930"/>
              </a:lnSpc>
              <a:spcBef>
                <a:spcPts val="140"/>
              </a:spcBef>
            </a:pP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in</a:t>
            </a:r>
            <a:r>
              <a:rPr sz="3150" spc="1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 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8779" y="2735579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4"/>
                </a:lnTo>
                <a:lnTo>
                  <a:pt x="0" y="146684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39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46190" y="2497648"/>
            <a:ext cx="1582420" cy="225298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683260">
              <a:lnSpc>
                <a:spcPct val="100000"/>
              </a:lnSpc>
              <a:spcBef>
                <a:spcPts val="2025"/>
              </a:spcBef>
            </a:pPr>
            <a:r>
              <a:rPr sz="3600" spc="-20" dirty="0">
                <a:solidFill>
                  <a:srgbClr val="014EA0"/>
                </a:solidFill>
                <a:latin typeface="Verdana"/>
                <a:cs typeface="Verdana"/>
              </a:rPr>
              <a:t>P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C5</a:t>
            </a:r>
            <a:endParaRPr sz="3600">
              <a:latin typeface="Verdana"/>
              <a:cs typeface="Verdana"/>
            </a:endParaRPr>
          </a:p>
          <a:p>
            <a:pPr marL="546100" marR="228600" indent="-534035">
              <a:lnSpc>
                <a:spcPts val="5770"/>
              </a:lnSpc>
              <a:spcBef>
                <a:spcPts val="70"/>
              </a:spcBef>
            </a:pPr>
            <a:r>
              <a:rPr sz="3150" spc="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tp</a:t>
            </a:r>
            <a:r>
              <a:rPr sz="3150" spc="40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  </a:t>
            </a:r>
            <a:r>
              <a:rPr sz="3150" spc="2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3401" y="1137221"/>
            <a:ext cx="399796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30" dirty="0">
                <a:solidFill>
                  <a:srgbClr val="404040"/>
                </a:solidFill>
              </a:rPr>
              <a:t>PORTB.0</a:t>
            </a:r>
            <a:r>
              <a:rPr sz="4800" spc="-40" dirty="0">
                <a:solidFill>
                  <a:srgbClr val="404040"/>
                </a:solidFill>
              </a:rPr>
              <a:t> </a:t>
            </a:r>
            <a:r>
              <a:rPr sz="4800" spc="5" dirty="0">
                <a:solidFill>
                  <a:srgbClr val="404040"/>
                </a:solidFill>
              </a:rPr>
              <a:t>=</a:t>
            </a:r>
            <a:r>
              <a:rPr sz="4800" spc="-15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1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660270" y="2024316"/>
            <a:ext cx="7632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801" y="1936512"/>
            <a:ext cx="3998595" cy="20561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790"/>
              </a:spcBef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3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4800" spc="-40" dirty="0">
                <a:solidFill>
                  <a:srgbClr val="404040"/>
                </a:solidFill>
                <a:latin typeface="Verdana"/>
                <a:cs typeface="Verdana"/>
              </a:rPr>
              <a:t>PORTC.5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5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48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4800">
              <a:latin typeface="Verdana"/>
              <a:cs typeface="Verdana"/>
            </a:endParaRPr>
          </a:p>
          <a:p>
            <a:pPr marL="662940">
              <a:lnSpc>
                <a:spcPct val="100000"/>
              </a:lnSpc>
              <a:spcBef>
                <a:spcPts val="1220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TRISC,</a:t>
            </a:r>
            <a:r>
              <a:rPr sz="30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0270" y="3509009"/>
            <a:ext cx="77089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B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CF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0614" y="2577150"/>
            <a:ext cx="1762125" cy="13233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3600" spc="-30" dirty="0">
                <a:solidFill>
                  <a:srgbClr val="014EA0"/>
                </a:solidFill>
                <a:latin typeface="Verdana"/>
                <a:cs typeface="Verdana"/>
              </a:rPr>
              <a:t>PORTB</a:t>
            </a:r>
            <a:endParaRPr sz="3600">
              <a:latin typeface="Verdana"/>
              <a:cs typeface="Verdana"/>
            </a:endParaRPr>
          </a:p>
          <a:p>
            <a:pPr marL="706120">
              <a:lnSpc>
                <a:spcPct val="100000"/>
              </a:lnSpc>
              <a:spcBef>
                <a:spcPts val="1005"/>
              </a:spcBef>
            </a:pP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in</a:t>
            </a:r>
            <a:r>
              <a:rPr sz="3150" spc="1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150" spc="35" dirty="0">
                <a:solidFill>
                  <a:srgbClr val="E82728"/>
                </a:solidFill>
                <a:latin typeface="Verdana"/>
                <a:cs typeface="Verdana"/>
              </a:rPr>
              <a:t>u</a:t>
            </a:r>
            <a:r>
              <a:rPr sz="3150" spc="10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endParaRPr sz="31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0" y="1539239"/>
            <a:ext cx="1524000" cy="29337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900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3520"/>
              </a:spcBef>
            </a:pPr>
            <a:r>
              <a:rPr sz="4000" spc="5" dirty="0">
                <a:solidFill>
                  <a:srgbClr val="FFFFFF"/>
                </a:solidFill>
                <a:latin typeface="Verdana"/>
                <a:cs typeface="Verdana"/>
              </a:rPr>
              <a:t>MCU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0839" y="2712720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5"/>
                </a:lnTo>
                <a:lnTo>
                  <a:pt x="0" y="146685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40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8779" y="2735579"/>
            <a:ext cx="754380" cy="586740"/>
          </a:xfrm>
          <a:custGeom>
            <a:avLst/>
            <a:gdLst/>
            <a:ahLst/>
            <a:cxnLst/>
            <a:rect l="l" t="t" r="r" b="b"/>
            <a:pathLst>
              <a:path w="754379" h="586739">
                <a:moveTo>
                  <a:pt x="461010" y="0"/>
                </a:moveTo>
                <a:lnTo>
                  <a:pt x="461010" y="146684"/>
                </a:lnTo>
                <a:lnTo>
                  <a:pt x="0" y="146684"/>
                </a:lnTo>
                <a:lnTo>
                  <a:pt x="0" y="440055"/>
                </a:lnTo>
                <a:lnTo>
                  <a:pt x="461010" y="440055"/>
                </a:lnTo>
                <a:lnTo>
                  <a:pt x="461010" y="586739"/>
                </a:lnTo>
                <a:lnTo>
                  <a:pt x="754380" y="293369"/>
                </a:lnTo>
                <a:lnTo>
                  <a:pt x="461010" y="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35370" y="2497648"/>
            <a:ext cx="1907539" cy="152019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2025"/>
              </a:spcBef>
            </a:pPr>
            <a:r>
              <a:rPr sz="3600" spc="-15" dirty="0">
                <a:solidFill>
                  <a:srgbClr val="014EA0"/>
                </a:solidFill>
                <a:latin typeface="Verdana"/>
                <a:cs typeface="Verdana"/>
              </a:rPr>
              <a:t>PO</a:t>
            </a:r>
            <a:r>
              <a:rPr sz="3600" spc="-10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600" spc="-6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600" spc="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3150" spc="20" dirty="0">
                <a:solidFill>
                  <a:srgbClr val="E82728"/>
                </a:solidFill>
                <a:latin typeface="Verdana"/>
                <a:cs typeface="Verdana"/>
              </a:rPr>
              <a:t>output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spc="15" dirty="0"/>
              <a:t>T</a:t>
            </a:r>
            <a:r>
              <a:rPr spc="25" dirty="0"/>
              <a:t>R</a:t>
            </a:r>
            <a:r>
              <a:rPr dirty="0"/>
              <a:t>I</a:t>
            </a:r>
            <a:r>
              <a:rPr spc="-35" dirty="0"/>
              <a:t>S</a:t>
            </a:r>
            <a:r>
              <a:rPr spc="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6451" y="2291079"/>
            <a:ext cx="3112770" cy="1381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0xFF</a:t>
            </a:r>
            <a:r>
              <a:rPr sz="3150" spc="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-&gt;</a:t>
            </a:r>
            <a:r>
              <a:rPr sz="315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TRISB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70"/>
              </a:spcBef>
            </a:pP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0x00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15" dirty="0">
                <a:solidFill>
                  <a:srgbClr val="014EA0"/>
                </a:solidFill>
                <a:latin typeface="Verdana"/>
                <a:cs typeface="Verdana"/>
              </a:rPr>
              <a:t>-&gt;</a:t>
            </a:r>
            <a:r>
              <a:rPr sz="315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TRISC</a:t>
            </a:r>
            <a:endParaRPr sz="31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89" y="2026920"/>
            <a:ext cx="4401076" cy="188213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6300" y="321564"/>
            <a:ext cx="2320925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1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6000" spc="25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6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6000" spc="-35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6000" spc="5" dirty="0">
                <a:solidFill>
                  <a:srgbClr val="014EA0"/>
                </a:solidFill>
                <a:latin typeface="Verdana"/>
                <a:cs typeface="Verdana"/>
              </a:rPr>
              <a:t>x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3054" y="2390139"/>
            <a:ext cx="3008630" cy="14878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905" algn="ctr">
              <a:lnSpc>
                <a:spcPct val="101699"/>
              </a:lnSpc>
              <a:spcBef>
                <a:spcPts val="70"/>
              </a:spcBef>
            </a:pPr>
            <a:r>
              <a:rPr sz="3150" spc="-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150" spc="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5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15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150" spc="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TRISB </a:t>
            </a:r>
            <a:r>
              <a:rPr sz="3150" spc="-10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0" dirty="0">
                <a:solidFill>
                  <a:srgbClr val="014EA0"/>
                </a:solidFill>
                <a:latin typeface="Verdana"/>
                <a:cs typeface="Verdana"/>
              </a:rPr>
              <a:t>CLRF</a:t>
            </a:r>
            <a:r>
              <a:rPr sz="3150" spc="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150" spc="25" dirty="0">
                <a:solidFill>
                  <a:srgbClr val="014EA0"/>
                </a:solidFill>
                <a:latin typeface="Verdana"/>
                <a:cs typeface="Verdana"/>
              </a:rPr>
              <a:t>TRISC</a:t>
            </a:r>
            <a:endParaRPr sz="31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89" y="2026920"/>
            <a:ext cx="4401076" cy="188213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027" y="2285364"/>
            <a:ext cx="69227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E82728"/>
                </a:solidFill>
              </a:rPr>
              <a:t>TURN</a:t>
            </a:r>
            <a:r>
              <a:rPr sz="4350" spc="85" dirty="0">
                <a:solidFill>
                  <a:srgbClr val="E82728"/>
                </a:solidFill>
              </a:rPr>
              <a:t> </a:t>
            </a:r>
            <a:r>
              <a:rPr sz="4350" spc="15" dirty="0">
                <a:solidFill>
                  <a:srgbClr val="E82728"/>
                </a:solidFill>
              </a:rPr>
              <a:t>LEDs</a:t>
            </a:r>
            <a:r>
              <a:rPr sz="4350" spc="5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ON</a:t>
            </a:r>
            <a:r>
              <a:rPr sz="4350" spc="9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-10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OFF</a:t>
            </a:r>
            <a:endParaRPr sz="43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45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19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294893"/>
            <a:ext cx="197802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0270" y="752855"/>
            <a:ext cx="4234180" cy="231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28470" algn="l"/>
              </a:tabLst>
            </a:pPr>
            <a:endParaRPr sz="3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lang="en-US" sz="3000" dirty="0" smtClean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 dirty="0">
              <a:latin typeface="Verdana"/>
              <a:cs typeface="Verdana"/>
            </a:endParaRPr>
          </a:p>
          <a:p>
            <a:pPr marL="12700" marR="12598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endParaRPr sz="3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0270" y="3042285"/>
            <a:ext cx="4234180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RP0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</a:t>
            </a:r>
            <a:endParaRPr sz="3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15899"/>
            <a:ext cx="3738879" cy="3706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 dirty="0">
              <a:latin typeface="Verdana"/>
              <a:cs typeface="Verdana"/>
            </a:endParaRPr>
          </a:p>
          <a:p>
            <a:pPr marL="12700" marR="7645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 dirty="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 smtClean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 smtClean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0xAA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 smtClean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r>
              <a:rPr lang="en-US" sz="3000" dirty="0" smtClean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endParaRPr sz="3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352" y="1757616"/>
            <a:ext cx="78181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175" algn="l"/>
                <a:tab pos="2026285" algn="l"/>
                <a:tab pos="3032760" algn="l"/>
                <a:tab pos="4039235" algn="l"/>
                <a:tab pos="5045710" algn="l"/>
                <a:tab pos="6052185" algn="l"/>
                <a:tab pos="70669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4971" y="655573"/>
            <a:ext cx="173990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6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C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6700" y="25298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7540" y="2705100"/>
            <a:ext cx="365759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4279" y="2567939"/>
            <a:ext cx="67818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032" y="1757616"/>
            <a:ext cx="803973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9655" algn="l"/>
                <a:tab pos="2087245" algn="l"/>
                <a:tab pos="3116580" algn="l"/>
                <a:tab pos="4153535" algn="l"/>
                <a:tab pos="5190490" algn="l"/>
                <a:tab pos="6220460" algn="l"/>
                <a:tab pos="72574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2110" y="655573"/>
            <a:ext cx="178435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D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5240" y="2567939"/>
            <a:ext cx="685800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" y="2705100"/>
            <a:ext cx="365759" cy="685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4039" y="2705100"/>
            <a:ext cx="358140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59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8619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7059" y="2697479"/>
            <a:ext cx="365759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104" y="1923732"/>
            <a:ext cx="306133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</a:rPr>
              <a:t>THANK</a:t>
            </a:r>
            <a:r>
              <a:rPr sz="4000" spc="-13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</TotalTime>
  <Words>773</Words>
  <Application>Microsoft Office PowerPoint</Application>
  <PresentationFormat>On-screen Show (16:9)</PresentationFormat>
  <Paragraphs>148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Calibri</vt:lpstr>
      <vt:lpstr>Times New Roman</vt:lpstr>
      <vt:lpstr>Verdana</vt:lpstr>
      <vt:lpstr>Wingdings</vt:lpstr>
      <vt:lpstr>Office Theme</vt:lpstr>
      <vt:lpstr>CLASS 2</vt:lpstr>
      <vt:lpstr>CLASS 1 REVIEW</vt:lpstr>
      <vt:lpstr>what is a “Microprocessor”?</vt:lpstr>
      <vt:lpstr>what is a microprocessor?</vt:lpstr>
      <vt:lpstr>MPU vs MCU</vt:lpstr>
      <vt:lpstr>what is a microcontroller?</vt:lpstr>
      <vt:lpstr>PowerPoint Presentation</vt:lpstr>
      <vt:lpstr>PowerPoint Presentation</vt:lpstr>
      <vt:lpstr>in order to work, MCUs need:</vt:lpstr>
      <vt:lpstr>DIGITAL COMPONENTS</vt:lpstr>
      <vt:lpstr>DATA REPRESENTATION</vt:lpstr>
      <vt:lpstr>binary to decimal</vt:lpstr>
      <vt:lpstr>binary to decimal</vt:lpstr>
      <vt:lpstr>binary to decimal</vt:lpstr>
      <vt:lpstr>CLASS 2</vt:lpstr>
      <vt:lpstr>what is a “Assembly  Language”?</vt:lpstr>
      <vt:lpstr>PowerPoint Presentation</vt:lpstr>
      <vt:lpstr>PowerPoint Presentation</vt:lpstr>
      <vt:lpstr>ADDING AND SUBSTRACTING</vt:lpstr>
      <vt:lpstr>A</vt:lpstr>
      <vt:lpstr>PowerPoint Presentation</vt:lpstr>
      <vt:lpstr>PowerPoint Presentation</vt:lpstr>
      <vt:lpstr>A</vt:lpstr>
      <vt:lpstr>PowerPoint Presentation</vt:lpstr>
      <vt:lpstr>PowerPoint Presentation</vt:lpstr>
      <vt:lpstr>REGISTERS AND OPERATIONS</vt:lpstr>
      <vt:lpstr>STATUS</vt:lpstr>
      <vt:lpstr>TRISD is in BANK 1</vt:lpstr>
      <vt:lpstr>BANK SELECTION</vt:lpstr>
      <vt:lpstr>BANK SELECTION</vt:lpstr>
      <vt:lpstr>TRISD is in BANK 1</vt:lpstr>
      <vt:lpstr>W REGISTER</vt:lpstr>
      <vt:lpstr>MOVLW</vt:lpstr>
      <vt:lpstr>MOVWF</vt:lpstr>
      <vt:lpstr>TRIS AND PORT REGISTERS</vt:lpstr>
      <vt:lpstr>TRIS</vt:lpstr>
      <vt:lpstr>PORT</vt:lpstr>
      <vt:lpstr>PORTB</vt:lpstr>
      <vt:lpstr>PORTB</vt:lpstr>
      <vt:lpstr>PORTB</vt:lpstr>
      <vt:lpstr>TRISB</vt:lpstr>
      <vt:lpstr>TRISx</vt:lpstr>
      <vt:lpstr>PORTB.0 = 1</vt:lpstr>
      <vt:lpstr>TRISx</vt:lpstr>
      <vt:lpstr>TRISx</vt:lpstr>
      <vt:lpstr>PowerPoint Presentation</vt:lpstr>
      <vt:lpstr>TURN LEDs ON AND OFF</vt:lpstr>
      <vt:lpstr>PORTB</vt:lpstr>
      <vt:lpstr>PowerPoint Presentation</vt:lpstr>
      <vt:lpstr>PORTB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Eng Mohamed Youssif</cp:lastModifiedBy>
  <cp:revision>14</cp:revision>
  <dcterms:created xsi:type="dcterms:W3CDTF">2022-02-22T05:42:19Z</dcterms:created>
  <dcterms:modified xsi:type="dcterms:W3CDTF">2026-07-31T14:54:07Z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2022-02-22T00:00:00Z</vt:filetime>
  </property>
</Properties>
</file>