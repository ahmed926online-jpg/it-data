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97858" y="655573"/>
            <a:ext cx="1748282" cy="63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06775" y="321564"/>
            <a:ext cx="2330450" cy="941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949" y="1574482"/>
            <a:ext cx="6134100" cy="288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728" y="4746069"/>
            <a:ext cx="2313940" cy="36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0218" y="4414918"/>
            <a:ext cx="367665" cy="58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1937956"/>
            <a:ext cx="22040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E82728"/>
                </a:solidFill>
              </a:rPr>
              <a:t>CLASS</a:t>
            </a:r>
            <a:r>
              <a:rPr sz="4000" spc="-150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3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448690"/>
            <a:ext cx="220408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</a:rPr>
              <a:t>CLASS</a:t>
            </a:r>
            <a:r>
              <a:rPr sz="4000" spc="-165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3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5745" y="1805622"/>
            <a:ext cx="7898765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2865" indent="-45783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Review</a:t>
            </a:r>
            <a:r>
              <a:rPr sz="3000" spc="-1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INTRODUCTION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TO</a:t>
            </a:r>
            <a:r>
              <a:rPr sz="3000" spc="-8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014EA0"/>
                </a:solidFill>
                <a:latin typeface="Verdana"/>
                <a:cs typeface="Verdana"/>
              </a:rPr>
              <a:t>ASSEMBLY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ADDING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SUBSTRACTING</a:t>
            </a:r>
            <a:r>
              <a:rPr sz="30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VALUES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REGISTERS</a:t>
            </a:r>
            <a:r>
              <a:rPr sz="30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OPERATIONS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TRIS</a:t>
            </a:r>
            <a:r>
              <a:rPr sz="3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PORT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REGISTERS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LED</a:t>
            </a:r>
            <a:r>
              <a:rPr sz="3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BLINK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679" y="1884679"/>
            <a:ext cx="5654040" cy="13652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194435" marR="5080" indent="-1182370">
              <a:lnSpc>
                <a:spcPct val="101299"/>
              </a:lnSpc>
              <a:spcBef>
                <a:spcPts val="65"/>
              </a:spcBef>
            </a:pPr>
            <a:r>
              <a:rPr sz="4350" spc="20" dirty="0"/>
              <a:t>what</a:t>
            </a:r>
            <a:r>
              <a:rPr sz="4350" spc="35" dirty="0"/>
              <a:t> is</a:t>
            </a:r>
            <a:r>
              <a:rPr sz="4350" spc="-45" dirty="0"/>
              <a:t> </a:t>
            </a:r>
            <a:r>
              <a:rPr sz="4350" spc="20" dirty="0"/>
              <a:t>a </a:t>
            </a:r>
            <a:r>
              <a:rPr sz="4350" spc="-10" dirty="0"/>
              <a:t>“Assembly </a:t>
            </a:r>
            <a:r>
              <a:rPr sz="4350" spc="-1515" dirty="0"/>
              <a:t> </a:t>
            </a:r>
            <a:r>
              <a:rPr sz="4350" spc="10" dirty="0"/>
              <a:t>Language”?</a:t>
            </a:r>
            <a:endParaRPr sz="4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892" y="1329436"/>
            <a:ext cx="8352155" cy="277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4445" algn="ctr">
              <a:lnSpc>
                <a:spcPct val="100000"/>
              </a:lnSpc>
              <a:spcBef>
                <a:spcPts val="105"/>
              </a:spcBef>
            </a:pP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2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LANGUAGE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EXTREMELY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LOW-LEVEL</a:t>
            </a:r>
            <a:r>
              <a:rPr sz="3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PROGRAMMING</a:t>
            </a:r>
            <a:r>
              <a:rPr sz="3000" spc="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HAS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1-TO-1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CORRESPONDENCE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MACHINE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CODE —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SERIES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BINARY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INSTRUCTIONS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WHICH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MOVE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VALUES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REGISTERS</a:t>
            </a:r>
            <a:r>
              <a:rPr sz="3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1785" y="140715"/>
            <a:ext cx="5980430" cy="466725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4000" spc="5" dirty="0">
                <a:solidFill>
                  <a:srgbClr val="014EA0"/>
                </a:solidFill>
                <a:latin typeface="Verdana"/>
                <a:cs typeface="Verdana"/>
              </a:rPr>
              <a:t>GENERAL</a:t>
            </a:r>
            <a:r>
              <a:rPr sz="4000" spc="-1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014EA0"/>
                </a:solidFill>
                <a:latin typeface="Verdana"/>
                <a:cs typeface="Verdana"/>
              </a:rPr>
              <a:t>OPERATIONS</a:t>
            </a:r>
            <a:endParaRPr sz="4000">
              <a:latin typeface="Verdana"/>
              <a:cs typeface="Verdana"/>
            </a:endParaRPr>
          </a:p>
          <a:p>
            <a:pPr marL="934719" marR="1204595">
              <a:lnSpc>
                <a:spcPct val="100000"/>
              </a:lnSpc>
              <a:spcBef>
                <a:spcPts val="1460"/>
              </a:spcBef>
            </a:pP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MOVLW </a:t>
            </a:r>
            <a:r>
              <a:rPr sz="4000" spc="25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40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MOVWF</a:t>
            </a:r>
            <a:r>
              <a:rPr sz="4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6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4000" spc="-13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Verdana"/>
                <a:cs typeface="Verdana"/>
              </a:rPr>
              <a:t>ADDLW </a:t>
            </a:r>
            <a:r>
              <a:rPr sz="4000" spc="30" dirty="0">
                <a:solidFill>
                  <a:srgbClr val="014EA0"/>
                </a:solidFill>
                <a:latin typeface="Verdana"/>
                <a:cs typeface="Verdana"/>
              </a:rPr>
              <a:t>b101 </a:t>
            </a:r>
            <a:r>
              <a:rPr sz="40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SUBLW</a:t>
            </a:r>
            <a:r>
              <a:rPr sz="4000" spc="13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35" dirty="0">
                <a:solidFill>
                  <a:srgbClr val="014EA0"/>
                </a:solidFill>
                <a:latin typeface="Verdana"/>
                <a:cs typeface="Verdana"/>
              </a:rPr>
              <a:t>25 </a:t>
            </a:r>
            <a:r>
              <a:rPr sz="400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BCF</a:t>
            </a:r>
            <a:r>
              <a:rPr sz="4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RP1</a:t>
            </a:r>
            <a:endParaRPr sz="4000">
              <a:latin typeface="Verdana"/>
              <a:cs typeface="Verdana"/>
            </a:endParaRPr>
          </a:p>
          <a:p>
            <a:pPr marL="934719">
              <a:lnSpc>
                <a:spcPct val="100000"/>
              </a:lnSpc>
              <a:spcBef>
                <a:spcPts val="35"/>
              </a:spcBef>
            </a:pP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BSF</a:t>
            </a:r>
            <a:r>
              <a:rPr sz="4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772" y="2285364"/>
            <a:ext cx="84626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ADDING</a:t>
            </a:r>
            <a:r>
              <a:rPr sz="4350" spc="35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60" dirty="0">
                <a:solidFill>
                  <a:srgbClr val="E82728"/>
                </a:solidFill>
              </a:rPr>
              <a:t> </a:t>
            </a:r>
            <a:r>
              <a:rPr sz="4350" spc="20" dirty="0">
                <a:solidFill>
                  <a:srgbClr val="E82728"/>
                </a:solidFill>
              </a:rPr>
              <a:t>SUBSTRACTING</a:t>
            </a:r>
            <a:endParaRPr sz="4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8953" y="321881"/>
            <a:ext cx="201168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54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+</a:t>
            </a:r>
            <a:r>
              <a:rPr sz="54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1004" y="1891601"/>
            <a:ext cx="24955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MOVLW</a:t>
            </a:r>
            <a:r>
              <a:rPr sz="4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60770" y="1802129"/>
            <a:ext cx="853440" cy="853440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5"/>
              </a:spcBef>
            </a:pPr>
            <a:r>
              <a:rPr sz="5400" spc="5" dirty="0">
                <a:solidFill>
                  <a:srgbClr val="404040"/>
                </a:solidFill>
              </a:rPr>
              <a:t>A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5452109" y="3211829"/>
            <a:ext cx="2270760" cy="845819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35"/>
              </a:spcBef>
            </a:pP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5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+</a:t>
            </a:r>
            <a:r>
              <a:rPr sz="54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6119" y="2546921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0969" y="4019550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266" y="3317811"/>
            <a:ext cx="245046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>
                <a:solidFill>
                  <a:srgbClr val="404040"/>
                </a:solidFill>
                <a:latin typeface="Verdana"/>
                <a:cs typeface="Verdana"/>
              </a:rPr>
              <a:t>ADDLW</a:t>
            </a:r>
            <a:r>
              <a:rPr sz="40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4420" y="2138298"/>
            <a:ext cx="44564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0xF0</a:t>
            </a:r>
            <a:r>
              <a:rPr sz="5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+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15" dirty="0">
                <a:solidFill>
                  <a:srgbClr val="014EA0"/>
                </a:solidFill>
                <a:latin typeface="Verdana"/>
                <a:cs typeface="Verdana"/>
              </a:rPr>
              <a:t>0x01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1001" y="321881"/>
            <a:ext cx="176212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5" dirty="0"/>
              <a:t>A</a:t>
            </a:r>
            <a:r>
              <a:rPr sz="5400" spc="-60" dirty="0"/>
              <a:t> </a:t>
            </a:r>
            <a:r>
              <a:rPr sz="5400" dirty="0"/>
              <a:t>-</a:t>
            </a:r>
            <a:r>
              <a:rPr sz="5400" spc="-20" dirty="0"/>
              <a:t> </a:t>
            </a:r>
            <a:r>
              <a:rPr sz="5400" spc="5" dirty="0"/>
              <a:t>B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691004" y="1891601"/>
            <a:ext cx="249682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MOVLW</a:t>
            </a:r>
            <a:r>
              <a:rPr sz="4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0770" y="1802129"/>
            <a:ext cx="853440" cy="853440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5"/>
              </a:spcBef>
            </a:pP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2109" y="3211829"/>
            <a:ext cx="2270760" cy="845819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35"/>
              </a:spcBef>
            </a:pP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5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54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6119" y="2546921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0969" y="4019550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7745" y="3317811"/>
            <a:ext cx="23812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0" dirty="0">
                <a:solidFill>
                  <a:srgbClr val="404040"/>
                </a:solidFill>
                <a:latin typeface="Verdana"/>
                <a:cs typeface="Verdana"/>
              </a:rPr>
              <a:t>SUBLW</a:t>
            </a:r>
            <a:r>
              <a:rPr sz="40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907" y="4366895"/>
            <a:ext cx="2879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SUBLW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subtract </a:t>
            </a:r>
            <a:r>
              <a:rPr sz="1800" dirty="0">
                <a:latin typeface="Calibri"/>
                <a:cs typeface="Calibri"/>
              </a:rPr>
              <a:t>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Literal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0870" y="4366895"/>
            <a:ext cx="1989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Operation: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k-(W)-&gt;W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9101" y="2138298"/>
            <a:ext cx="4231005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0" dirty="0">
                <a:solidFill>
                  <a:srgbClr val="014EA0"/>
                </a:solidFill>
                <a:latin typeface="Verdana"/>
                <a:cs typeface="Verdana"/>
              </a:rPr>
              <a:t>0xFF</a:t>
            </a:r>
            <a:r>
              <a:rPr sz="54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-</a:t>
            </a:r>
            <a:r>
              <a:rPr sz="54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0xAA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812" y="2285364"/>
            <a:ext cx="858583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REGISTERS</a:t>
            </a:r>
            <a:r>
              <a:rPr sz="4350" spc="8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10" dirty="0">
                <a:solidFill>
                  <a:srgbClr val="E82728"/>
                </a:solidFill>
              </a:rPr>
              <a:t> </a:t>
            </a:r>
            <a:r>
              <a:rPr sz="4350" spc="-10" dirty="0">
                <a:solidFill>
                  <a:srgbClr val="E82728"/>
                </a:solidFill>
              </a:rPr>
              <a:t>OPERATIONS</a:t>
            </a:r>
            <a:endParaRPr sz="4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075" y="1599819"/>
            <a:ext cx="8290559" cy="277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change from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1 we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talk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STATUS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do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by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setting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RP0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and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RP1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bits.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most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cases</a:t>
            </a:r>
            <a:r>
              <a:rPr sz="3000" spc="3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we’ll</a:t>
            </a:r>
            <a:r>
              <a:rPr sz="3000" spc="40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3000" spc="4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moving</a:t>
            </a:r>
            <a:r>
              <a:rPr sz="3000" spc="3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only</a:t>
            </a:r>
            <a:r>
              <a:rPr sz="3000" spc="4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between</a:t>
            </a:r>
            <a:r>
              <a:rPr sz="3000" spc="4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1,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thus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just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modify the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value</a:t>
            </a:r>
            <a:r>
              <a:rPr sz="3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bit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STATUS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4890" y="321945"/>
            <a:ext cx="201485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" dirty="0"/>
              <a:t>S</a:t>
            </a:r>
            <a:r>
              <a:rPr sz="4000" spc="-235" dirty="0"/>
              <a:t>T</a:t>
            </a:r>
            <a:r>
              <a:rPr sz="4000" spc="-220" dirty="0"/>
              <a:t>A</a:t>
            </a:r>
            <a:r>
              <a:rPr sz="4000" spc="-10" dirty="0"/>
              <a:t>T</a:t>
            </a:r>
            <a:r>
              <a:rPr sz="4000" spc="15" dirty="0"/>
              <a:t>US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405" y="322199"/>
            <a:ext cx="59734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>
                <a:solidFill>
                  <a:srgbClr val="404040"/>
                </a:solidFill>
              </a:rPr>
              <a:t>TRISD</a:t>
            </a:r>
            <a:r>
              <a:rPr sz="4800" spc="-7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is</a:t>
            </a:r>
            <a:r>
              <a:rPr sz="4800" spc="5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in</a:t>
            </a:r>
            <a:r>
              <a:rPr sz="4800" spc="45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1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2226310" y="3716387"/>
            <a:ext cx="815340" cy="1005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85"/>
              </a:spcBef>
            </a:pP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CF  </a:t>
            </a: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CF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9728" y="3716387"/>
            <a:ext cx="2979420" cy="95994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6070" marR="5080">
              <a:lnSpc>
                <a:spcPct val="101699"/>
              </a:lnSpc>
              <a:spcBef>
                <a:spcPts val="85"/>
              </a:spcBef>
            </a:pP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 </a:t>
            </a:r>
            <a:r>
              <a:rPr sz="3150" spc="-10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6310" y="1340103"/>
            <a:ext cx="4172585" cy="999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0"/>
              </a:spcBef>
              <a:tabLst>
                <a:tab pos="1499235" algn="l"/>
              </a:tabLst>
            </a:pP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 </a:t>
            </a:r>
            <a:r>
              <a:rPr sz="3150" spc="-10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3205" y="2700337"/>
            <a:ext cx="61258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2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48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5" dirty="0">
                <a:solidFill>
                  <a:srgbClr val="404040"/>
                </a:solidFill>
                <a:latin typeface="Verdana"/>
                <a:cs typeface="Verdana"/>
              </a:rPr>
              <a:t>BANK</a:t>
            </a:r>
            <a:r>
              <a:rPr sz="4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405" y="322199"/>
            <a:ext cx="59734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>
                <a:solidFill>
                  <a:srgbClr val="404040"/>
                </a:solidFill>
              </a:rPr>
              <a:t>TRISD</a:t>
            </a:r>
            <a:r>
              <a:rPr sz="4800" spc="-7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is</a:t>
            </a:r>
            <a:r>
              <a:rPr sz="4800" spc="5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in</a:t>
            </a:r>
            <a:r>
              <a:rPr sz="4800" spc="45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1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226310" y="1340103"/>
            <a:ext cx="417258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99235" algn="l"/>
              </a:tabLst>
            </a:pP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9310" y="1847850"/>
            <a:ext cx="4396740" cy="487680"/>
          </a:xfrm>
          <a:prstGeom prst="rect">
            <a:avLst/>
          </a:prstGeom>
          <a:ln w="38100">
            <a:solidFill>
              <a:srgbClr val="E827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3760"/>
              </a:lnSpc>
              <a:tabLst>
                <a:tab pos="1626235" algn="l"/>
              </a:tabLst>
            </a:pP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3205" y="2700337"/>
            <a:ext cx="61258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2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48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5" dirty="0">
                <a:solidFill>
                  <a:srgbClr val="404040"/>
                </a:solidFill>
                <a:latin typeface="Verdana"/>
                <a:cs typeface="Verdana"/>
              </a:rPr>
              <a:t>BANK</a:t>
            </a:r>
            <a:r>
              <a:rPr sz="4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04659" y="1889760"/>
            <a:ext cx="754380" cy="396240"/>
          </a:xfrm>
          <a:custGeom>
            <a:avLst/>
            <a:gdLst/>
            <a:ahLst/>
            <a:cxnLst/>
            <a:rect l="l" t="t" r="r" b="b"/>
            <a:pathLst>
              <a:path w="754379" h="396239">
                <a:moveTo>
                  <a:pt x="198120" y="0"/>
                </a:moveTo>
                <a:lnTo>
                  <a:pt x="0" y="198119"/>
                </a:lnTo>
                <a:lnTo>
                  <a:pt x="198120" y="396239"/>
                </a:lnTo>
                <a:lnTo>
                  <a:pt x="198120" y="297179"/>
                </a:lnTo>
                <a:lnTo>
                  <a:pt x="754380" y="297179"/>
                </a:lnTo>
                <a:lnTo>
                  <a:pt x="754380" y="99059"/>
                </a:lnTo>
                <a:lnTo>
                  <a:pt x="198120" y="99059"/>
                </a:lnTo>
                <a:lnTo>
                  <a:pt x="19812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99310" y="4225290"/>
            <a:ext cx="4396740" cy="495300"/>
          </a:xfrm>
          <a:custGeom>
            <a:avLst/>
            <a:gdLst/>
            <a:ahLst/>
            <a:cxnLst/>
            <a:rect l="l" t="t" r="r" b="b"/>
            <a:pathLst>
              <a:path w="4396740" h="495300">
                <a:moveTo>
                  <a:pt x="0" y="495300"/>
                </a:moveTo>
                <a:lnTo>
                  <a:pt x="4396740" y="495300"/>
                </a:lnTo>
                <a:lnTo>
                  <a:pt x="439674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E8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04659" y="4267200"/>
            <a:ext cx="754380" cy="403860"/>
          </a:xfrm>
          <a:custGeom>
            <a:avLst/>
            <a:gdLst/>
            <a:ahLst/>
            <a:cxnLst/>
            <a:rect l="l" t="t" r="r" b="b"/>
            <a:pathLst>
              <a:path w="754379" h="403860">
                <a:moveTo>
                  <a:pt x="201930" y="0"/>
                </a:moveTo>
                <a:lnTo>
                  <a:pt x="0" y="201929"/>
                </a:lnTo>
                <a:lnTo>
                  <a:pt x="201930" y="403859"/>
                </a:lnTo>
                <a:lnTo>
                  <a:pt x="201930" y="302895"/>
                </a:lnTo>
                <a:lnTo>
                  <a:pt x="754380" y="302895"/>
                </a:lnTo>
                <a:lnTo>
                  <a:pt x="754380" y="100965"/>
                </a:lnTo>
                <a:lnTo>
                  <a:pt x="201930" y="100965"/>
                </a:lnTo>
                <a:lnTo>
                  <a:pt x="20193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26310" y="3716387"/>
            <a:ext cx="815340" cy="1005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85"/>
              </a:spcBef>
            </a:pP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CF  </a:t>
            </a: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CF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19728" y="3716387"/>
            <a:ext cx="2979420" cy="95994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6070" marR="5080">
              <a:lnSpc>
                <a:spcPct val="101699"/>
              </a:lnSpc>
              <a:spcBef>
                <a:spcPts val="85"/>
              </a:spcBef>
            </a:pP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 </a:t>
            </a:r>
            <a:r>
              <a:rPr sz="3150" spc="-10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4890" y="321945"/>
            <a:ext cx="201485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" dirty="0"/>
              <a:t>S</a:t>
            </a:r>
            <a:r>
              <a:rPr sz="4000" spc="-235" dirty="0"/>
              <a:t>T</a:t>
            </a:r>
            <a:r>
              <a:rPr sz="4000" spc="-220" dirty="0"/>
              <a:t>A</a:t>
            </a:r>
            <a:r>
              <a:rPr sz="4000" spc="-10" dirty="0"/>
              <a:t>T</a:t>
            </a:r>
            <a:r>
              <a:rPr sz="4000" spc="15" dirty="0"/>
              <a:t>US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4919" y="1417319"/>
          <a:ext cx="6583678" cy="487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79">
                <a:tc>
                  <a:txBody>
                    <a:bodyPr/>
                    <a:lstStyle/>
                    <a:p>
                      <a:pPr marL="157480">
                        <a:lnSpc>
                          <a:spcPts val="3535"/>
                        </a:lnSpc>
                      </a:pPr>
                      <a:r>
                        <a:rPr sz="3000" spc="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IRP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3535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RP1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3535"/>
                        </a:lnSpc>
                      </a:pPr>
                      <a:r>
                        <a:rPr sz="30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RP0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35"/>
                        </a:lnSpc>
                      </a:pPr>
                      <a:r>
                        <a:rPr sz="3000" spc="-8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3535"/>
                        </a:lnSpc>
                      </a:pPr>
                      <a:r>
                        <a:rPr sz="3000" spc="1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PD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5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3535"/>
                        </a:lnSpc>
                      </a:pPr>
                      <a:r>
                        <a:rPr sz="3000" spc="1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DC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9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035425" y="1963420"/>
            <a:ext cx="3549650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24230" algn="l"/>
                <a:tab pos="1659889" algn="l"/>
                <a:tab pos="2484120" algn="l"/>
                <a:tab pos="3307715" algn="l"/>
              </a:tabLst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4	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3	2	1	0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9251" y="1975485"/>
            <a:ext cx="1077595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35660" algn="l"/>
              </a:tabLst>
            </a:pP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6	5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386" y="1963737"/>
            <a:ext cx="2533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2950777"/>
            <a:ext cx="2263140" cy="159967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12083" y="3354070"/>
            <a:ext cx="1771650" cy="883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1: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BANK1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0: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BANK0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7060" y="2484120"/>
            <a:ext cx="396240" cy="762000"/>
          </a:xfrm>
          <a:custGeom>
            <a:avLst/>
            <a:gdLst/>
            <a:ahLst/>
            <a:cxnLst/>
            <a:rect l="l" t="t" r="r" b="b"/>
            <a:pathLst>
              <a:path w="396239" h="762000">
                <a:moveTo>
                  <a:pt x="198119" y="0"/>
                </a:moveTo>
                <a:lnTo>
                  <a:pt x="0" y="198119"/>
                </a:lnTo>
                <a:lnTo>
                  <a:pt x="99059" y="198119"/>
                </a:lnTo>
                <a:lnTo>
                  <a:pt x="99059" y="762000"/>
                </a:lnTo>
                <a:lnTo>
                  <a:pt x="297179" y="762000"/>
                </a:lnTo>
                <a:lnTo>
                  <a:pt x="297179" y="198119"/>
                </a:lnTo>
                <a:lnTo>
                  <a:pt x="396239" y="198119"/>
                </a:lnTo>
                <a:lnTo>
                  <a:pt x="19811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24100" y="2484120"/>
            <a:ext cx="403860" cy="762000"/>
          </a:xfrm>
          <a:custGeom>
            <a:avLst/>
            <a:gdLst/>
            <a:ahLst/>
            <a:cxnLst/>
            <a:rect l="l" t="t" r="r" b="b"/>
            <a:pathLst>
              <a:path w="403860" h="762000">
                <a:moveTo>
                  <a:pt x="201930" y="0"/>
                </a:moveTo>
                <a:lnTo>
                  <a:pt x="0" y="201930"/>
                </a:lnTo>
                <a:lnTo>
                  <a:pt x="100964" y="201930"/>
                </a:lnTo>
                <a:lnTo>
                  <a:pt x="100964" y="762000"/>
                </a:lnTo>
                <a:lnTo>
                  <a:pt x="302894" y="762000"/>
                </a:lnTo>
                <a:lnTo>
                  <a:pt x="302894" y="201930"/>
                </a:lnTo>
                <a:lnTo>
                  <a:pt x="403860" y="201930"/>
                </a:lnTo>
                <a:lnTo>
                  <a:pt x="20193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7250" y="3354070"/>
            <a:ext cx="1771650" cy="883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15620" marR="5080" indent="-503555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0:</a:t>
            </a:r>
            <a:r>
              <a:rPr sz="2800" spc="-1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BANK0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N</a:t>
            </a:r>
            <a:r>
              <a:rPr sz="2800" spc="35" dirty="0">
                <a:solidFill>
                  <a:srgbClr val="014EA0"/>
                </a:solidFill>
                <a:latin typeface="Verdana"/>
                <a:cs typeface="Verdana"/>
              </a:rPr>
              <a:t>K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9355" y="321945"/>
            <a:ext cx="269176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65" dirty="0"/>
              <a:t>STATUS,</a:t>
            </a:r>
            <a:r>
              <a:rPr sz="4000" spc="-140" dirty="0"/>
              <a:t> </a:t>
            </a:r>
            <a:r>
              <a:rPr sz="4000" spc="15" dirty="0"/>
              <a:t>5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4919" y="1249680"/>
          <a:ext cx="6583678" cy="1203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76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E82728"/>
                      </a:solidFill>
                      <a:prstDash val="solid"/>
                    </a:lnR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E82728"/>
                      </a:solidFill>
                      <a:prstDash val="solid"/>
                    </a:lnL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pPr marL="157480">
                        <a:lnSpc>
                          <a:spcPts val="3535"/>
                        </a:lnSpc>
                      </a:pPr>
                      <a:r>
                        <a:rPr sz="3000" spc="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IRP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3535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RP1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535"/>
                        </a:lnSpc>
                      </a:pPr>
                      <a:r>
                        <a:rPr sz="30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RP0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35"/>
                        </a:lnSpc>
                      </a:pPr>
                      <a:r>
                        <a:rPr sz="3000" spc="-8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3535"/>
                        </a:lnSpc>
                      </a:pPr>
                      <a:r>
                        <a:rPr sz="3000" spc="1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PD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5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3535"/>
                        </a:lnSpc>
                      </a:pPr>
                      <a:r>
                        <a:rPr sz="3000" spc="1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DC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53975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9"/>
                        </a:lnSpc>
                      </a:pPr>
                      <a:r>
                        <a:rPr sz="30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404040"/>
                      </a:solidFill>
                      <a:prstDash val="solid"/>
                    </a:lnL>
                    <a:lnR w="38100">
                      <a:solidFill>
                        <a:srgbClr val="404040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4040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 gridSpan="2"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530"/>
                        </a:spcBef>
                        <a:tabLst>
                          <a:tab pos="1117600" algn="l"/>
                        </a:tabLst>
                      </a:pPr>
                      <a:r>
                        <a:rPr sz="4200" spc="15" baseline="1984" dirty="0">
                          <a:solidFill>
                            <a:srgbClr val="014EA0"/>
                          </a:solidFill>
                          <a:latin typeface="Verdana"/>
                          <a:cs typeface="Verdana"/>
                        </a:rPr>
                        <a:t>7	</a:t>
                      </a:r>
                      <a:r>
                        <a:rPr sz="2800" spc="15" dirty="0">
                          <a:solidFill>
                            <a:srgbClr val="014EA0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800" dirty="0">
                          <a:solidFill>
                            <a:srgbClr val="014EA0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404040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1106805" algn="l"/>
                          <a:tab pos="1942464" algn="l"/>
                          <a:tab pos="2766695" algn="l"/>
                          <a:tab pos="3590290" algn="l"/>
                        </a:tabLst>
                      </a:pPr>
                      <a:r>
                        <a:rPr sz="2800" spc="10" dirty="0">
                          <a:solidFill>
                            <a:srgbClr val="014EA0"/>
                          </a:solidFill>
                          <a:latin typeface="Verdana"/>
                          <a:cs typeface="Verdana"/>
                        </a:rPr>
                        <a:t>4	</a:t>
                      </a:r>
                      <a:r>
                        <a:rPr sz="2800" spc="15" dirty="0">
                          <a:solidFill>
                            <a:srgbClr val="014EA0"/>
                          </a:solidFill>
                          <a:latin typeface="Verdana"/>
                          <a:cs typeface="Verdana"/>
                        </a:rPr>
                        <a:t>3	2	1	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38100">
                      <a:solidFill>
                        <a:srgbClr val="E82728"/>
                      </a:solidFill>
                      <a:prstDash val="solid"/>
                    </a:lnL>
                    <a:lnT w="38100">
                      <a:solidFill>
                        <a:srgbClr val="40404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2950777"/>
            <a:ext cx="2263140" cy="15996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12083" y="3354070"/>
            <a:ext cx="1771650" cy="883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1: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BANK1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0: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BANK0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47060" y="2484120"/>
            <a:ext cx="396240" cy="762000"/>
          </a:xfrm>
          <a:custGeom>
            <a:avLst/>
            <a:gdLst/>
            <a:ahLst/>
            <a:cxnLst/>
            <a:rect l="l" t="t" r="r" b="b"/>
            <a:pathLst>
              <a:path w="396239" h="762000">
                <a:moveTo>
                  <a:pt x="198119" y="0"/>
                </a:moveTo>
                <a:lnTo>
                  <a:pt x="0" y="198119"/>
                </a:lnTo>
                <a:lnTo>
                  <a:pt x="99059" y="198119"/>
                </a:lnTo>
                <a:lnTo>
                  <a:pt x="99059" y="762000"/>
                </a:lnTo>
                <a:lnTo>
                  <a:pt x="297179" y="762000"/>
                </a:lnTo>
                <a:lnTo>
                  <a:pt x="297179" y="198119"/>
                </a:lnTo>
                <a:lnTo>
                  <a:pt x="396239" y="198119"/>
                </a:lnTo>
                <a:lnTo>
                  <a:pt x="19811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24100" y="2484120"/>
            <a:ext cx="403860" cy="762000"/>
          </a:xfrm>
          <a:custGeom>
            <a:avLst/>
            <a:gdLst/>
            <a:ahLst/>
            <a:cxnLst/>
            <a:rect l="l" t="t" r="r" b="b"/>
            <a:pathLst>
              <a:path w="403860" h="762000">
                <a:moveTo>
                  <a:pt x="201930" y="0"/>
                </a:moveTo>
                <a:lnTo>
                  <a:pt x="0" y="201930"/>
                </a:lnTo>
                <a:lnTo>
                  <a:pt x="100964" y="201930"/>
                </a:lnTo>
                <a:lnTo>
                  <a:pt x="100964" y="762000"/>
                </a:lnTo>
                <a:lnTo>
                  <a:pt x="302894" y="762000"/>
                </a:lnTo>
                <a:lnTo>
                  <a:pt x="302894" y="201930"/>
                </a:lnTo>
                <a:lnTo>
                  <a:pt x="403860" y="201930"/>
                </a:lnTo>
                <a:lnTo>
                  <a:pt x="20193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7250" y="3354070"/>
            <a:ext cx="1771650" cy="883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15620" marR="5080" indent="-503555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0:</a:t>
            </a:r>
            <a:r>
              <a:rPr sz="2800" spc="-1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BANK0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N</a:t>
            </a:r>
            <a:r>
              <a:rPr sz="2800" spc="35" dirty="0">
                <a:solidFill>
                  <a:srgbClr val="014EA0"/>
                </a:solidFill>
                <a:latin typeface="Verdana"/>
                <a:cs typeface="Verdana"/>
              </a:rPr>
              <a:t>K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405" y="656018"/>
            <a:ext cx="59734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404040"/>
                </a:solidFill>
              </a:rPr>
              <a:t>TRISD</a:t>
            </a:r>
            <a:r>
              <a:rPr sz="4800" spc="-55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is</a:t>
            </a:r>
            <a:r>
              <a:rPr sz="4800" spc="40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in</a:t>
            </a:r>
            <a:r>
              <a:rPr sz="4800" spc="45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1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34060">
              <a:lnSpc>
                <a:spcPct val="100000"/>
              </a:lnSpc>
              <a:spcBef>
                <a:spcPts val="130"/>
              </a:spcBef>
              <a:tabLst>
                <a:tab pos="2220595" algn="l"/>
              </a:tabLst>
            </a:pPr>
            <a:r>
              <a:rPr spc="5" dirty="0"/>
              <a:t>BSF	</a:t>
            </a:r>
            <a:r>
              <a:rPr spc="-45" dirty="0"/>
              <a:t>STATUS,</a:t>
            </a:r>
            <a:r>
              <a:rPr spc="100" dirty="0"/>
              <a:t> </a:t>
            </a:r>
            <a:r>
              <a:rPr spc="20" dirty="0"/>
              <a:t>5</a:t>
            </a:r>
          </a:p>
          <a:p>
            <a:pPr marL="8255">
              <a:lnSpc>
                <a:spcPct val="100000"/>
              </a:lnSpc>
            </a:pPr>
            <a:endParaRPr sz="3800"/>
          </a:p>
          <a:p>
            <a:pPr marL="20955">
              <a:lnSpc>
                <a:spcPct val="100000"/>
              </a:lnSpc>
              <a:spcBef>
                <a:spcPts val="3075"/>
              </a:spcBef>
            </a:pPr>
            <a:r>
              <a:rPr sz="4800" spc="-25" dirty="0">
                <a:solidFill>
                  <a:srgbClr val="404040"/>
                </a:solidFill>
              </a:rPr>
              <a:t>PORTD</a:t>
            </a:r>
            <a:r>
              <a:rPr sz="4800" spc="-5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is</a:t>
            </a:r>
            <a:r>
              <a:rPr sz="4800" spc="-5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in</a:t>
            </a:r>
            <a:r>
              <a:rPr sz="4800" spc="40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3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0</a:t>
            </a:r>
            <a:endParaRPr sz="4800"/>
          </a:p>
          <a:p>
            <a:pPr marL="734060">
              <a:lnSpc>
                <a:spcPct val="100000"/>
              </a:lnSpc>
              <a:spcBef>
                <a:spcPts val="1495"/>
              </a:spcBef>
              <a:tabLst>
                <a:tab pos="2220595" algn="l"/>
              </a:tabLst>
            </a:pPr>
            <a:r>
              <a:rPr spc="10" dirty="0"/>
              <a:t>BCF	</a:t>
            </a:r>
            <a:r>
              <a:rPr spc="-45" dirty="0"/>
              <a:t>STATUS,</a:t>
            </a:r>
            <a:r>
              <a:rPr spc="105" dirty="0"/>
              <a:t> </a:t>
            </a:r>
            <a:r>
              <a:rPr spc="20" dirty="0"/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322199"/>
            <a:ext cx="54883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/>
              <a:t>BANK</a:t>
            </a:r>
            <a:r>
              <a:rPr sz="4800" spc="-85" dirty="0"/>
              <a:t> </a:t>
            </a:r>
            <a:r>
              <a:rPr sz="4800" spc="5" dirty="0"/>
              <a:t>SELECTION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219200"/>
            <a:ext cx="4876800" cy="22783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8735" y="3695700"/>
            <a:ext cx="4682474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322199"/>
            <a:ext cx="54883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/>
              <a:t>BANK</a:t>
            </a:r>
            <a:r>
              <a:rPr sz="4800" spc="-85" dirty="0"/>
              <a:t> </a:t>
            </a:r>
            <a:r>
              <a:rPr sz="4800" spc="5" dirty="0"/>
              <a:t>SELECTION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695" y="1902637"/>
            <a:ext cx="6141818" cy="21245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322199"/>
            <a:ext cx="54883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/>
              <a:t>BANK</a:t>
            </a:r>
            <a:r>
              <a:rPr sz="4800" spc="-85" dirty="0"/>
              <a:t> </a:t>
            </a:r>
            <a:r>
              <a:rPr sz="4800" spc="5" dirty="0"/>
              <a:t>SELECTION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1338695" y="1859279"/>
            <a:ext cx="6174740" cy="2167890"/>
            <a:chOff x="1338695" y="1859279"/>
            <a:chExt cx="6174740" cy="2167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695" y="1902637"/>
              <a:ext cx="6141818" cy="21245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11979" y="1889759"/>
              <a:ext cx="3070860" cy="1348740"/>
            </a:xfrm>
            <a:custGeom>
              <a:avLst/>
              <a:gdLst/>
              <a:ahLst/>
              <a:cxnLst/>
              <a:rect l="l" t="t" r="r" b="b"/>
              <a:pathLst>
                <a:path w="3070859" h="1348739">
                  <a:moveTo>
                    <a:pt x="0" y="1348739"/>
                  </a:moveTo>
                  <a:lnTo>
                    <a:pt x="3070860" y="1348739"/>
                  </a:lnTo>
                  <a:lnTo>
                    <a:pt x="3070860" y="0"/>
                  </a:lnTo>
                  <a:lnTo>
                    <a:pt x="0" y="0"/>
                  </a:lnTo>
                  <a:lnTo>
                    <a:pt x="0" y="1348739"/>
                  </a:lnTo>
                  <a:close/>
                </a:path>
              </a:pathLst>
            </a:custGeom>
            <a:ln w="60959">
              <a:solidFill>
                <a:srgbClr val="E8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314" y="321945"/>
            <a:ext cx="333946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0" dirty="0"/>
              <a:t>W</a:t>
            </a:r>
            <a:r>
              <a:rPr sz="4000" spc="-130" dirty="0"/>
              <a:t> </a:t>
            </a:r>
            <a:r>
              <a:rPr sz="4000" spc="15" dirty="0"/>
              <a:t>REGISTER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9450" cy="231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register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general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register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put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any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 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you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wish.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Once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you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3000" spc="10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assigned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25" dirty="0">
                <a:solidFill>
                  <a:srgbClr val="404040"/>
                </a:solidFill>
                <a:latin typeface="Verdana"/>
                <a:cs typeface="Verdana"/>
              </a:rPr>
              <a:t>W,</a:t>
            </a:r>
            <a:r>
              <a:rPr sz="30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add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it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another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value,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move.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7750" y="321945"/>
            <a:ext cx="197167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/>
              <a:t>M</a:t>
            </a:r>
            <a:r>
              <a:rPr sz="4000" spc="25" dirty="0"/>
              <a:t>O</a:t>
            </a:r>
            <a:r>
              <a:rPr sz="4000" spc="15" dirty="0"/>
              <a:t>V</a:t>
            </a:r>
            <a:r>
              <a:rPr sz="4000" spc="-185" dirty="0"/>
              <a:t>L</a:t>
            </a:r>
            <a:r>
              <a:rPr sz="4000" spc="20" dirty="0"/>
              <a:t>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6275" cy="2815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MOVLW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command means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‘Move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Literal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Into </a:t>
            </a:r>
            <a:r>
              <a:rPr sz="3000" spc="-120" dirty="0">
                <a:solidFill>
                  <a:srgbClr val="404040"/>
                </a:solidFill>
                <a:latin typeface="Verdana"/>
                <a:cs typeface="Verdana"/>
              </a:rPr>
              <a:t>W’,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which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in English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means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put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follows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directly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into 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Verdana"/>
              <a:cs typeface="Verdana"/>
            </a:endParaRPr>
          </a:p>
          <a:p>
            <a:pPr marR="111125" algn="ctr">
              <a:lnSpc>
                <a:spcPct val="100000"/>
              </a:lnSpc>
              <a:spcBef>
                <a:spcPts val="5"/>
              </a:spcBef>
              <a:tabLst>
                <a:tab pos="2066289" algn="l"/>
              </a:tabLst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0xAA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2509" y="321945"/>
            <a:ext cx="200533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/>
              <a:t>M</a:t>
            </a:r>
            <a:r>
              <a:rPr sz="4000" spc="25" dirty="0"/>
              <a:t>O</a:t>
            </a:r>
            <a:r>
              <a:rPr sz="4000" spc="15" dirty="0"/>
              <a:t>VWF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0559" cy="2431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instruction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means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“Move</a:t>
            </a:r>
            <a:r>
              <a:rPr sz="3000" spc="10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Contents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Into The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Register Address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Follows”.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Verdana"/>
              <a:cs typeface="Verdana"/>
            </a:endParaRPr>
          </a:p>
          <a:p>
            <a:pPr marR="85090" algn="ctr">
              <a:lnSpc>
                <a:spcPct val="100000"/>
              </a:lnSpc>
            </a:pP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69" y="2285364"/>
            <a:ext cx="794321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TRIS</a:t>
            </a:r>
            <a:r>
              <a:rPr sz="4350" spc="15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dirty="0">
                <a:solidFill>
                  <a:srgbClr val="E82728"/>
                </a:solidFill>
              </a:rPr>
              <a:t> </a:t>
            </a:r>
            <a:r>
              <a:rPr sz="4350" spc="-15" dirty="0">
                <a:solidFill>
                  <a:srgbClr val="E82728"/>
                </a:solidFill>
              </a:rPr>
              <a:t>PORT</a:t>
            </a:r>
            <a:r>
              <a:rPr sz="4350" spc="70" dirty="0">
                <a:solidFill>
                  <a:srgbClr val="E82728"/>
                </a:solidFill>
              </a:rPr>
              <a:t> </a:t>
            </a:r>
            <a:r>
              <a:rPr sz="4350" spc="20" dirty="0">
                <a:solidFill>
                  <a:srgbClr val="E82728"/>
                </a:solidFill>
              </a:rPr>
              <a:t>REGISTERS</a:t>
            </a:r>
            <a:endParaRPr sz="43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270" y="321945"/>
            <a:ext cx="126682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/>
              <a:t>T</a:t>
            </a:r>
            <a:r>
              <a:rPr sz="4000" spc="30" dirty="0"/>
              <a:t>R</a:t>
            </a:r>
            <a:r>
              <a:rPr sz="4000" spc="50" dirty="0"/>
              <a:t>I</a:t>
            </a:r>
            <a:r>
              <a:rPr sz="4000" spc="1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9450" cy="3114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use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TRIS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Register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program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pin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an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output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input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simply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sending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0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0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relevant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 </a:t>
            </a:r>
            <a:r>
              <a:rPr sz="3000" spc="7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>
              <a:latin typeface="Verdana"/>
              <a:cs typeface="Verdana"/>
            </a:endParaRPr>
          </a:p>
          <a:p>
            <a:pPr marL="2416810" marR="2510155" indent="190500">
              <a:lnSpc>
                <a:spcPct val="100000"/>
              </a:lnSpc>
              <a:spcBef>
                <a:spcPts val="1265"/>
              </a:spcBef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 0xFF </a:t>
            </a: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270" y="321945"/>
            <a:ext cx="126682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/>
              <a:t>T</a:t>
            </a:r>
            <a:r>
              <a:rPr sz="4000" spc="30" dirty="0"/>
              <a:t>R</a:t>
            </a:r>
            <a:r>
              <a:rPr sz="4000" spc="50" dirty="0"/>
              <a:t>I</a:t>
            </a:r>
            <a:r>
              <a:rPr sz="4000" spc="15" dirty="0"/>
              <a:t>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897" y="2299460"/>
            <a:ext cx="3948824" cy="10963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5869" y="1222374"/>
            <a:ext cx="196215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USE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PORT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5869" y="3664267"/>
            <a:ext cx="196215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380" marR="5080" indent="-107314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USE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PORT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READ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76371" y="1648332"/>
            <a:ext cx="551180" cy="463550"/>
          </a:xfrm>
          <a:custGeom>
            <a:avLst/>
            <a:gdLst/>
            <a:ahLst/>
            <a:cxnLst/>
            <a:rect l="l" t="t" r="r" b="b"/>
            <a:pathLst>
              <a:path w="551179" h="463550">
                <a:moveTo>
                  <a:pt x="85089" y="0"/>
                </a:moveTo>
                <a:lnTo>
                  <a:pt x="0" y="115315"/>
                </a:lnTo>
                <a:lnTo>
                  <a:pt x="393064" y="405510"/>
                </a:lnTo>
                <a:lnTo>
                  <a:pt x="350519" y="463168"/>
                </a:lnTo>
                <a:lnTo>
                  <a:pt x="550926" y="432942"/>
                </a:lnTo>
                <a:lnTo>
                  <a:pt x="520700" y="232663"/>
                </a:lnTo>
                <a:lnTo>
                  <a:pt x="478154" y="290194"/>
                </a:lnTo>
                <a:lnTo>
                  <a:pt x="85089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68751" y="3561460"/>
            <a:ext cx="586740" cy="426084"/>
          </a:xfrm>
          <a:custGeom>
            <a:avLst/>
            <a:gdLst/>
            <a:ahLst/>
            <a:cxnLst/>
            <a:rect l="l" t="t" r="r" b="b"/>
            <a:pathLst>
              <a:path w="586739" h="426085">
                <a:moveTo>
                  <a:pt x="391795" y="0"/>
                </a:moveTo>
                <a:lnTo>
                  <a:pt x="426720" y="62483"/>
                </a:lnTo>
                <a:lnTo>
                  <a:pt x="0" y="300608"/>
                </a:lnTo>
                <a:lnTo>
                  <a:pt x="69723" y="425691"/>
                </a:lnTo>
                <a:lnTo>
                  <a:pt x="496443" y="187578"/>
                </a:lnTo>
                <a:lnTo>
                  <a:pt x="531368" y="250189"/>
                </a:lnTo>
                <a:lnTo>
                  <a:pt x="586739" y="55244"/>
                </a:lnTo>
                <a:lnTo>
                  <a:pt x="391795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309" y="321945"/>
            <a:ext cx="139255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/>
              <a:t>P</a:t>
            </a:r>
            <a:r>
              <a:rPr sz="4000" spc="25" dirty="0"/>
              <a:t>O</a:t>
            </a:r>
            <a:r>
              <a:rPr sz="4000" spc="-85" dirty="0"/>
              <a:t>R</a:t>
            </a:r>
            <a:r>
              <a:rPr sz="4000" spc="1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0559" cy="2927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send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one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output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pins high,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simply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send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‘1’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the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corresponding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bit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PORTx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Verdana"/>
              <a:cs typeface="Verdana"/>
            </a:endParaRPr>
          </a:p>
          <a:p>
            <a:pPr marL="2386330" marR="2468245" indent="220979">
              <a:lnSpc>
                <a:spcPct val="100000"/>
              </a:lnSpc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6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30" dirty="0">
                <a:solidFill>
                  <a:srgbClr val="014EA0"/>
                </a:solidFill>
                <a:latin typeface="Verdana"/>
                <a:cs typeface="Verdana"/>
              </a:rPr>
              <a:t>PORTx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2628900"/>
            <a:ext cx="358140" cy="68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2628900"/>
            <a:ext cx="365759" cy="685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220" y="2628900"/>
            <a:ext cx="358140" cy="685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0" y="2628900"/>
            <a:ext cx="358140" cy="685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26289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220" y="26289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7059" y="2628900"/>
            <a:ext cx="358140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40" y="26289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45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19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971992"/>
            <a:ext cx="7773034" cy="1585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PORTB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854"/>
              </a:spcBef>
              <a:tabLst>
                <a:tab pos="998855" algn="l"/>
                <a:tab pos="2005964" algn="l"/>
                <a:tab pos="3004820" algn="l"/>
                <a:tab pos="4011295" algn="l"/>
                <a:tab pos="5010150" algn="l"/>
                <a:tab pos="6016625" algn="l"/>
                <a:tab pos="70161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PB7	PB6	PB5	PB4	PB3	PB2	PB1	PB0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3939540"/>
            <a:ext cx="358140" cy="6934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3939540"/>
            <a:ext cx="365759" cy="6934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220" y="3939540"/>
            <a:ext cx="358140" cy="693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0" y="3939540"/>
            <a:ext cx="358140" cy="6934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3939540"/>
            <a:ext cx="365759" cy="6934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220" y="3939540"/>
            <a:ext cx="358140" cy="6934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7059" y="3939540"/>
            <a:ext cx="358140" cy="6934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40" y="3939540"/>
            <a:ext cx="358140" cy="69341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78200" y="568959"/>
            <a:ext cx="2392680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0" y="1539239"/>
            <a:ext cx="1524000" cy="29337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9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3520"/>
              </a:spcBef>
            </a:pPr>
            <a:r>
              <a:rPr sz="4000" spc="5" dirty="0">
                <a:solidFill>
                  <a:srgbClr val="FFFFFF"/>
                </a:solidFill>
                <a:latin typeface="Verdana"/>
                <a:cs typeface="Verdana"/>
              </a:rPr>
              <a:t>MCU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0839" y="2712720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5"/>
                </a:lnTo>
                <a:lnTo>
                  <a:pt x="0" y="146685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40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83385" y="2444020"/>
            <a:ext cx="1473200" cy="2327275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sz="3600" spc="-10" dirty="0">
                <a:solidFill>
                  <a:srgbClr val="014EA0"/>
                </a:solidFill>
                <a:latin typeface="Verdana"/>
                <a:cs typeface="Verdana"/>
              </a:rPr>
              <a:t>PBO</a:t>
            </a:r>
            <a:endParaRPr sz="3600">
              <a:latin typeface="Verdana"/>
              <a:cs typeface="Verdana"/>
            </a:endParaRPr>
          </a:p>
          <a:p>
            <a:pPr marL="805180" marR="5080" indent="-389255">
              <a:lnSpc>
                <a:spcPts val="5930"/>
              </a:lnSpc>
              <a:spcBef>
                <a:spcPts val="140"/>
              </a:spcBef>
            </a:pP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in</a:t>
            </a:r>
            <a:r>
              <a:rPr sz="3150" spc="1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 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8779" y="2735579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4"/>
                </a:lnTo>
                <a:lnTo>
                  <a:pt x="0" y="146684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39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46190" y="2497648"/>
            <a:ext cx="1582420" cy="225298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683260">
              <a:lnSpc>
                <a:spcPct val="100000"/>
              </a:lnSpc>
              <a:spcBef>
                <a:spcPts val="2025"/>
              </a:spcBef>
            </a:pPr>
            <a:r>
              <a:rPr sz="3600" spc="-20" dirty="0">
                <a:solidFill>
                  <a:srgbClr val="014EA0"/>
                </a:solidFill>
                <a:latin typeface="Verdana"/>
                <a:cs typeface="Verdana"/>
              </a:rPr>
              <a:t>P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C5</a:t>
            </a:r>
            <a:endParaRPr sz="3600">
              <a:latin typeface="Verdana"/>
              <a:cs typeface="Verdana"/>
            </a:endParaRPr>
          </a:p>
          <a:p>
            <a:pPr marL="546100" marR="228600" indent="-534035">
              <a:lnSpc>
                <a:spcPts val="5770"/>
              </a:lnSpc>
              <a:spcBef>
                <a:spcPts val="70"/>
              </a:spcBef>
            </a:pPr>
            <a:r>
              <a:rPr sz="3150" spc="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tp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 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3401" y="1137221"/>
            <a:ext cx="399796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30" dirty="0">
                <a:solidFill>
                  <a:srgbClr val="404040"/>
                </a:solidFill>
              </a:rPr>
              <a:t>PORTB.0</a:t>
            </a:r>
            <a:r>
              <a:rPr sz="4800" spc="-40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=</a:t>
            </a:r>
            <a:r>
              <a:rPr sz="4800" spc="-1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660270" y="2024316"/>
            <a:ext cx="7632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801" y="1936512"/>
            <a:ext cx="3998595" cy="20561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790"/>
              </a:spcBef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3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4800" spc="-40" dirty="0">
                <a:solidFill>
                  <a:srgbClr val="404040"/>
                </a:solidFill>
                <a:latin typeface="Verdana"/>
                <a:cs typeface="Verdana"/>
              </a:rPr>
              <a:t>PORTC.5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5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48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4800">
              <a:latin typeface="Verdana"/>
              <a:cs typeface="Verdana"/>
            </a:endParaRPr>
          </a:p>
          <a:p>
            <a:pPr marL="662940">
              <a:lnSpc>
                <a:spcPct val="100000"/>
              </a:lnSpc>
              <a:spcBef>
                <a:spcPts val="1220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TRISC,</a:t>
            </a:r>
            <a:r>
              <a:rPr sz="3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0270" y="3509009"/>
            <a:ext cx="77089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CF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0614" y="2577150"/>
            <a:ext cx="1762125" cy="13233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3600" spc="-30" dirty="0">
                <a:solidFill>
                  <a:srgbClr val="014EA0"/>
                </a:solidFill>
                <a:latin typeface="Verdana"/>
                <a:cs typeface="Verdana"/>
              </a:rPr>
              <a:t>PORTB</a:t>
            </a:r>
            <a:endParaRPr sz="3600">
              <a:latin typeface="Verdana"/>
              <a:cs typeface="Verdana"/>
            </a:endParaRPr>
          </a:p>
          <a:p>
            <a:pPr marL="706120">
              <a:lnSpc>
                <a:spcPct val="100000"/>
              </a:lnSpc>
              <a:spcBef>
                <a:spcPts val="1005"/>
              </a:spcBef>
            </a:pP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in</a:t>
            </a:r>
            <a:r>
              <a:rPr sz="3150" spc="1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0" y="1539239"/>
            <a:ext cx="1524000" cy="29337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9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3520"/>
              </a:spcBef>
            </a:pPr>
            <a:r>
              <a:rPr sz="4000" spc="5" dirty="0">
                <a:solidFill>
                  <a:srgbClr val="FFFFFF"/>
                </a:solidFill>
                <a:latin typeface="Verdana"/>
                <a:cs typeface="Verdana"/>
              </a:rPr>
              <a:t>MCU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0839" y="2712720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5"/>
                </a:lnTo>
                <a:lnTo>
                  <a:pt x="0" y="146685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40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8779" y="2735579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4"/>
                </a:lnTo>
                <a:lnTo>
                  <a:pt x="0" y="146684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39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35370" y="2497648"/>
            <a:ext cx="1907539" cy="152019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2025"/>
              </a:spcBef>
            </a:pPr>
            <a:r>
              <a:rPr sz="3600" spc="-15" dirty="0">
                <a:solidFill>
                  <a:srgbClr val="014EA0"/>
                </a:solidFill>
                <a:latin typeface="Verdana"/>
                <a:cs typeface="Verdana"/>
              </a:rPr>
              <a:t>PO</a:t>
            </a:r>
            <a:r>
              <a:rPr sz="3600" spc="-10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600" spc="-6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3150" spc="20" dirty="0">
                <a:solidFill>
                  <a:srgbClr val="E82728"/>
                </a:solidFill>
                <a:latin typeface="Verdana"/>
                <a:cs typeface="Verdana"/>
              </a:rPr>
              <a:t>output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6451" y="2291079"/>
            <a:ext cx="3112770" cy="1381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0xFF</a:t>
            </a:r>
            <a:r>
              <a:rPr sz="3150" spc="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-&gt;</a:t>
            </a:r>
            <a:r>
              <a:rPr sz="315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70"/>
              </a:spcBef>
            </a:pP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0x00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-&gt;</a:t>
            </a:r>
            <a:r>
              <a:rPr sz="315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TRISC</a:t>
            </a:r>
            <a:endParaRPr sz="31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89" y="2026920"/>
            <a:ext cx="4401076" cy="188213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6300" y="321564"/>
            <a:ext cx="2320925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1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6000" spc="2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6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6000" spc="-35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6000" spc="5" dirty="0">
                <a:solidFill>
                  <a:srgbClr val="014EA0"/>
                </a:solidFill>
                <a:latin typeface="Verdana"/>
                <a:cs typeface="Verdana"/>
              </a:rPr>
              <a:t>x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5078" y="2390139"/>
            <a:ext cx="3007995" cy="14878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15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150" spc="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TRISB </a:t>
            </a:r>
            <a:r>
              <a:rPr sz="3150" spc="-10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CLRF</a:t>
            </a:r>
            <a:r>
              <a:rPr sz="3150" spc="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TRISC</a:t>
            </a:r>
            <a:endParaRPr sz="31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89" y="2026920"/>
            <a:ext cx="4401076" cy="188213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027" y="2285364"/>
            <a:ext cx="69227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E82728"/>
                </a:solidFill>
              </a:rPr>
              <a:t>TURN</a:t>
            </a:r>
            <a:r>
              <a:rPr sz="4350" spc="85" dirty="0">
                <a:solidFill>
                  <a:srgbClr val="E82728"/>
                </a:solidFill>
              </a:rPr>
              <a:t> </a:t>
            </a:r>
            <a:r>
              <a:rPr sz="4350" spc="15" dirty="0">
                <a:solidFill>
                  <a:srgbClr val="E82728"/>
                </a:solidFill>
              </a:rPr>
              <a:t>LEDs</a:t>
            </a:r>
            <a:r>
              <a:rPr sz="4350" spc="5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ON</a:t>
            </a:r>
            <a:r>
              <a:rPr sz="4350" spc="9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-10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OFF</a:t>
            </a:r>
            <a:endParaRPr sz="43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45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19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23265"/>
            <a:ext cx="3738879" cy="368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0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  <a:p>
            <a:pPr marL="12700" marR="7645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15899"/>
            <a:ext cx="3738879" cy="368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  <a:p>
            <a:pPr marL="12700" marR="7645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0xAA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352" y="1757616"/>
            <a:ext cx="78181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175" algn="l"/>
                <a:tab pos="2026285" algn="l"/>
                <a:tab pos="3032760" algn="l"/>
                <a:tab pos="4039235" algn="l"/>
                <a:tab pos="5045710" algn="l"/>
                <a:tab pos="6052185" algn="l"/>
                <a:tab pos="70669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4971" y="655573"/>
            <a:ext cx="173990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6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0" y="1757616"/>
            <a:ext cx="7688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3300" algn="l"/>
                <a:tab pos="1995170" algn="l"/>
                <a:tab pos="2986405" algn="l"/>
                <a:tab pos="3977640" algn="l"/>
                <a:tab pos="4969510" algn="l"/>
                <a:tab pos="5960745" algn="l"/>
                <a:tab pos="6951980" algn="l"/>
              </a:tabLst>
            </a:pP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084" y="655573"/>
            <a:ext cx="170942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24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730" y="1757616"/>
            <a:ext cx="76200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5680" algn="l"/>
                <a:tab pos="1979930" algn="l"/>
                <a:tab pos="2963545" algn="l"/>
                <a:tab pos="3939540" algn="l"/>
                <a:tab pos="4923790" algn="l"/>
                <a:tab pos="5907405" algn="l"/>
                <a:tab pos="6891020" algn="l"/>
              </a:tabLst>
            </a:pP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084" y="655573"/>
            <a:ext cx="1713864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1535" marR="5080" indent="-839469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r>
              <a:rPr sz="3000" spc="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ONLY</a:t>
            </a:r>
            <a:endParaRPr sz="3000">
              <a:latin typeface="Verdana"/>
              <a:cs typeface="Verdana"/>
            </a:endParaRPr>
          </a:p>
          <a:p>
            <a:pPr marL="65405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8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FIRST</a:t>
            </a:r>
            <a:r>
              <a:rPr sz="3000" spc="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THREE</a:t>
            </a:r>
            <a:r>
              <a:rPr sz="3000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000" spc="-114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PORTB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 dirty="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EVEN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E82728"/>
                </a:solidFill>
                <a:latin typeface="Verdana"/>
                <a:cs typeface="Verdana"/>
              </a:rPr>
              <a:t>PORTA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 dirty="0">
              <a:latin typeface="Verdana"/>
              <a:cs typeface="Verdana"/>
            </a:endParaRPr>
          </a:p>
          <a:p>
            <a:pPr marR="5715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ODD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E82728"/>
                </a:solidFill>
                <a:latin typeface="Verdana"/>
                <a:cs typeface="Verdana"/>
              </a:rPr>
              <a:t>PORTD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r>
              <a:rPr sz="3000" spc="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ONLY</a:t>
            </a:r>
            <a:endParaRPr sz="30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LAST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TWO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3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5227" y="1637664"/>
            <a:ext cx="6787515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 dirty="0">
              <a:latin typeface="Verdana"/>
              <a:cs typeface="Verdana"/>
            </a:endParaRPr>
          </a:p>
          <a:p>
            <a:pPr marL="454659" marR="450850" indent="-13970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EVEN</a:t>
            </a:r>
            <a:r>
              <a:rPr sz="3000" spc="5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E82728"/>
                </a:solidFill>
                <a:latin typeface="Verdana"/>
                <a:cs typeface="Verdana"/>
              </a:rPr>
              <a:t>PORTB 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AND</a:t>
            </a:r>
            <a:r>
              <a:rPr sz="3000" spc="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8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ODD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6095" y="3032760"/>
            <a:ext cx="30619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  <a:latin typeface="Verdana"/>
                <a:cs typeface="Verdana"/>
              </a:rPr>
              <a:t>THANK</a:t>
            </a:r>
            <a:r>
              <a:rPr sz="4000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YOU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839</Words>
  <Application>Microsoft Office PowerPoint</Application>
  <PresentationFormat>On-screen Show (16:9)</PresentationFormat>
  <Paragraphs>178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Calibri</vt:lpstr>
      <vt:lpstr>Times New Roman</vt:lpstr>
      <vt:lpstr>Verdana</vt:lpstr>
      <vt:lpstr>Wingdings</vt:lpstr>
      <vt:lpstr>Office Theme</vt:lpstr>
      <vt:lpstr>CLASS 3</vt:lpstr>
      <vt:lpstr>CLASS 3</vt:lpstr>
      <vt:lpstr>what is a “Assembly  Language”?</vt:lpstr>
      <vt:lpstr>PowerPoint Presentation</vt:lpstr>
      <vt:lpstr>PowerPoint Presentation</vt:lpstr>
      <vt:lpstr>ADDING AND SUBSTRACTING</vt:lpstr>
      <vt:lpstr>A</vt:lpstr>
      <vt:lpstr>PowerPoint Presentation</vt:lpstr>
      <vt:lpstr>A - B</vt:lpstr>
      <vt:lpstr>PowerPoint Presentation</vt:lpstr>
      <vt:lpstr>REGISTERS AND OPERATIONS</vt:lpstr>
      <vt:lpstr>STATUS</vt:lpstr>
      <vt:lpstr>TRISD is in BANK 1</vt:lpstr>
      <vt:lpstr>TRISD is in BANK 1</vt:lpstr>
      <vt:lpstr>STATUS</vt:lpstr>
      <vt:lpstr>STATUS, 5</vt:lpstr>
      <vt:lpstr>TRISD is in BANK 1</vt:lpstr>
      <vt:lpstr>BANK SELECTION</vt:lpstr>
      <vt:lpstr>BANK SELECTION</vt:lpstr>
      <vt:lpstr>BANK SELECTION</vt:lpstr>
      <vt:lpstr>W REGISTER</vt:lpstr>
      <vt:lpstr>MOVLW</vt:lpstr>
      <vt:lpstr>MOVWF</vt:lpstr>
      <vt:lpstr>TRIS AND PORT REGISTERS</vt:lpstr>
      <vt:lpstr>TRIS</vt:lpstr>
      <vt:lpstr>TRIS</vt:lpstr>
      <vt:lpstr>PORT</vt:lpstr>
      <vt:lpstr>PORTB</vt:lpstr>
      <vt:lpstr>PORTB</vt:lpstr>
      <vt:lpstr>PORTB</vt:lpstr>
      <vt:lpstr>TRISB</vt:lpstr>
      <vt:lpstr>TRISx</vt:lpstr>
      <vt:lpstr>PORTB.0 = 1</vt:lpstr>
      <vt:lpstr>TRISx</vt:lpstr>
      <vt:lpstr>TRISx</vt:lpstr>
      <vt:lpstr>PowerPoint Presentation</vt:lpstr>
      <vt:lpstr>TURN LEDs ON AND OFF</vt:lpstr>
      <vt:lpstr>PORTB</vt:lpstr>
      <vt:lpstr>PowerPoint Presentation</vt:lpstr>
      <vt:lpstr>PORTB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Eng Mohamed Youssif</cp:lastModifiedBy>
  <cp:revision>7</cp:revision>
  <dcterms:created xsi:type="dcterms:W3CDTF">2022-02-22T05:43:12Z</dcterms:created>
  <dcterms:modified xsi:type="dcterms:W3CDTF">2026-07-31T13:49:16Z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2022-02-22T00:00:00Z</vt:filetime>
  </property>
</Properties>
</file>