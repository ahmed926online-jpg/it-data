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9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97858" y="655573"/>
            <a:ext cx="1748282" cy="638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E8272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62940" y="2644394"/>
            <a:ext cx="7818119" cy="941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17572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6670" y="214947"/>
            <a:ext cx="6550659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2930" y="1591944"/>
            <a:ext cx="7978139" cy="2773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0404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10218" y="4414918"/>
            <a:ext cx="367665" cy="58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14EA0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2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2246312"/>
            <a:ext cx="220408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>
                <a:solidFill>
                  <a:srgbClr val="E82728"/>
                </a:solidFill>
              </a:rPr>
              <a:t>CLASS</a:t>
            </a:r>
            <a:r>
              <a:rPr sz="4000" spc="-150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4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420" y="2246312"/>
            <a:ext cx="4458335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dirty="0"/>
              <a:t>CLASS</a:t>
            </a:r>
            <a:r>
              <a:rPr sz="4000" spc="-100" dirty="0"/>
              <a:t> </a:t>
            </a:r>
            <a:r>
              <a:rPr sz="4000" spc="15" dirty="0"/>
              <a:t>3</a:t>
            </a:r>
            <a:r>
              <a:rPr sz="4000" spc="-30" dirty="0"/>
              <a:t> </a:t>
            </a:r>
            <a:r>
              <a:rPr sz="4000" spc="15" dirty="0"/>
              <a:t>REVIEW</a:t>
            </a:r>
            <a:endParaRPr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59" y="27051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027" y="2285364"/>
            <a:ext cx="69227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15" dirty="0">
                <a:solidFill>
                  <a:srgbClr val="E82728"/>
                </a:solidFill>
              </a:rPr>
              <a:t>TURN</a:t>
            </a:r>
            <a:r>
              <a:rPr sz="4350" spc="85" dirty="0">
                <a:solidFill>
                  <a:srgbClr val="E82728"/>
                </a:solidFill>
              </a:rPr>
              <a:t> </a:t>
            </a:r>
            <a:r>
              <a:rPr sz="4350" spc="15" dirty="0">
                <a:solidFill>
                  <a:srgbClr val="E82728"/>
                </a:solidFill>
              </a:rPr>
              <a:t>LEDs</a:t>
            </a:r>
            <a:r>
              <a:rPr sz="4350" spc="5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ON</a:t>
            </a:r>
            <a:r>
              <a:rPr sz="4350" spc="90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spc="-10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OFF</a:t>
            </a:r>
            <a:endParaRPr sz="4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8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45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100" y="2567939"/>
            <a:ext cx="685800" cy="103631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5719" y="2567939"/>
            <a:ext cx="685800" cy="10363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723265"/>
            <a:ext cx="3738879" cy="3688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0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  <a:p>
            <a:pPr marL="12700" marR="764540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0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PORTB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2" y="1757616"/>
            <a:ext cx="77724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1555" algn="l"/>
                <a:tab pos="2018664" algn="l"/>
                <a:tab pos="3017520" algn="l"/>
                <a:tab pos="4023995" algn="l"/>
                <a:tab pos="5022850" algn="l"/>
                <a:tab pos="6029325" algn="l"/>
                <a:tab pos="70288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P</a:t>
            </a:r>
            <a:r>
              <a:rPr spc="25" dirty="0"/>
              <a:t>O</a:t>
            </a:r>
            <a:r>
              <a:rPr spc="-85" dirty="0"/>
              <a:t>R</a:t>
            </a:r>
            <a:r>
              <a:rPr spc="-5" dirty="0"/>
              <a:t>T</a:t>
            </a:r>
            <a:r>
              <a:rPr spc="15" dirty="0"/>
              <a:t>B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19" y="2567939"/>
            <a:ext cx="685799" cy="10363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2567939"/>
            <a:ext cx="685800" cy="10363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2567939"/>
            <a:ext cx="685800" cy="10363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219" y="2567939"/>
            <a:ext cx="685800" cy="10363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9760" y="2705100"/>
            <a:ext cx="365759" cy="6858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40479" y="2705100"/>
            <a:ext cx="35814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5500" y="2705100"/>
            <a:ext cx="365759" cy="6858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59" y="2705100"/>
            <a:ext cx="3581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715899"/>
            <a:ext cx="3738879" cy="3688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  <a:p>
            <a:pPr marL="12700" marR="764540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B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0xAA 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PORTB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352" y="1757616"/>
            <a:ext cx="78181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9175" algn="l"/>
                <a:tab pos="2026285" algn="l"/>
                <a:tab pos="3032760" algn="l"/>
                <a:tab pos="4039235" algn="l"/>
                <a:tab pos="5045710" algn="l"/>
                <a:tab pos="6052185" algn="l"/>
                <a:tab pos="706691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C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04971" y="655573"/>
            <a:ext cx="173990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6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0" y="1757616"/>
            <a:ext cx="7677784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030" algn="l"/>
                <a:tab pos="1991995" algn="l"/>
                <a:tab pos="2981960" algn="l"/>
                <a:tab pos="3971925" algn="l"/>
                <a:tab pos="4961890" algn="l"/>
                <a:tab pos="5951855" algn="l"/>
                <a:tab pos="6941820" algn="l"/>
              </a:tabLst>
            </a:pP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084" y="655573"/>
            <a:ext cx="170942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24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0730" y="1757616"/>
            <a:ext cx="76200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5680" algn="l"/>
                <a:tab pos="1979930" algn="l"/>
                <a:tab pos="2963545" algn="l"/>
                <a:tab pos="3939540" algn="l"/>
                <a:tab pos="4923790" algn="l"/>
                <a:tab pos="5907405" algn="l"/>
                <a:tab pos="6891020" algn="l"/>
              </a:tabLst>
            </a:pP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084" y="655573"/>
            <a:ext cx="1713864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1535" marR="5080" indent="-839469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r>
              <a:rPr sz="3000" spc="4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ONLY</a:t>
            </a:r>
            <a:endParaRPr sz="3000">
              <a:latin typeface="Verdana"/>
              <a:cs typeface="Verdana"/>
            </a:endParaRPr>
          </a:p>
          <a:p>
            <a:pPr marL="65405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8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FIRST</a:t>
            </a:r>
            <a:r>
              <a:rPr sz="3000" spc="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THREE</a:t>
            </a:r>
            <a:r>
              <a:rPr sz="3000" spc="-8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000" spc="-114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PORTB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000">
              <a:latin typeface="Verdana"/>
              <a:cs typeface="Verdana"/>
            </a:endParaRPr>
          </a:p>
          <a:p>
            <a:pPr marR="1270"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9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EVEN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E82728"/>
                </a:solidFill>
                <a:latin typeface="Verdana"/>
                <a:cs typeface="Verdana"/>
              </a:rPr>
              <a:t>PORTA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000">
              <a:latin typeface="Verdana"/>
              <a:cs typeface="Verdana"/>
            </a:endParaRPr>
          </a:p>
          <a:p>
            <a:pPr marR="5715"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9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ODD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E82728"/>
                </a:solidFill>
                <a:latin typeface="Verdana"/>
                <a:cs typeface="Verdana"/>
              </a:rPr>
              <a:t>PORTD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0467" y="1868804"/>
            <a:ext cx="6787515" cy="139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r>
              <a:rPr sz="3000" spc="4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ONLY</a:t>
            </a:r>
            <a:endParaRPr sz="3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9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LAST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TWO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E82728"/>
                </a:solidFill>
                <a:latin typeface="Verdana"/>
                <a:cs typeface="Verdana"/>
              </a:rPr>
              <a:t>LEDS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-3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PORTC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5227" y="1637664"/>
            <a:ext cx="6787515" cy="18573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  <a:tabLst>
                <a:tab pos="2102485" algn="l"/>
              </a:tabLst>
            </a:pP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WRITE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AN	</a:t>
            </a:r>
            <a:r>
              <a:rPr sz="3000" spc="-45" dirty="0">
                <a:solidFill>
                  <a:srgbClr val="E82728"/>
                </a:solidFill>
                <a:latin typeface="Verdana"/>
                <a:cs typeface="Verdana"/>
              </a:rPr>
              <a:t>ASSEMBLY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PROGRAM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IN </a:t>
            </a:r>
            <a:r>
              <a:rPr sz="3000" spc="-10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ORDER</a:t>
            </a:r>
            <a:r>
              <a:rPr sz="3000" spc="-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TO</a:t>
            </a:r>
            <a:r>
              <a:rPr sz="3000" spc="-6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TURN</a:t>
            </a:r>
            <a:r>
              <a:rPr sz="3000" spc="-7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ON</a:t>
            </a:r>
            <a:endParaRPr sz="3000">
              <a:latin typeface="Verdana"/>
              <a:cs typeface="Verdana"/>
            </a:endParaRPr>
          </a:p>
          <a:p>
            <a:pPr marL="454659" marR="450850" indent="-13970" algn="ctr">
              <a:lnSpc>
                <a:spcPct val="100000"/>
              </a:lnSpc>
              <a:spcBef>
                <a:spcPts val="10"/>
              </a:spcBef>
            </a:pP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E82728"/>
                </a:solidFill>
                <a:latin typeface="Verdana"/>
                <a:cs typeface="Verdana"/>
              </a:rPr>
              <a:t>EVEN</a:t>
            </a:r>
            <a:r>
              <a:rPr sz="3000" spc="5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</a:t>
            </a:r>
            <a:r>
              <a:rPr sz="3000" spc="6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E82728"/>
                </a:solidFill>
                <a:latin typeface="Verdana"/>
                <a:cs typeface="Verdana"/>
              </a:rPr>
              <a:t>PORTB 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AND</a:t>
            </a:r>
            <a:r>
              <a:rPr sz="3000" spc="3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THE</a:t>
            </a:r>
            <a:r>
              <a:rPr sz="3000" spc="-8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ODD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BITS</a:t>
            </a:r>
            <a:r>
              <a:rPr sz="3000" spc="1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E82728"/>
                </a:solidFill>
                <a:latin typeface="Verdana"/>
                <a:cs typeface="Verdana"/>
              </a:rPr>
              <a:t>OF</a:t>
            </a:r>
            <a:r>
              <a:rPr sz="3000" spc="-40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E82728"/>
                </a:solidFill>
                <a:latin typeface="Verdana"/>
                <a:cs typeface="Verdana"/>
              </a:rPr>
              <a:t>PORTC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196" y="448690"/>
            <a:ext cx="220408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</a:rPr>
              <a:t>CLASS</a:t>
            </a:r>
            <a:r>
              <a:rPr sz="4000" spc="-165" dirty="0">
                <a:solidFill>
                  <a:srgbClr val="E82728"/>
                </a:solidFill>
              </a:rPr>
              <a:t> </a:t>
            </a:r>
            <a:r>
              <a:rPr sz="4000" spc="15" dirty="0">
                <a:solidFill>
                  <a:srgbClr val="E82728"/>
                </a:solidFill>
              </a:rPr>
              <a:t>4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62242" y="2004123"/>
            <a:ext cx="830072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TURN</a:t>
            </a:r>
            <a:r>
              <a:rPr sz="3000" spc="-8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ON</a:t>
            </a:r>
            <a:r>
              <a:rPr sz="3000" spc="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LEDs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7-SEGMENT</a:t>
            </a:r>
            <a:r>
              <a:rPr sz="3000" spc="-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DISPLAY</a:t>
            </a:r>
            <a:endParaRPr sz="3000">
              <a:latin typeface="Verdana"/>
              <a:cs typeface="Verdana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BASICS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OF</a:t>
            </a:r>
            <a:r>
              <a:rPr sz="3000" spc="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CENTRAL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PROCESSING</a:t>
            </a:r>
            <a:r>
              <a:rPr sz="3000" spc="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UNIT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3307" y="2285364"/>
            <a:ext cx="701294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15" dirty="0">
                <a:solidFill>
                  <a:srgbClr val="E82728"/>
                </a:solidFill>
              </a:rPr>
              <a:t>TURN</a:t>
            </a:r>
            <a:r>
              <a:rPr sz="4350" spc="80" dirty="0">
                <a:solidFill>
                  <a:srgbClr val="E82728"/>
                </a:solidFill>
              </a:rPr>
              <a:t> </a:t>
            </a:r>
            <a:r>
              <a:rPr sz="4350" spc="15" dirty="0">
                <a:solidFill>
                  <a:srgbClr val="E82728"/>
                </a:solidFill>
              </a:rPr>
              <a:t>LEDS</a:t>
            </a:r>
            <a:r>
              <a:rPr sz="4350" spc="20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ON</a:t>
            </a:r>
            <a:r>
              <a:rPr sz="4350" spc="80" dirty="0">
                <a:solidFill>
                  <a:srgbClr val="E82728"/>
                </a:solidFill>
              </a:rPr>
              <a:t> </a:t>
            </a:r>
            <a:r>
              <a:rPr sz="4350" spc="30" dirty="0">
                <a:solidFill>
                  <a:srgbClr val="E82728"/>
                </a:solidFill>
              </a:rPr>
              <a:t>AND</a:t>
            </a:r>
            <a:r>
              <a:rPr sz="4350" dirty="0">
                <a:solidFill>
                  <a:srgbClr val="E82728"/>
                </a:solidFill>
              </a:rPr>
              <a:t> </a:t>
            </a:r>
            <a:r>
              <a:rPr sz="4350" spc="10" dirty="0">
                <a:solidFill>
                  <a:srgbClr val="E82728"/>
                </a:solidFill>
              </a:rPr>
              <a:t>OFF</a:t>
            </a:r>
            <a:endParaRPr sz="4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0" y="1757616"/>
            <a:ext cx="7688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3300" algn="l"/>
                <a:tab pos="1995170" algn="l"/>
                <a:tab pos="2986405" algn="l"/>
                <a:tab pos="3977640" algn="l"/>
                <a:tab pos="4969510" algn="l"/>
                <a:tab pos="5960745" algn="l"/>
                <a:tab pos="6951980" algn="l"/>
              </a:tabLst>
            </a:pP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7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6	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5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4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	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2	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	</a:t>
            </a:r>
            <a:r>
              <a:rPr sz="3000" spc="-75" dirty="0">
                <a:solidFill>
                  <a:srgbClr val="404040"/>
                </a:solidFill>
                <a:latin typeface="Verdana"/>
                <a:cs typeface="Verdana"/>
              </a:rPr>
              <a:t>P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0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0084" y="655573"/>
            <a:ext cx="170942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E82728"/>
                </a:solidFill>
                <a:latin typeface="Verdana"/>
                <a:cs typeface="Verdana"/>
              </a:rPr>
              <a:t>P</a:t>
            </a:r>
            <a:r>
              <a:rPr sz="4000" spc="25" dirty="0">
                <a:solidFill>
                  <a:srgbClr val="E82728"/>
                </a:solidFill>
                <a:latin typeface="Verdana"/>
                <a:cs typeface="Verdana"/>
              </a:rPr>
              <a:t>O</a:t>
            </a:r>
            <a:r>
              <a:rPr sz="4000" spc="-85" dirty="0">
                <a:solidFill>
                  <a:srgbClr val="E82728"/>
                </a:solidFill>
                <a:latin typeface="Verdana"/>
                <a:cs typeface="Verdana"/>
              </a:rPr>
              <a:t>R</a:t>
            </a:r>
            <a:r>
              <a:rPr sz="4000" spc="-245" dirty="0">
                <a:solidFill>
                  <a:srgbClr val="E82728"/>
                </a:solidFill>
                <a:latin typeface="Verdana"/>
                <a:cs typeface="Verdana"/>
              </a:rPr>
              <a:t>T</a:t>
            </a:r>
            <a:r>
              <a:rPr sz="4000" spc="15" dirty="0">
                <a:solidFill>
                  <a:srgbClr val="E82728"/>
                </a:solidFill>
                <a:latin typeface="Verdana"/>
                <a:cs typeface="Verdana"/>
              </a:rPr>
              <a:t>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59" y="0"/>
                </a:moveTo>
                <a:lnTo>
                  <a:pt x="206260" y="4049"/>
                </a:lnTo>
                <a:lnTo>
                  <a:pt x="163718" y="15725"/>
                </a:lnTo>
                <a:lnTo>
                  <a:pt x="124544" y="34318"/>
                </a:lnTo>
                <a:lnTo>
                  <a:pt x="89448" y="59120"/>
                </a:lnTo>
                <a:lnTo>
                  <a:pt x="59141" y="89422"/>
                </a:lnTo>
                <a:lnTo>
                  <a:pt x="34332" y="124516"/>
                </a:lnTo>
                <a:lnTo>
                  <a:pt x="15732" y="163693"/>
                </a:lnTo>
                <a:lnTo>
                  <a:pt x="4051" y="206243"/>
                </a:lnTo>
                <a:lnTo>
                  <a:pt x="0" y="251460"/>
                </a:lnTo>
                <a:lnTo>
                  <a:pt x="4051" y="296676"/>
                </a:lnTo>
                <a:lnTo>
                  <a:pt x="15732" y="339226"/>
                </a:lnTo>
                <a:lnTo>
                  <a:pt x="34332" y="378403"/>
                </a:lnTo>
                <a:lnTo>
                  <a:pt x="59141" y="413497"/>
                </a:lnTo>
                <a:lnTo>
                  <a:pt x="89448" y="443799"/>
                </a:lnTo>
                <a:lnTo>
                  <a:pt x="124544" y="468601"/>
                </a:lnTo>
                <a:lnTo>
                  <a:pt x="163718" y="487194"/>
                </a:lnTo>
                <a:lnTo>
                  <a:pt x="206260" y="498870"/>
                </a:lnTo>
                <a:lnTo>
                  <a:pt x="251459" y="502919"/>
                </a:lnTo>
                <a:lnTo>
                  <a:pt x="296659" y="498870"/>
                </a:lnTo>
                <a:lnTo>
                  <a:pt x="339201" y="487194"/>
                </a:lnTo>
                <a:lnTo>
                  <a:pt x="378375" y="468601"/>
                </a:lnTo>
                <a:lnTo>
                  <a:pt x="413471" y="443799"/>
                </a:lnTo>
                <a:lnTo>
                  <a:pt x="443778" y="413497"/>
                </a:lnTo>
                <a:lnTo>
                  <a:pt x="468587" y="378403"/>
                </a:lnTo>
                <a:lnTo>
                  <a:pt x="487187" y="339226"/>
                </a:lnTo>
                <a:lnTo>
                  <a:pt x="498868" y="296676"/>
                </a:lnTo>
                <a:lnTo>
                  <a:pt x="502919" y="251460"/>
                </a:lnTo>
                <a:lnTo>
                  <a:pt x="498868" y="206243"/>
                </a:lnTo>
                <a:lnTo>
                  <a:pt x="487187" y="163693"/>
                </a:lnTo>
                <a:lnTo>
                  <a:pt x="468587" y="124516"/>
                </a:lnTo>
                <a:lnTo>
                  <a:pt x="443778" y="89422"/>
                </a:lnTo>
                <a:lnTo>
                  <a:pt x="413471" y="59120"/>
                </a:lnTo>
                <a:lnTo>
                  <a:pt x="378375" y="34318"/>
                </a:lnTo>
                <a:lnTo>
                  <a:pt x="339201" y="15725"/>
                </a:lnTo>
                <a:lnTo>
                  <a:pt x="296659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5939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19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20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270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60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60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57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44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1312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113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40040" y="240792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19">
                <a:moveTo>
                  <a:pt x="251459" y="0"/>
                </a:moveTo>
                <a:lnTo>
                  <a:pt x="206243" y="4049"/>
                </a:lnTo>
                <a:lnTo>
                  <a:pt x="163693" y="15725"/>
                </a:lnTo>
                <a:lnTo>
                  <a:pt x="124516" y="34318"/>
                </a:lnTo>
                <a:lnTo>
                  <a:pt x="89422" y="59120"/>
                </a:lnTo>
                <a:lnTo>
                  <a:pt x="59120" y="89422"/>
                </a:lnTo>
                <a:lnTo>
                  <a:pt x="34318" y="124516"/>
                </a:lnTo>
                <a:lnTo>
                  <a:pt x="15725" y="163693"/>
                </a:lnTo>
                <a:lnTo>
                  <a:pt x="4049" y="206243"/>
                </a:lnTo>
                <a:lnTo>
                  <a:pt x="0" y="251460"/>
                </a:lnTo>
                <a:lnTo>
                  <a:pt x="4049" y="296676"/>
                </a:lnTo>
                <a:lnTo>
                  <a:pt x="15725" y="339226"/>
                </a:lnTo>
                <a:lnTo>
                  <a:pt x="34318" y="378403"/>
                </a:lnTo>
                <a:lnTo>
                  <a:pt x="59120" y="413497"/>
                </a:lnTo>
                <a:lnTo>
                  <a:pt x="89422" y="443799"/>
                </a:lnTo>
                <a:lnTo>
                  <a:pt x="124516" y="468601"/>
                </a:lnTo>
                <a:lnTo>
                  <a:pt x="163693" y="487194"/>
                </a:lnTo>
                <a:lnTo>
                  <a:pt x="206243" y="498870"/>
                </a:lnTo>
                <a:lnTo>
                  <a:pt x="251459" y="502919"/>
                </a:lnTo>
                <a:lnTo>
                  <a:pt x="296676" y="498870"/>
                </a:lnTo>
                <a:lnTo>
                  <a:pt x="339226" y="487194"/>
                </a:lnTo>
                <a:lnTo>
                  <a:pt x="378403" y="468601"/>
                </a:lnTo>
                <a:lnTo>
                  <a:pt x="413497" y="443799"/>
                </a:lnTo>
                <a:lnTo>
                  <a:pt x="443799" y="413497"/>
                </a:lnTo>
                <a:lnTo>
                  <a:pt x="468601" y="378403"/>
                </a:lnTo>
                <a:lnTo>
                  <a:pt x="487194" y="339226"/>
                </a:lnTo>
                <a:lnTo>
                  <a:pt x="498870" y="296676"/>
                </a:lnTo>
                <a:lnTo>
                  <a:pt x="502919" y="251460"/>
                </a:lnTo>
                <a:lnTo>
                  <a:pt x="498870" y="206243"/>
                </a:lnTo>
                <a:lnTo>
                  <a:pt x="487194" y="163693"/>
                </a:lnTo>
                <a:lnTo>
                  <a:pt x="468601" y="124516"/>
                </a:lnTo>
                <a:lnTo>
                  <a:pt x="443799" y="89422"/>
                </a:lnTo>
                <a:lnTo>
                  <a:pt x="413497" y="59120"/>
                </a:lnTo>
                <a:lnTo>
                  <a:pt x="378403" y="34318"/>
                </a:lnTo>
                <a:lnTo>
                  <a:pt x="339226" y="15725"/>
                </a:lnTo>
                <a:lnTo>
                  <a:pt x="296676" y="4049"/>
                </a:lnTo>
                <a:lnTo>
                  <a:pt x="25145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270" y="715899"/>
            <a:ext cx="3738879" cy="3688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728470" algn="l"/>
              </a:tabLst>
            </a:pP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BSF	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3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</a:t>
            </a:r>
            <a:endParaRPr sz="3000">
              <a:latin typeface="Verdana"/>
              <a:cs typeface="Verdana"/>
            </a:endParaRPr>
          </a:p>
          <a:p>
            <a:pPr marL="12700" marR="765175">
              <a:lnSpc>
                <a:spcPct val="100000"/>
              </a:lnSpc>
              <a:spcBef>
                <a:spcPts val="5"/>
              </a:spcBef>
              <a:tabLst>
                <a:tab pos="1781810" algn="l"/>
              </a:tabLst>
            </a:pP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C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LR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F	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3000" spc="-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A 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  <a:tabLst>
                <a:tab pos="1728470" algn="l"/>
                <a:tab pos="1758314" algn="l"/>
              </a:tabLst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	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</a:t>
            </a:r>
            <a:r>
              <a:rPr sz="30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	</a:t>
            </a:r>
            <a:r>
              <a:rPr sz="3000" spc="15" dirty="0">
                <a:solidFill>
                  <a:srgbClr val="014EA0"/>
                </a:solidFill>
                <a:latin typeface="Verdana"/>
                <a:cs typeface="Verdana"/>
              </a:rPr>
              <a:t>0x99 </a:t>
            </a:r>
            <a:r>
              <a:rPr sz="3000" spc="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		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30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1785" y="2285364"/>
            <a:ext cx="597916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15" dirty="0">
                <a:solidFill>
                  <a:srgbClr val="E82728"/>
                </a:solidFill>
              </a:rPr>
              <a:t>7-SEGMENT</a:t>
            </a:r>
            <a:r>
              <a:rPr sz="4350" spc="65" dirty="0">
                <a:solidFill>
                  <a:srgbClr val="E82728"/>
                </a:solidFill>
              </a:rPr>
              <a:t> </a:t>
            </a:r>
            <a:r>
              <a:rPr sz="4350" spc="-5" dirty="0">
                <a:solidFill>
                  <a:srgbClr val="E82728"/>
                </a:solidFill>
              </a:rPr>
              <a:t>DISPLAY</a:t>
            </a:r>
            <a:endParaRPr sz="43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7464" y="214947"/>
            <a:ext cx="653986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7-SEGMENT</a:t>
            </a:r>
            <a:r>
              <a:rPr sz="4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15" dirty="0">
                <a:solidFill>
                  <a:srgbClr val="404040"/>
                </a:solidFill>
                <a:latin typeface="Verdana"/>
                <a:cs typeface="Verdana"/>
              </a:rPr>
              <a:t>DISPLAY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1242060"/>
            <a:ext cx="3703320" cy="2712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5476" y="4162107"/>
            <a:ext cx="38201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COMMON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CATHODE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" y="2037275"/>
            <a:ext cx="7912613" cy="14360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2729" y="1261744"/>
          <a:ext cx="8625840" cy="3470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6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7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5467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Decimal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5" dirty="0">
                          <a:latin typeface="Verdana"/>
                          <a:cs typeface="Verdana"/>
                        </a:rPr>
                        <a:t>DP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c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b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5" dirty="0">
                          <a:latin typeface="Verdana"/>
                          <a:cs typeface="Verdana"/>
                        </a:rPr>
                        <a:t>Hex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3F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06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5B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4F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1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7D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04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7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07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8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7F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9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67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0785" y="3676967"/>
            <a:ext cx="5212080" cy="8680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3175" algn="ctr">
              <a:lnSpc>
                <a:spcPts val="3300"/>
              </a:lnSpc>
              <a:spcBef>
                <a:spcPts val="125"/>
              </a:spcBef>
            </a:pP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SHOW</a:t>
            </a:r>
            <a:r>
              <a:rPr sz="2800" spc="-8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NUMBER</a:t>
            </a:r>
            <a:r>
              <a:rPr sz="2800" spc="-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014EA0"/>
                </a:solidFill>
                <a:latin typeface="Verdana"/>
                <a:cs typeface="Verdana"/>
              </a:rPr>
              <a:t>“0”</a:t>
            </a:r>
            <a:endParaRPr sz="2800">
              <a:latin typeface="Verdana"/>
              <a:cs typeface="Verdana"/>
            </a:endParaRPr>
          </a:p>
          <a:p>
            <a:pPr algn="ctr">
              <a:lnSpc>
                <a:spcPts val="3300"/>
              </a:lnSpc>
            </a:pPr>
            <a:r>
              <a:rPr sz="2800" spc="45" dirty="0">
                <a:solidFill>
                  <a:srgbClr val="014EA0"/>
                </a:solidFill>
                <a:latin typeface="Verdana"/>
                <a:cs typeface="Verdana"/>
              </a:rPr>
              <a:t>IN</a:t>
            </a:r>
            <a:r>
              <a:rPr sz="2800" spc="-10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ALL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THE</a:t>
            </a:r>
            <a:r>
              <a:rPr sz="2800" spc="-3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DISPLAYS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90800" y="1630679"/>
            <a:ext cx="754380" cy="1424940"/>
            <a:chOff x="2590800" y="1630679"/>
            <a:chExt cx="754380" cy="1424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800" y="1630679"/>
              <a:ext cx="754379" cy="14249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36520" y="2285999"/>
              <a:ext cx="655320" cy="106680"/>
            </a:xfrm>
            <a:custGeom>
              <a:avLst/>
              <a:gdLst/>
              <a:ahLst/>
              <a:cxnLst/>
              <a:rect l="l" t="t" r="r" b="b"/>
              <a:pathLst>
                <a:path w="655320" h="106680">
                  <a:moveTo>
                    <a:pt x="655320" y="53340"/>
                  </a:moveTo>
                  <a:lnTo>
                    <a:pt x="601980" y="0"/>
                  </a:lnTo>
                  <a:lnTo>
                    <a:pt x="327660" y="0"/>
                  </a:lnTo>
                  <a:lnTo>
                    <a:pt x="320040" y="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53340" y="106680"/>
                  </a:lnTo>
                  <a:lnTo>
                    <a:pt x="320040" y="106680"/>
                  </a:lnTo>
                  <a:lnTo>
                    <a:pt x="327660" y="106680"/>
                  </a:lnTo>
                  <a:lnTo>
                    <a:pt x="601980" y="106680"/>
                  </a:lnTo>
                  <a:lnTo>
                    <a:pt x="65532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665220" y="1630679"/>
            <a:ext cx="762000" cy="1424940"/>
            <a:chOff x="3665220" y="1630679"/>
            <a:chExt cx="762000" cy="14249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5220" y="1630679"/>
              <a:ext cx="762000" cy="14249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10940" y="2285999"/>
              <a:ext cx="662940" cy="106680"/>
            </a:xfrm>
            <a:custGeom>
              <a:avLst/>
              <a:gdLst/>
              <a:ahLst/>
              <a:cxnLst/>
              <a:rect l="l" t="t" r="r" b="b"/>
              <a:pathLst>
                <a:path w="662939" h="106680">
                  <a:moveTo>
                    <a:pt x="662940" y="53340"/>
                  </a:moveTo>
                  <a:lnTo>
                    <a:pt x="609600" y="0"/>
                  </a:lnTo>
                  <a:lnTo>
                    <a:pt x="335280" y="0"/>
                  </a:lnTo>
                  <a:lnTo>
                    <a:pt x="327660" y="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53340" y="106680"/>
                  </a:lnTo>
                  <a:lnTo>
                    <a:pt x="327660" y="106680"/>
                  </a:lnTo>
                  <a:lnTo>
                    <a:pt x="335280" y="106680"/>
                  </a:lnTo>
                  <a:lnTo>
                    <a:pt x="609600" y="106680"/>
                  </a:lnTo>
                  <a:lnTo>
                    <a:pt x="66294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716779" y="1630679"/>
            <a:ext cx="762000" cy="1424940"/>
            <a:chOff x="4716779" y="1630679"/>
            <a:chExt cx="762000" cy="14249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630679"/>
              <a:ext cx="762000" cy="14249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62500" y="2285999"/>
              <a:ext cx="655320" cy="106680"/>
            </a:xfrm>
            <a:custGeom>
              <a:avLst/>
              <a:gdLst/>
              <a:ahLst/>
              <a:cxnLst/>
              <a:rect l="l" t="t" r="r" b="b"/>
              <a:pathLst>
                <a:path w="655320" h="106680">
                  <a:moveTo>
                    <a:pt x="655320" y="53340"/>
                  </a:moveTo>
                  <a:lnTo>
                    <a:pt x="601980" y="0"/>
                  </a:lnTo>
                  <a:lnTo>
                    <a:pt x="335280" y="0"/>
                  </a:lnTo>
                  <a:lnTo>
                    <a:pt x="327660" y="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53340" y="106680"/>
                  </a:lnTo>
                  <a:lnTo>
                    <a:pt x="327660" y="106680"/>
                  </a:lnTo>
                  <a:lnTo>
                    <a:pt x="335280" y="106680"/>
                  </a:lnTo>
                  <a:lnTo>
                    <a:pt x="601980" y="106680"/>
                  </a:lnTo>
                  <a:lnTo>
                    <a:pt x="65532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5798820" y="1630679"/>
            <a:ext cx="754380" cy="1424940"/>
            <a:chOff x="5798820" y="1630679"/>
            <a:chExt cx="754380" cy="14249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8820" y="1630679"/>
              <a:ext cx="754379" cy="14249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44540" y="2285999"/>
              <a:ext cx="655320" cy="106680"/>
            </a:xfrm>
            <a:custGeom>
              <a:avLst/>
              <a:gdLst/>
              <a:ahLst/>
              <a:cxnLst/>
              <a:rect l="l" t="t" r="r" b="b"/>
              <a:pathLst>
                <a:path w="655320" h="106680">
                  <a:moveTo>
                    <a:pt x="655320" y="53340"/>
                  </a:moveTo>
                  <a:lnTo>
                    <a:pt x="601980" y="0"/>
                  </a:lnTo>
                  <a:lnTo>
                    <a:pt x="335280" y="0"/>
                  </a:lnTo>
                  <a:lnTo>
                    <a:pt x="320040" y="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53340" y="106680"/>
                  </a:lnTo>
                  <a:lnTo>
                    <a:pt x="320040" y="106680"/>
                  </a:lnTo>
                  <a:lnTo>
                    <a:pt x="335280" y="106680"/>
                  </a:lnTo>
                  <a:lnTo>
                    <a:pt x="601980" y="106680"/>
                  </a:lnTo>
                  <a:lnTo>
                    <a:pt x="65532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7464" y="214947"/>
            <a:ext cx="6539865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" dirty="0">
                <a:solidFill>
                  <a:srgbClr val="404040"/>
                </a:solidFill>
                <a:latin typeface="Verdana"/>
                <a:cs typeface="Verdana"/>
              </a:rPr>
              <a:t>7-SEGMENT</a:t>
            </a:r>
            <a:r>
              <a:rPr sz="4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4800" spc="-15" dirty="0">
                <a:solidFill>
                  <a:srgbClr val="404040"/>
                </a:solidFill>
                <a:latin typeface="Verdana"/>
                <a:cs typeface="Verdana"/>
              </a:rPr>
              <a:t>DISPLAY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0339" y="1242060"/>
            <a:ext cx="3703320" cy="2712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65476" y="4162107"/>
            <a:ext cx="3820160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COMMON</a:t>
            </a:r>
            <a:r>
              <a:rPr sz="30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CATHODE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5260" y="1261744"/>
          <a:ext cx="8736965" cy="34700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7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88226">
                <a:tc>
                  <a:txBody>
                    <a:bodyPr/>
                    <a:lstStyle/>
                    <a:p>
                      <a:pPr marL="42545" algn="ct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Decimal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spc="5" dirty="0">
                          <a:latin typeface="Verdana"/>
                          <a:cs typeface="Verdana"/>
                        </a:rPr>
                        <a:t>DP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g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315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6390" algn="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e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c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b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2580" algn="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a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095"/>
                        </a:lnSpc>
                        <a:spcBef>
                          <a:spcPts val="75"/>
                        </a:spcBef>
                      </a:pPr>
                      <a:r>
                        <a:rPr sz="1800" b="1" spc="-5" dirty="0">
                          <a:latin typeface="Verdana"/>
                          <a:cs typeface="Verdana"/>
                        </a:rPr>
                        <a:t>Hex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809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3F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38100">
                      <a:solidFill>
                        <a:srgbClr val="E82728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38100">
                      <a:solidFill>
                        <a:srgbClr val="E8272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68">
                <a:tc>
                  <a:txBody>
                    <a:bodyPr/>
                    <a:lstStyle/>
                    <a:p>
                      <a:pPr marL="43180" algn="ctr">
                        <a:lnSpc>
                          <a:spcPts val="1975"/>
                        </a:lnSpc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38100">
                      <a:solidFill>
                        <a:srgbClr val="E82728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ts val="1975"/>
                        </a:lnSpc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975"/>
                        </a:lnSpc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06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38100">
                      <a:solidFill>
                        <a:srgbClr val="E82728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  <a:lnT w="38100">
                      <a:solidFill>
                        <a:srgbClr val="E82728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2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5B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3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4F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143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7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4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5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6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1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2956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7D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04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7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07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7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8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7F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4318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latin typeface="Verdana"/>
                          <a:cs typeface="Verdana"/>
                        </a:rPr>
                        <a:t>9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274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0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835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0" algn="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Verdana"/>
                          <a:cs typeface="Verdana"/>
                        </a:rPr>
                        <a:t>1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spc="-5" dirty="0">
                          <a:latin typeface="Verdana"/>
                          <a:cs typeface="Verdana"/>
                        </a:rPr>
                        <a:t>67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4F81BC"/>
                      </a:solidFill>
                      <a:prstDash val="solid"/>
                    </a:lnL>
                    <a:lnR w="12700">
                      <a:solidFill>
                        <a:srgbClr val="4F81BC"/>
                      </a:solidFill>
                      <a:prstDash val="solid"/>
                    </a:lnR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F81BC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417" y="60705"/>
            <a:ext cx="2950845" cy="5062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ORG</a:t>
            </a:r>
            <a:r>
              <a:rPr sz="30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0x00</a:t>
            </a:r>
            <a:endParaRPr sz="3000">
              <a:latin typeface="Verdana"/>
              <a:cs typeface="Verdana"/>
            </a:endParaRPr>
          </a:p>
          <a:p>
            <a:pPr marL="12700" marR="56515">
              <a:lnSpc>
                <a:spcPct val="100000"/>
              </a:lnSpc>
              <a:spcBef>
                <a:spcPts val="5"/>
              </a:spcBef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BSF </a:t>
            </a:r>
            <a:r>
              <a:rPr sz="3000" spc="-55" dirty="0">
                <a:solidFill>
                  <a:srgbClr val="014EA0"/>
                </a:solidFill>
                <a:latin typeface="Verdana"/>
                <a:cs typeface="Verdana"/>
              </a:rPr>
              <a:t>STATUS,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CLRF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TRISA 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 CLRF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TRISD </a:t>
            </a:r>
            <a:r>
              <a:rPr sz="3000" spc="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3000" spc="-10" dirty="0">
                <a:solidFill>
                  <a:srgbClr val="014EA0"/>
                </a:solidFill>
                <a:latin typeface="Verdana"/>
                <a:cs typeface="Verdana"/>
              </a:rPr>
              <a:t>BCF 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STATUS, </a:t>
            </a:r>
            <a:r>
              <a:rPr sz="3000" dirty="0">
                <a:solidFill>
                  <a:srgbClr val="014EA0"/>
                </a:solidFill>
                <a:latin typeface="Verdana"/>
                <a:cs typeface="Verdana"/>
              </a:rPr>
              <a:t>5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0xFF </a:t>
            </a:r>
            <a:r>
              <a:rPr sz="30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 </a:t>
            </a:r>
            <a:r>
              <a:rPr sz="3000" spc="-50" dirty="0">
                <a:solidFill>
                  <a:srgbClr val="014EA0"/>
                </a:solidFill>
                <a:latin typeface="Verdana"/>
                <a:cs typeface="Verdana"/>
              </a:rPr>
              <a:t>PORTA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35" dirty="0">
                <a:solidFill>
                  <a:srgbClr val="014EA0"/>
                </a:solidFill>
                <a:latin typeface="Verdana"/>
                <a:cs typeface="Verdana"/>
              </a:rPr>
              <a:t>MOVLW</a:t>
            </a:r>
            <a:r>
              <a:rPr sz="30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014EA0"/>
                </a:solidFill>
                <a:latin typeface="Verdana"/>
                <a:cs typeface="Verdana"/>
              </a:rPr>
              <a:t>0x3F </a:t>
            </a:r>
            <a:r>
              <a:rPr sz="3000" spc="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MOVWF</a:t>
            </a:r>
            <a:r>
              <a:rPr sz="30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014EA0"/>
                </a:solidFill>
                <a:latin typeface="Verdana"/>
                <a:cs typeface="Verdana"/>
              </a:rPr>
              <a:t>PORTD </a:t>
            </a:r>
            <a:r>
              <a:rPr sz="3000" spc="-10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END</a:t>
            </a:r>
            <a:endParaRPr sz="30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20" y="1661160"/>
            <a:ext cx="754379" cy="1424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9300" y="1661160"/>
            <a:ext cx="762000" cy="14249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6080" y="1661160"/>
            <a:ext cx="754379" cy="14249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859" y="1661160"/>
            <a:ext cx="762000" cy="142493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9364" y="3676967"/>
            <a:ext cx="6607175" cy="8680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3300"/>
              </a:lnSpc>
              <a:spcBef>
                <a:spcPts val="12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SHOW</a:t>
            </a:r>
            <a:r>
              <a:rPr sz="2800" spc="-8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NUMBER</a:t>
            </a:r>
            <a:r>
              <a:rPr sz="2800" spc="-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014EA0"/>
                </a:solidFill>
                <a:latin typeface="Verdana"/>
                <a:cs typeface="Verdana"/>
              </a:rPr>
              <a:t>“5”</a:t>
            </a:r>
            <a:endParaRPr sz="2800">
              <a:latin typeface="Verdana"/>
              <a:cs typeface="Verdana"/>
            </a:endParaRPr>
          </a:p>
          <a:p>
            <a:pPr algn="ctr">
              <a:lnSpc>
                <a:spcPts val="3300"/>
              </a:lnSpc>
            </a:pPr>
            <a:r>
              <a:rPr sz="2800" spc="45" dirty="0">
                <a:solidFill>
                  <a:srgbClr val="014EA0"/>
                </a:solidFill>
                <a:latin typeface="Verdana"/>
                <a:cs typeface="Verdana"/>
              </a:rPr>
              <a:t>IN</a:t>
            </a:r>
            <a:r>
              <a:rPr sz="2800" spc="-11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THE</a:t>
            </a:r>
            <a:r>
              <a:rPr sz="2800" spc="-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014EA0"/>
                </a:solidFill>
                <a:latin typeface="Verdana"/>
                <a:cs typeface="Verdana"/>
              </a:rPr>
              <a:t>FIRST</a:t>
            </a:r>
            <a:r>
              <a:rPr sz="2800" spc="-1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TWO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DISPLAYS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86300" y="1630679"/>
            <a:ext cx="754380" cy="1424940"/>
            <a:chOff x="4686300" y="1630679"/>
            <a:chExt cx="754380" cy="1424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6300" y="1630679"/>
              <a:ext cx="754379" cy="14249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86300" y="1684019"/>
              <a:ext cx="754380" cy="1318260"/>
            </a:xfrm>
            <a:custGeom>
              <a:avLst/>
              <a:gdLst/>
              <a:ahLst/>
              <a:cxnLst/>
              <a:rect l="l" t="t" r="r" b="b"/>
              <a:pathLst>
                <a:path w="754379" h="1318260">
                  <a:moveTo>
                    <a:pt x="99060" y="704850"/>
                  </a:moveTo>
                  <a:lnTo>
                    <a:pt x="49530" y="655320"/>
                  </a:lnTo>
                  <a:lnTo>
                    <a:pt x="0" y="704850"/>
                  </a:lnTo>
                  <a:lnTo>
                    <a:pt x="0" y="982980"/>
                  </a:lnTo>
                  <a:lnTo>
                    <a:pt x="0" y="990600"/>
                  </a:lnTo>
                  <a:lnTo>
                    <a:pt x="0" y="1268730"/>
                  </a:lnTo>
                  <a:lnTo>
                    <a:pt x="49530" y="1318260"/>
                  </a:lnTo>
                  <a:lnTo>
                    <a:pt x="99060" y="1268730"/>
                  </a:lnTo>
                  <a:lnTo>
                    <a:pt x="99060" y="990600"/>
                  </a:lnTo>
                  <a:lnTo>
                    <a:pt x="99060" y="982980"/>
                  </a:lnTo>
                  <a:lnTo>
                    <a:pt x="99060" y="704850"/>
                  </a:lnTo>
                  <a:close/>
                </a:path>
                <a:path w="754379" h="1318260">
                  <a:moveTo>
                    <a:pt x="754380" y="49530"/>
                  </a:moveTo>
                  <a:lnTo>
                    <a:pt x="704850" y="0"/>
                  </a:lnTo>
                  <a:lnTo>
                    <a:pt x="655320" y="49530"/>
                  </a:lnTo>
                  <a:lnTo>
                    <a:pt x="655320" y="327660"/>
                  </a:lnTo>
                  <a:lnTo>
                    <a:pt x="655320" y="335280"/>
                  </a:lnTo>
                  <a:lnTo>
                    <a:pt x="655320" y="605790"/>
                  </a:lnTo>
                  <a:lnTo>
                    <a:pt x="704850" y="655320"/>
                  </a:lnTo>
                  <a:lnTo>
                    <a:pt x="754380" y="605790"/>
                  </a:lnTo>
                  <a:lnTo>
                    <a:pt x="754380" y="335280"/>
                  </a:lnTo>
                  <a:lnTo>
                    <a:pt x="754380" y="327660"/>
                  </a:lnTo>
                  <a:lnTo>
                    <a:pt x="754380" y="4953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715000" y="1630679"/>
            <a:ext cx="762000" cy="1424940"/>
            <a:chOff x="5715000" y="1630679"/>
            <a:chExt cx="762000" cy="14249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0" y="1630679"/>
              <a:ext cx="754379" cy="14249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15000" y="1684019"/>
              <a:ext cx="762000" cy="1318260"/>
            </a:xfrm>
            <a:custGeom>
              <a:avLst/>
              <a:gdLst/>
              <a:ahLst/>
              <a:cxnLst/>
              <a:rect l="l" t="t" r="r" b="b"/>
              <a:pathLst>
                <a:path w="762000" h="1318260">
                  <a:moveTo>
                    <a:pt x="106680" y="708660"/>
                  </a:moveTo>
                  <a:lnTo>
                    <a:pt x="53340" y="655320"/>
                  </a:lnTo>
                  <a:lnTo>
                    <a:pt x="0" y="708660"/>
                  </a:lnTo>
                  <a:lnTo>
                    <a:pt x="0" y="982980"/>
                  </a:lnTo>
                  <a:lnTo>
                    <a:pt x="0" y="990600"/>
                  </a:lnTo>
                  <a:lnTo>
                    <a:pt x="0" y="1264920"/>
                  </a:lnTo>
                  <a:lnTo>
                    <a:pt x="53340" y="1318260"/>
                  </a:lnTo>
                  <a:lnTo>
                    <a:pt x="106680" y="1264920"/>
                  </a:lnTo>
                  <a:lnTo>
                    <a:pt x="106680" y="990600"/>
                  </a:lnTo>
                  <a:lnTo>
                    <a:pt x="106680" y="982980"/>
                  </a:lnTo>
                  <a:lnTo>
                    <a:pt x="106680" y="708660"/>
                  </a:lnTo>
                  <a:close/>
                </a:path>
                <a:path w="762000" h="1318260">
                  <a:moveTo>
                    <a:pt x="762000" y="53340"/>
                  </a:moveTo>
                  <a:lnTo>
                    <a:pt x="708660" y="0"/>
                  </a:lnTo>
                  <a:lnTo>
                    <a:pt x="655320" y="53340"/>
                  </a:lnTo>
                  <a:lnTo>
                    <a:pt x="655320" y="327660"/>
                  </a:lnTo>
                  <a:lnTo>
                    <a:pt x="655320" y="335280"/>
                  </a:lnTo>
                  <a:lnTo>
                    <a:pt x="655320" y="601980"/>
                  </a:lnTo>
                  <a:lnTo>
                    <a:pt x="708660" y="655320"/>
                  </a:lnTo>
                  <a:lnTo>
                    <a:pt x="762000" y="601980"/>
                  </a:lnTo>
                  <a:lnTo>
                    <a:pt x="762000" y="335280"/>
                  </a:lnTo>
                  <a:lnTo>
                    <a:pt x="762000" y="327660"/>
                  </a:lnTo>
                  <a:lnTo>
                    <a:pt x="76200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583179" y="1630679"/>
            <a:ext cx="769620" cy="1424940"/>
            <a:chOff x="2583179" y="1630679"/>
            <a:chExt cx="769620" cy="14249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9" y="1630679"/>
              <a:ext cx="754379" cy="14249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8318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758190"/>
                  </a:moveTo>
                  <a:lnTo>
                    <a:pt x="49530" y="708660"/>
                  </a:lnTo>
                  <a:lnTo>
                    <a:pt x="0" y="75819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58190"/>
                  </a:lnTo>
                  <a:close/>
                </a:path>
                <a:path w="76962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0668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69620" h="1424939">
                  <a:moveTo>
                    <a:pt x="762000" y="102870"/>
                  </a:moveTo>
                  <a:lnTo>
                    <a:pt x="712470" y="53340"/>
                  </a:lnTo>
                  <a:lnTo>
                    <a:pt x="716280" y="49530"/>
                  </a:lnTo>
                  <a:lnTo>
                    <a:pt x="66675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81000" y="99060"/>
                  </a:lnTo>
                  <a:lnTo>
                    <a:pt x="388620" y="99060"/>
                  </a:lnTo>
                  <a:lnTo>
                    <a:pt x="666750" y="99060"/>
                  </a:lnTo>
                  <a:lnTo>
                    <a:pt x="662940" y="10287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55320"/>
                  </a:lnTo>
                  <a:lnTo>
                    <a:pt x="388620" y="655320"/>
                  </a:lnTo>
                  <a:lnTo>
                    <a:pt x="381000" y="655320"/>
                  </a:lnTo>
                  <a:lnTo>
                    <a:pt x="106680" y="65532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6680"/>
                  </a:lnTo>
                  <a:lnTo>
                    <a:pt x="53340" y="53340"/>
                  </a:lnTo>
                  <a:lnTo>
                    <a:pt x="0" y="10668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2940" y="762000"/>
                  </a:lnTo>
                  <a:lnTo>
                    <a:pt x="716280" y="708660"/>
                  </a:lnTo>
                  <a:lnTo>
                    <a:pt x="714375" y="706755"/>
                  </a:lnTo>
                  <a:lnTo>
                    <a:pt x="762000" y="659130"/>
                  </a:lnTo>
                  <a:lnTo>
                    <a:pt x="762000" y="388620"/>
                  </a:lnTo>
                  <a:lnTo>
                    <a:pt x="762000" y="381000"/>
                  </a:lnTo>
                  <a:lnTo>
                    <a:pt x="762000" y="10287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581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642359" y="1623060"/>
            <a:ext cx="777240" cy="1424940"/>
            <a:chOff x="3642359" y="1623060"/>
            <a:chExt cx="777240" cy="14249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9" y="1630680"/>
              <a:ext cx="754379" cy="14173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42360" y="1623059"/>
              <a:ext cx="777240" cy="1424940"/>
            </a:xfrm>
            <a:custGeom>
              <a:avLst/>
              <a:gdLst/>
              <a:ahLst/>
              <a:cxnLst/>
              <a:rect l="l" t="t" r="r" b="b"/>
              <a:pathLst>
                <a:path w="777239" h="1424939">
                  <a:moveTo>
                    <a:pt x="106680" y="762000"/>
                  </a:moveTo>
                  <a:lnTo>
                    <a:pt x="53340" y="708660"/>
                  </a:lnTo>
                  <a:lnTo>
                    <a:pt x="0" y="76200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43940"/>
                  </a:lnTo>
                  <a:lnTo>
                    <a:pt x="106680" y="1036320"/>
                  </a:lnTo>
                  <a:lnTo>
                    <a:pt x="106680" y="762000"/>
                  </a:lnTo>
                  <a:close/>
                </a:path>
                <a:path w="777239" h="1424939">
                  <a:moveTo>
                    <a:pt x="106680" y="102870"/>
                  </a:moveTo>
                  <a:lnTo>
                    <a:pt x="57150" y="53340"/>
                  </a:lnTo>
                  <a:lnTo>
                    <a:pt x="7620" y="102870"/>
                  </a:lnTo>
                  <a:lnTo>
                    <a:pt x="7620" y="373380"/>
                  </a:lnTo>
                  <a:lnTo>
                    <a:pt x="7620" y="388620"/>
                  </a:lnTo>
                  <a:lnTo>
                    <a:pt x="7620" y="659130"/>
                  </a:lnTo>
                  <a:lnTo>
                    <a:pt x="57150" y="708660"/>
                  </a:lnTo>
                  <a:lnTo>
                    <a:pt x="106680" y="65913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2870"/>
                  </a:lnTo>
                  <a:close/>
                </a:path>
                <a:path w="777239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96240" y="1318260"/>
                  </a:lnTo>
                  <a:lnTo>
                    <a:pt x="381000" y="1318260"/>
                  </a:lnTo>
                  <a:lnTo>
                    <a:pt x="114300" y="1318260"/>
                  </a:lnTo>
                  <a:lnTo>
                    <a:pt x="60960" y="1371600"/>
                  </a:lnTo>
                  <a:lnTo>
                    <a:pt x="114300" y="1424940"/>
                  </a:lnTo>
                  <a:lnTo>
                    <a:pt x="381000" y="1424940"/>
                  </a:lnTo>
                  <a:lnTo>
                    <a:pt x="39624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77239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96240" y="0"/>
                  </a:lnTo>
                  <a:lnTo>
                    <a:pt x="381000" y="0"/>
                  </a:lnTo>
                  <a:lnTo>
                    <a:pt x="110490" y="0"/>
                  </a:lnTo>
                  <a:lnTo>
                    <a:pt x="60960" y="49530"/>
                  </a:lnTo>
                  <a:lnTo>
                    <a:pt x="110490" y="99060"/>
                  </a:lnTo>
                  <a:lnTo>
                    <a:pt x="381000" y="99060"/>
                  </a:lnTo>
                  <a:lnTo>
                    <a:pt x="396240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77239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96240" y="662940"/>
                  </a:lnTo>
                  <a:lnTo>
                    <a:pt x="381000" y="662940"/>
                  </a:lnTo>
                  <a:lnTo>
                    <a:pt x="110490" y="662940"/>
                  </a:lnTo>
                  <a:lnTo>
                    <a:pt x="60960" y="712470"/>
                  </a:lnTo>
                  <a:lnTo>
                    <a:pt x="110490" y="762000"/>
                  </a:lnTo>
                  <a:lnTo>
                    <a:pt x="381000" y="762000"/>
                  </a:lnTo>
                  <a:lnTo>
                    <a:pt x="396240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  <a:path w="777239" h="1424939">
                  <a:moveTo>
                    <a:pt x="777240" y="769620"/>
                  </a:moveTo>
                  <a:lnTo>
                    <a:pt x="723900" y="716280"/>
                  </a:lnTo>
                  <a:lnTo>
                    <a:pt x="670560" y="76962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18260"/>
                  </a:lnTo>
                  <a:lnTo>
                    <a:pt x="723900" y="1371600"/>
                  </a:lnTo>
                  <a:lnTo>
                    <a:pt x="777240" y="1318260"/>
                  </a:lnTo>
                  <a:lnTo>
                    <a:pt x="777240" y="1051560"/>
                  </a:lnTo>
                  <a:lnTo>
                    <a:pt x="777240" y="1036320"/>
                  </a:lnTo>
                  <a:lnTo>
                    <a:pt x="77724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0589" y="3676967"/>
            <a:ext cx="7332345" cy="8680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985" algn="ctr">
              <a:lnSpc>
                <a:spcPts val="3300"/>
              </a:lnSpc>
              <a:spcBef>
                <a:spcPts val="12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SHOW</a:t>
            </a:r>
            <a:r>
              <a:rPr sz="2800" spc="-8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CHARACTER</a:t>
            </a:r>
            <a:r>
              <a:rPr sz="2800" spc="-1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“H”</a:t>
            </a:r>
            <a:endParaRPr sz="2800">
              <a:latin typeface="Verdana"/>
              <a:cs typeface="Verdana"/>
            </a:endParaRPr>
          </a:p>
          <a:p>
            <a:pPr algn="ctr">
              <a:lnSpc>
                <a:spcPts val="3300"/>
              </a:lnSpc>
            </a:pPr>
            <a:r>
              <a:rPr sz="2800" spc="45" dirty="0">
                <a:solidFill>
                  <a:srgbClr val="014EA0"/>
                </a:solidFill>
                <a:latin typeface="Verdana"/>
                <a:cs typeface="Verdana"/>
              </a:rPr>
              <a:t>IN</a:t>
            </a:r>
            <a:r>
              <a:rPr sz="2800" spc="-10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THE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014EA0"/>
                </a:solidFill>
                <a:latin typeface="Verdana"/>
                <a:cs typeface="Verdana"/>
              </a:rPr>
              <a:t>FIRST</a:t>
            </a:r>
            <a:r>
              <a:rPr sz="2800" spc="-15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2800" spc="-4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LAST</a:t>
            </a:r>
            <a:r>
              <a:rPr sz="28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-6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DISPLAY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90800" y="1630679"/>
            <a:ext cx="754380" cy="1424940"/>
            <a:chOff x="2590800" y="1630679"/>
            <a:chExt cx="754380" cy="1424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800" y="1630679"/>
              <a:ext cx="754379" cy="14249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36520" y="1630679"/>
              <a:ext cx="662940" cy="1424940"/>
            </a:xfrm>
            <a:custGeom>
              <a:avLst/>
              <a:gdLst/>
              <a:ahLst/>
              <a:cxnLst/>
              <a:rect l="l" t="t" r="r" b="b"/>
              <a:pathLst>
                <a:path w="662939" h="1424939">
                  <a:moveTo>
                    <a:pt x="662940" y="1371600"/>
                  </a:moveTo>
                  <a:lnTo>
                    <a:pt x="609600" y="1318260"/>
                  </a:lnTo>
                  <a:lnTo>
                    <a:pt x="335280" y="1318260"/>
                  </a:lnTo>
                  <a:lnTo>
                    <a:pt x="327660" y="1318260"/>
                  </a:lnTo>
                  <a:lnTo>
                    <a:pt x="53340" y="1318260"/>
                  </a:lnTo>
                  <a:lnTo>
                    <a:pt x="0" y="1371600"/>
                  </a:lnTo>
                  <a:lnTo>
                    <a:pt x="53340" y="1424940"/>
                  </a:lnTo>
                  <a:lnTo>
                    <a:pt x="327660" y="1424940"/>
                  </a:lnTo>
                  <a:lnTo>
                    <a:pt x="335280" y="1424940"/>
                  </a:lnTo>
                  <a:lnTo>
                    <a:pt x="609600" y="1424940"/>
                  </a:lnTo>
                  <a:lnTo>
                    <a:pt x="662940" y="1371600"/>
                  </a:lnTo>
                  <a:close/>
                </a:path>
                <a:path w="662939" h="1424939">
                  <a:moveTo>
                    <a:pt x="662940" y="49530"/>
                  </a:moveTo>
                  <a:lnTo>
                    <a:pt x="613410" y="0"/>
                  </a:lnTo>
                  <a:lnTo>
                    <a:pt x="335280" y="0"/>
                  </a:lnTo>
                  <a:lnTo>
                    <a:pt x="327660" y="0"/>
                  </a:lnTo>
                  <a:lnTo>
                    <a:pt x="49530" y="0"/>
                  </a:lnTo>
                  <a:lnTo>
                    <a:pt x="0" y="49530"/>
                  </a:lnTo>
                  <a:lnTo>
                    <a:pt x="49530" y="99060"/>
                  </a:lnTo>
                  <a:lnTo>
                    <a:pt x="327660" y="99060"/>
                  </a:lnTo>
                  <a:lnTo>
                    <a:pt x="335280" y="99060"/>
                  </a:lnTo>
                  <a:lnTo>
                    <a:pt x="613410" y="99060"/>
                  </a:lnTo>
                  <a:lnTo>
                    <a:pt x="662940" y="4953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642359" y="1623060"/>
            <a:ext cx="777240" cy="1424940"/>
            <a:chOff x="3642359" y="1623060"/>
            <a:chExt cx="777240" cy="14249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9" y="1630680"/>
              <a:ext cx="754379" cy="14173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42360" y="1623059"/>
              <a:ext cx="777240" cy="1424940"/>
            </a:xfrm>
            <a:custGeom>
              <a:avLst/>
              <a:gdLst/>
              <a:ahLst/>
              <a:cxnLst/>
              <a:rect l="l" t="t" r="r" b="b"/>
              <a:pathLst>
                <a:path w="777239" h="1424939">
                  <a:moveTo>
                    <a:pt x="106680" y="762000"/>
                  </a:moveTo>
                  <a:lnTo>
                    <a:pt x="53340" y="708660"/>
                  </a:lnTo>
                  <a:lnTo>
                    <a:pt x="0" y="76200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43940"/>
                  </a:lnTo>
                  <a:lnTo>
                    <a:pt x="106680" y="1036320"/>
                  </a:lnTo>
                  <a:lnTo>
                    <a:pt x="106680" y="762000"/>
                  </a:lnTo>
                  <a:close/>
                </a:path>
                <a:path w="777239" h="1424939">
                  <a:moveTo>
                    <a:pt x="106680" y="102870"/>
                  </a:moveTo>
                  <a:lnTo>
                    <a:pt x="57150" y="53340"/>
                  </a:lnTo>
                  <a:lnTo>
                    <a:pt x="7620" y="102870"/>
                  </a:lnTo>
                  <a:lnTo>
                    <a:pt x="7620" y="373380"/>
                  </a:lnTo>
                  <a:lnTo>
                    <a:pt x="7620" y="388620"/>
                  </a:lnTo>
                  <a:lnTo>
                    <a:pt x="7620" y="659130"/>
                  </a:lnTo>
                  <a:lnTo>
                    <a:pt x="57150" y="708660"/>
                  </a:lnTo>
                  <a:lnTo>
                    <a:pt x="106680" y="65913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2870"/>
                  </a:lnTo>
                  <a:close/>
                </a:path>
                <a:path w="777239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96240" y="1318260"/>
                  </a:lnTo>
                  <a:lnTo>
                    <a:pt x="381000" y="1318260"/>
                  </a:lnTo>
                  <a:lnTo>
                    <a:pt x="114300" y="1318260"/>
                  </a:lnTo>
                  <a:lnTo>
                    <a:pt x="60960" y="1371600"/>
                  </a:lnTo>
                  <a:lnTo>
                    <a:pt x="114300" y="1424940"/>
                  </a:lnTo>
                  <a:lnTo>
                    <a:pt x="381000" y="1424940"/>
                  </a:lnTo>
                  <a:lnTo>
                    <a:pt x="39624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77239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96240" y="0"/>
                  </a:lnTo>
                  <a:lnTo>
                    <a:pt x="381000" y="0"/>
                  </a:lnTo>
                  <a:lnTo>
                    <a:pt x="110490" y="0"/>
                  </a:lnTo>
                  <a:lnTo>
                    <a:pt x="60960" y="49530"/>
                  </a:lnTo>
                  <a:lnTo>
                    <a:pt x="110490" y="99060"/>
                  </a:lnTo>
                  <a:lnTo>
                    <a:pt x="381000" y="99060"/>
                  </a:lnTo>
                  <a:lnTo>
                    <a:pt x="396240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77239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96240" y="662940"/>
                  </a:lnTo>
                  <a:lnTo>
                    <a:pt x="381000" y="662940"/>
                  </a:lnTo>
                  <a:lnTo>
                    <a:pt x="110490" y="662940"/>
                  </a:lnTo>
                  <a:lnTo>
                    <a:pt x="60960" y="712470"/>
                  </a:lnTo>
                  <a:lnTo>
                    <a:pt x="110490" y="762000"/>
                  </a:lnTo>
                  <a:lnTo>
                    <a:pt x="381000" y="762000"/>
                  </a:lnTo>
                  <a:lnTo>
                    <a:pt x="396240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  <a:path w="777239" h="1424939">
                  <a:moveTo>
                    <a:pt x="777240" y="769620"/>
                  </a:moveTo>
                  <a:lnTo>
                    <a:pt x="723900" y="716280"/>
                  </a:lnTo>
                  <a:lnTo>
                    <a:pt x="670560" y="76962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18260"/>
                  </a:lnTo>
                  <a:lnTo>
                    <a:pt x="723900" y="1371600"/>
                  </a:lnTo>
                  <a:lnTo>
                    <a:pt x="777240" y="1318260"/>
                  </a:lnTo>
                  <a:lnTo>
                    <a:pt x="777240" y="1051560"/>
                  </a:lnTo>
                  <a:lnTo>
                    <a:pt x="777240" y="1036320"/>
                  </a:lnTo>
                  <a:lnTo>
                    <a:pt x="77724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905500" y="1615439"/>
            <a:ext cx="754380" cy="1424940"/>
            <a:chOff x="5905500" y="1615439"/>
            <a:chExt cx="754380" cy="14249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500" y="1623059"/>
              <a:ext cx="754379" cy="14173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51220" y="1615439"/>
              <a:ext cx="662940" cy="1424940"/>
            </a:xfrm>
            <a:custGeom>
              <a:avLst/>
              <a:gdLst/>
              <a:ahLst/>
              <a:cxnLst/>
              <a:rect l="l" t="t" r="r" b="b"/>
              <a:pathLst>
                <a:path w="662940" h="1424939">
                  <a:moveTo>
                    <a:pt x="662927" y="1375410"/>
                  </a:moveTo>
                  <a:lnTo>
                    <a:pt x="613410" y="1325880"/>
                  </a:lnTo>
                  <a:lnTo>
                    <a:pt x="335280" y="1325880"/>
                  </a:lnTo>
                  <a:lnTo>
                    <a:pt x="327660" y="1325880"/>
                  </a:lnTo>
                  <a:lnTo>
                    <a:pt x="49530" y="1325880"/>
                  </a:lnTo>
                  <a:lnTo>
                    <a:pt x="0" y="1375410"/>
                  </a:lnTo>
                  <a:lnTo>
                    <a:pt x="49530" y="1424940"/>
                  </a:lnTo>
                  <a:lnTo>
                    <a:pt x="327660" y="1424940"/>
                  </a:lnTo>
                  <a:lnTo>
                    <a:pt x="335280" y="1424940"/>
                  </a:lnTo>
                  <a:lnTo>
                    <a:pt x="613410" y="1424940"/>
                  </a:lnTo>
                  <a:lnTo>
                    <a:pt x="662927" y="1375410"/>
                  </a:lnTo>
                  <a:close/>
                </a:path>
                <a:path w="662940" h="1424939">
                  <a:moveTo>
                    <a:pt x="662927" y="49530"/>
                  </a:moveTo>
                  <a:lnTo>
                    <a:pt x="613410" y="0"/>
                  </a:lnTo>
                  <a:lnTo>
                    <a:pt x="335280" y="0"/>
                  </a:lnTo>
                  <a:lnTo>
                    <a:pt x="327660" y="0"/>
                  </a:lnTo>
                  <a:lnTo>
                    <a:pt x="49530" y="0"/>
                  </a:lnTo>
                  <a:lnTo>
                    <a:pt x="0" y="49530"/>
                  </a:lnTo>
                  <a:lnTo>
                    <a:pt x="49530" y="99060"/>
                  </a:lnTo>
                  <a:lnTo>
                    <a:pt x="327660" y="99060"/>
                  </a:lnTo>
                  <a:lnTo>
                    <a:pt x="335280" y="99060"/>
                  </a:lnTo>
                  <a:lnTo>
                    <a:pt x="613410" y="99060"/>
                  </a:lnTo>
                  <a:lnTo>
                    <a:pt x="662927" y="4953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777740" y="1630679"/>
            <a:ext cx="769620" cy="1424940"/>
            <a:chOff x="4777740" y="1630679"/>
            <a:chExt cx="769620" cy="14249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5360" y="1638299"/>
              <a:ext cx="754379" cy="14173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7774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716280" y="53340"/>
                  </a:moveTo>
                  <a:lnTo>
                    <a:pt x="66294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14300" y="0"/>
                  </a:lnTo>
                  <a:lnTo>
                    <a:pt x="60960" y="53340"/>
                  </a:lnTo>
                  <a:lnTo>
                    <a:pt x="114300" y="106680"/>
                  </a:lnTo>
                  <a:lnTo>
                    <a:pt x="381000" y="106680"/>
                  </a:lnTo>
                  <a:lnTo>
                    <a:pt x="388620" y="106680"/>
                  </a:lnTo>
                  <a:lnTo>
                    <a:pt x="662940" y="106680"/>
                  </a:lnTo>
                  <a:lnTo>
                    <a:pt x="716280" y="53340"/>
                  </a:lnTo>
                  <a:close/>
                </a:path>
                <a:path w="769620" h="1424939">
                  <a:moveTo>
                    <a:pt x="769620" y="773430"/>
                  </a:moveTo>
                  <a:lnTo>
                    <a:pt x="720090" y="723900"/>
                  </a:lnTo>
                  <a:lnTo>
                    <a:pt x="670560" y="773430"/>
                  </a:lnTo>
                  <a:lnTo>
                    <a:pt x="670560" y="1043940"/>
                  </a:lnTo>
                  <a:lnTo>
                    <a:pt x="670560" y="1051560"/>
                  </a:lnTo>
                  <a:lnTo>
                    <a:pt x="670560" y="1329690"/>
                  </a:lnTo>
                  <a:lnTo>
                    <a:pt x="666750" y="1325880"/>
                  </a:lnTo>
                  <a:lnTo>
                    <a:pt x="388620" y="1325880"/>
                  </a:lnTo>
                  <a:lnTo>
                    <a:pt x="381000" y="1325880"/>
                  </a:lnTo>
                  <a:lnTo>
                    <a:pt x="102870" y="1325880"/>
                  </a:lnTo>
                  <a:lnTo>
                    <a:pt x="53340" y="1375410"/>
                  </a:lnTo>
                  <a:lnTo>
                    <a:pt x="10287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6750" y="1424940"/>
                  </a:lnTo>
                  <a:lnTo>
                    <a:pt x="716280" y="1375410"/>
                  </a:lnTo>
                  <a:lnTo>
                    <a:pt x="720090" y="1379220"/>
                  </a:lnTo>
                  <a:lnTo>
                    <a:pt x="769620" y="1329690"/>
                  </a:lnTo>
                  <a:lnTo>
                    <a:pt x="769620" y="1051560"/>
                  </a:lnTo>
                  <a:lnTo>
                    <a:pt x="769620" y="1043940"/>
                  </a:lnTo>
                  <a:lnTo>
                    <a:pt x="769620" y="773430"/>
                  </a:lnTo>
                  <a:close/>
                </a:path>
                <a:path w="769620" h="1424939">
                  <a:moveTo>
                    <a:pt x="769620" y="114300"/>
                  </a:moveTo>
                  <a:lnTo>
                    <a:pt x="716280" y="60960"/>
                  </a:lnTo>
                  <a:lnTo>
                    <a:pt x="662940" y="114300"/>
                  </a:lnTo>
                  <a:lnTo>
                    <a:pt x="662940" y="381000"/>
                  </a:lnTo>
                  <a:lnTo>
                    <a:pt x="662940" y="39624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06680" y="662940"/>
                  </a:lnTo>
                  <a:lnTo>
                    <a:pt x="106680" y="388620"/>
                  </a:lnTo>
                  <a:lnTo>
                    <a:pt x="106680" y="381000"/>
                  </a:lnTo>
                  <a:lnTo>
                    <a:pt x="106680" y="106680"/>
                  </a:lnTo>
                  <a:lnTo>
                    <a:pt x="53340" y="53340"/>
                  </a:lnTo>
                  <a:lnTo>
                    <a:pt x="0" y="106680"/>
                  </a:lnTo>
                  <a:lnTo>
                    <a:pt x="0" y="381000"/>
                  </a:lnTo>
                  <a:lnTo>
                    <a:pt x="0" y="388620"/>
                  </a:lnTo>
                  <a:lnTo>
                    <a:pt x="0" y="662940"/>
                  </a:lnTo>
                  <a:lnTo>
                    <a:pt x="53340" y="716280"/>
                  </a:lnTo>
                  <a:lnTo>
                    <a:pt x="0" y="769620"/>
                  </a:lnTo>
                  <a:lnTo>
                    <a:pt x="0" y="1043940"/>
                  </a:lnTo>
                  <a:lnTo>
                    <a:pt x="0" y="105156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51560"/>
                  </a:lnTo>
                  <a:lnTo>
                    <a:pt x="106680" y="1043940"/>
                  </a:lnTo>
                  <a:lnTo>
                    <a:pt x="106680" y="769620"/>
                  </a:lnTo>
                  <a:lnTo>
                    <a:pt x="381000" y="769620"/>
                  </a:lnTo>
                  <a:lnTo>
                    <a:pt x="388620" y="769620"/>
                  </a:lnTo>
                  <a:lnTo>
                    <a:pt x="662940" y="769620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96240"/>
                  </a:lnTo>
                  <a:lnTo>
                    <a:pt x="769620" y="381000"/>
                  </a:lnTo>
                  <a:lnTo>
                    <a:pt x="769620" y="11430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3676967"/>
            <a:ext cx="8056245" cy="8680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3300"/>
              </a:lnSpc>
              <a:spcBef>
                <a:spcPts val="125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SHOW</a:t>
            </a:r>
            <a:r>
              <a:rPr sz="2800" spc="-8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CHARACTER</a:t>
            </a:r>
            <a:r>
              <a:rPr sz="2800" spc="-15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85" dirty="0">
                <a:solidFill>
                  <a:srgbClr val="014EA0"/>
                </a:solidFill>
                <a:latin typeface="Verdana"/>
                <a:cs typeface="Verdana"/>
              </a:rPr>
              <a:t>“A”</a:t>
            </a:r>
            <a:endParaRPr sz="2800">
              <a:latin typeface="Verdana"/>
              <a:cs typeface="Verdana"/>
            </a:endParaRPr>
          </a:p>
          <a:p>
            <a:pPr algn="ctr">
              <a:lnSpc>
                <a:spcPts val="3300"/>
              </a:lnSpc>
            </a:pPr>
            <a:r>
              <a:rPr sz="2800" spc="45" dirty="0">
                <a:solidFill>
                  <a:srgbClr val="014EA0"/>
                </a:solidFill>
                <a:latin typeface="Verdana"/>
                <a:cs typeface="Verdana"/>
              </a:rPr>
              <a:t>IN</a:t>
            </a:r>
            <a:r>
              <a:rPr sz="2800" spc="-10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THE</a:t>
            </a:r>
            <a:r>
              <a:rPr sz="2800" spc="-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SECOND</a:t>
            </a:r>
            <a:r>
              <a:rPr sz="2800" spc="-114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AND</a:t>
            </a:r>
            <a:r>
              <a:rPr sz="2800" spc="-4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014EA0"/>
                </a:solidFill>
                <a:latin typeface="Verdana"/>
                <a:cs typeface="Verdana"/>
              </a:rPr>
              <a:t>THIRD</a:t>
            </a:r>
            <a:r>
              <a:rPr sz="2800" spc="-6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-12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DISPLAY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79520" y="1630679"/>
            <a:ext cx="754380" cy="1424940"/>
            <a:chOff x="3779520" y="1630679"/>
            <a:chExt cx="754380" cy="1424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9520" y="1630679"/>
              <a:ext cx="754379" cy="14249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25240" y="2948939"/>
              <a:ext cx="655320" cy="106680"/>
            </a:xfrm>
            <a:custGeom>
              <a:avLst/>
              <a:gdLst/>
              <a:ahLst/>
              <a:cxnLst/>
              <a:rect l="l" t="t" r="r" b="b"/>
              <a:pathLst>
                <a:path w="655320" h="106680">
                  <a:moveTo>
                    <a:pt x="655320" y="53340"/>
                  </a:moveTo>
                  <a:lnTo>
                    <a:pt x="601980" y="0"/>
                  </a:lnTo>
                  <a:lnTo>
                    <a:pt x="335280" y="0"/>
                  </a:lnTo>
                  <a:lnTo>
                    <a:pt x="320040" y="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53340" y="106680"/>
                  </a:lnTo>
                  <a:lnTo>
                    <a:pt x="320040" y="106680"/>
                  </a:lnTo>
                  <a:lnTo>
                    <a:pt x="335280" y="106680"/>
                  </a:lnTo>
                  <a:lnTo>
                    <a:pt x="601980" y="106680"/>
                  </a:lnTo>
                  <a:lnTo>
                    <a:pt x="65532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968240" y="1630679"/>
            <a:ext cx="754380" cy="1424940"/>
            <a:chOff x="4968240" y="1630679"/>
            <a:chExt cx="754380" cy="14249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8240" y="1630679"/>
              <a:ext cx="754379" cy="142494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021580" y="2948939"/>
              <a:ext cx="655320" cy="106680"/>
            </a:xfrm>
            <a:custGeom>
              <a:avLst/>
              <a:gdLst/>
              <a:ahLst/>
              <a:cxnLst/>
              <a:rect l="l" t="t" r="r" b="b"/>
              <a:pathLst>
                <a:path w="655320" h="106680">
                  <a:moveTo>
                    <a:pt x="655320" y="53340"/>
                  </a:moveTo>
                  <a:lnTo>
                    <a:pt x="601980" y="0"/>
                  </a:lnTo>
                  <a:lnTo>
                    <a:pt x="327660" y="0"/>
                  </a:lnTo>
                  <a:lnTo>
                    <a:pt x="320040" y="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53340" y="106680"/>
                  </a:lnTo>
                  <a:lnTo>
                    <a:pt x="320040" y="106680"/>
                  </a:lnTo>
                  <a:lnTo>
                    <a:pt x="327660" y="106680"/>
                  </a:lnTo>
                  <a:lnTo>
                    <a:pt x="601980" y="106680"/>
                  </a:lnTo>
                  <a:lnTo>
                    <a:pt x="655320" y="5334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149340" y="1630679"/>
            <a:ext cx="769620" cy="1424940"/>
            <a:chOff x="6149340" y="1630679"/>
            <a:chExt cx="769620" cy="14249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6960" y="1638299"/>
              <a:ext cx="754380" cy="14173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4934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765810"/>
                  </a:moveTo>
                  <a:lnTo>
                    <a:pt x="49530" y="716280"/>
                  </a:lnTo>
                  <a:lnTo>
                    <a:pt x="0" y="76581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65810"/>
                  </a:lnTo>
                  <a:close/>
                </a:path>
                <a:path w="769620" h="1424939">
                  <a:moveTo>
                    <a:pt x="106680" y="106680"/>
                  </a:moveTo>
                  <a:lnTo>
                    <a:pt x="53340" y="53340"/>
                  </a:lnTo>
                  <a:lnTo>
                    <a:pt x="0" y="106680"/>
                  </a:lnTo>
                  <a:lnTo>
                    <a:pt x="0" y="381000"/>
                  </a:lnTo>
                  <a:lnTo>
                    <a:pt x="0" y="38862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655320"/>
                  </a:lnTo>
                  <a:lnTo>
                    <a:pt x="106680" y="388620"/>
                  </a:lnTo>
                  <a:lnTo>
                    <a:pt x="106680" y="381000"/>
                  </a:lnTo>
                  <a:lnTo>
                    <a:pt x="106680" y="106680"/>
                  </a:lnTo>
                  <a:close/>
                </a:path>
                <a:path w="769620" h="1424939">
                  <a:moveTo>
                    <a:pt x="716280" y="1375410"/>
                  </a:moveTo>
                  <a:lnTo>
                    <a:pt x="666750" y="1325880"/>
                  </a:lnTo>
                  <a:lnTo>
                    <a:pt x="388607" y="1325880"/>
                  </a:lnTo>
                  <a:lnTo>
                    <a:pt x="381000" y="1325880"/>
                  </a:lnTo>
                  <a:lnTo>
                    <a:pt x="102870" y="1325880"/>
                  </a:lnTo>
                  <a:lnTo>
                    <a:pt x="53340" y="1375410"/>
                  </a:lnTo>
                  <a:lnTo>
                    <a:pt x="102870" y="1424940"/>
                  </a:lnTo>
                  <a:lnTo>
                    <a:pt x="381000" y="1424940"/>
                  </a:lnTo>
                  <a:lnTo>
                    <a:pt x="388607" y="1424940"/>
                  </a:lnTo>
                  <a:lnTo>
                    <a:pt x="666750" y="1424940"/>
                  </a:lnTo>
                  <a:lnTo>
                    <a:pt x="716280" y="1375410"/>
                  </a:lnTo>
                  <a:close/>
                </a:path>
                <a:path w="769620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88607" y="0"/>
                  </a:lnTo>
                  <a:lnTo>
                    <a:pt x="38100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81000" y="99060"/>
                  </a:lnTo>
                  <a:lnTo>
                    <a:pt x="388607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4394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43940"/>
                  </a:lnTo>
                  <a:lnTo>
                    <a:pt x="769620" y="765810"/>
                  </a:lnTo>
                  <a:close/>
                </a:path>
                <a:path w="769620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88607" y="662940"/>
                  </a:lnTo>
                  <a:lnTo>
                    <a:pt x="381000" y="662940"/>
                  </a:lnTo>
                  <a:lnTo>
                    <a:pt x="102870" y="662940"/>
                  </a:lnTo>
                  <a:lnTo>
                    <a:pt x="53340" y="712470"/>
                  </a:lnTo>
                  <a:lnTo>
                    <a:pt x="102870" y="762000"/>
                  </a:lnTo>
                  <a:lnTo>
                    <a:pt x="381000" y="762000"/>
                  </a:lnTo>
                  <a:lnTo>
                    <a:pt x="388607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575560" y="1630679"/>
            <a:ext cx="769620" cy="1424940"/>
            <a:chOff x="2575560" y="1630679"/>
            <a:chExt cx="769620" cy="14249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80" y="1638299"/>
              <a:ext cx="754380" cy="14173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7556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765810"/>
                  </a:moveTo>
                  <a:lnTo>
                    <a:pt x="49530" y="716280"/>
                  </a:lnTo>
                  <a:lnTo>
                    <a:pt x="0" y="765810"/>
                  </a:lnTo>
                  <a:lnTo>
                    <a:pt x="0" y="1043940"/>
                  </a:lnTo>
                  <a:lnTo>
                    <a:pt x="0" y="105156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51560"/>
                  </a:lnTo>
                  <a:lnTo>
                    <a:pt x="99060" y="1043940"/>
                  </a:lnTo>
                  <a:lnTo>
                    <a:pt x="99060" y="765810"/>
                  </a:lnTo>
                  <a:close/>
                </a:path>
                <a:path w="769620" h="1424939">
                  <a:moveTo>
                    <a:pt x="762000" y="110490"/>
                  </a:moveTo>
                  <a:lnTo>
                    <a:pt x="712457" y="60960"/>
                  </a:lnTo>
                  <a:lnTo>
                    <a:pt x="662940" y="110490"/>
                  </a:lnTo>
                  <a:lnTo>
                    <a:pt x="662940" y="381000"/>
                  </a:lnTo>
                  <a:lnTo>
                    <a:pt x="662940" y="39624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06680" y="662940"/>
                  </a:lnTo>
                  <a:lnTo>
                    <a:pt x="106680" y="388620"/>
                  </a:lnTo>
                  <a:lnTo>
                    <a:pt x="106680" y="381000"/>
                  </a:lnTo>
                  <a:lnTo>
                    <a:pt x="106680" y="106680"/>
                  </a:lnTo>
                  <a:lnTo>
                    <a:pt x="381000" y="106680"/>
                  </a:lnTo>
                  <a:lnTo>
                    <a:pt x="388620" y="106680"/>
                  </a:lnTo>
                  <a:lnTo>
                    <a:pt x="662940" y="106680"/>
                  </a:lnTo>
                  <a:lnTo>
                    <a:pt x="716280" y="53340"/>
                  </a:lnTo>
                  <a:lnTo>
                    <a:pt x="66294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06680" y="0"/>
                  </a:lnTo>
                  <a:lnTo>
                    <a:pt x="53340" y="53340"/>
                  </a:lnTo>
                  <a:lnTo>
                    <a:pt x="0" y="106680"/>
                  </a:lnTo>
                  <a:lnTo>
                    <a:pt x="0" y="381000"/>
                  </a:lnTo>
                  <a:lnTo>
                    <a:pt x="0" y="388620"/>
                  </a:lnTo>
                  <a:lnTo>
                    <a:pt x="0" y="662940"/>
                  </a:lnTo>
                  <a:lnTo>
                    <a:pt x="53340" y="716280"/>
                  </a:lnTo>
                  <a:lnTo>
                    <a:pt x="106680" y="769620"/>
                  </a:lnTo>
                  <a:lnTo>
                    <a:pt x="381000" y="769620"/>
                  </a:lnTo>
                  <a:lnTo>
                    <a:pt x="388620" y="769620"/>
                  </a:lnTo>
                  <a:lnTo>
                    <a:pt x="662940" y="769620"/>
                  </a:lnTo>
                  <a:lnTo>
                    <a:pt x="716280" y="716280"/>
                  </a:lnTo>
                  <a:lnTo>
                    <a:pt x="714362" y="714375"/>
                  </a:lnTo>
                  <a:lnTo>
                    <a:pt x="762000" y="666750"/>
                  </a:lnTo>
                  <a:lnTo>
                    <a:pt x="762000" y="396240"/>
                  </a:lnTo>
                  <a:lnTo>
                    <a:pt x="762000" y="381000"/>
                  </a:lnTo>
                  <a:lnTo>
                    <a:pt x="762000" y="110490"/>
                  </a:lnTo>
                  <a:close/>
                </a:path>
                <a:path w="769620" h="1424939">
                  <a:moveTo>
                    <a:pt x="769620" y="773430"/>
                  </a:moveTo>
                  <a:lnTo>
                    <a:pt x="720090" y="723900"/>
                  </a:lnTo>
                  <a:lnTo>
                    <a:pt x="670560" y="773430"/>
                  </a:lnTo>
                  <a:lnTo>
                    <a:pt x="670560" y="1043940"/>
                  </a:lnTo>
                  <a:lnTo>
                    <a:pt x="670560" y="1051560"/>
                  </a:lnTo>
                  <a:lnTo>
                    <a:pt x="670560" y="1329690"/>
                  </a:lnTo>
                  <a:lnTo>
                    <a:pt x="666750" y="1325880"/>
                  </a:lnTo>
                  <a:lnTo>
                    <a:pt x="388620" y="1325880"/>
                  </a:lnTo>
                  <a:lnTo>
                    <a:pt x="381000" y="1325880"/>
                  </a:lnTo>
                  <a:lnTo>
                    <a:pt x="102870" y="1325880"/>
                  </a:lnTo>
                  <a:lnTo>
                    <a:pt x="53340" y="1375410"/>
                  </a:lnTo>
                  <a:lnTo>
                    <a:pt x="10287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6750" y="1424940"/>
                  </a:lnTo>
                  <a:lnTo>
                    <a:pt x="716280" y="1375410"/>
                  </a:lnTo>
                  <a:lnTo>
                    <a:pt x="720090" y="1379220"/>
                  </a:lnTo>
                  <a:lnTo>
                    <a:pt x="769620" y="1329690"/>
                  </a:lnTo>
                  <a:lnTo>
                    <a:pt x="769620" y="1051560"/>
                  </a:lnTo>
                  <a:lnTo>
                    <a:pt x="769620" y="1043940"/>
                  </a:lnTo>
                  <a:lnTo>
                    <a:pt x="769620" y="77343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7-SEGMENT</a:t>
            </a:r>
            <a:r>
              <a:rPr spc="-80" dirty="0"/>
              <a:t> </a:t>
            </a:r>
            <a:r>
              <a:rPr spc="-15" dirty="0"/>
              <a:t>DISPLAY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0325" y="3676967"/>
            <a:ext cx="6493510" cy="86804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781810" marR="5080" indent="-1769110">
              <a:lnSpc>
                <a:spcPts val="3240"/>
              </a:lnSpc>
              <a:spcBef>
                <a:spcPts val="330"/>
              </a:spcBef>
            </a:pP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SHOW</a:t>
            </a:r>
            <a:r>
              <a:rPr sz="2800" spc="-7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THE</a:t>
            </a:r>
            <a:r>
              <a:rPr sz="2800" spc="-1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014EA0"/>
                </a:solidFill>
                <a:latin typeface="Verdana"/>
                <a:cs typeface="Verdana"/>
              </a:rPr>
              <a:t>7-SEG</a:t>
            </a:r>
            <a:r>
              <a:rPr sz="2800" spc="-12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014EA0"/>
                </a:solidFill>
                <a:latin typeface="Verdana"/>
                <a:cs typeface="Verdana"/>
              </a:rPr>
              <a:t>DISPLAY</a:t>
            </a:r>
            <a:r>
              <a:rPr sz="2800" spc="-9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014EA0"/>
                </a:solidFill>
                <a:latin typeface="Verdana"/>
                <a:cs typeface="Verdana"/>
              </a:rPr>
              <a:t>OUTPUT </a:t>
            </a:r>
            <a:r>
              <a:rPr sz="2800" spc="-969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45" dirty="0">
                <a:solidFill>
                  <a:srgbClr val="014EA0"/>
                </a:solidFill>
                <a:latin typeface="Verdana"/>
                <a:cs typeface="Verdana"/>
              </a:rPr>
              <a:t>IF</a:t>
            </a:r>
            <a:r>
              <a:rPr sz="2800" spc="-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014EA0"/>
                </a:solidFill>
                <a:latin typeface="Verdana"/>
                <a:cs typeface="Verdana"/>
              </a:rPr>
              <a:t>PORTD=0xC9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74079" y="1630679"/>
            <a:ext cx="769620" cy="1424940"/>
            <a:chOff x="5974079" y="1630679"/>
            <a:chExt cx="769620" cy="1424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81699" y="1638299"/>
              <a:ext cx="754379" cy="141732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7408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106680" y="106680"/>
                  </a:moveTo>
                  <a:lnTo>
                    <a:pt x="53340" y="53340"/>
                  </a:lnTo>
                  <a:lnTo>
                    <a:pt x="0" y="10668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65532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6680"/>
                  </a:lnTo>
                  <a:close/>
                </a:path>
                <a:path w="76962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0668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69620" h="1424939">
                  <a:moveTo>
                    <a:pt x="762000" y="102870"/>
                  </a:moveTo>
                  <a:lnTo>
                    <a:pt x="712470" y="53340"/>
                  </a:lnTo>
                  <a:lnTo>
                    <a:pt x="716280" y="49530"/>
                  </a:lnTo>
                  <a:lnTo>
                    <a:pt x="66675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81000" y="99060"/>
                  </a:lnTo>
                  <a:lnTo>
                    <a:pt x="388620" y="99060"/>
                  </a:lnTo>
                  <a:lnTo>
                    <a:pt x="666750" y="99060"/>
                  </a:lnTo>
                  <a:lnTo>
                    <a:pt x="662940" y="10287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02870" y="662940"/>
                  </a:lnTo>
                  <a:lnTo>
                    <a:pt x="53340" y="712470"/>
                  </a:lnTo>
                  <a:lnTo>
                    <a:pt x="49530" y="708660"/>
                  </a:lnTo>
                  <a:lnTo>
                    <a:pt x="0" y="75819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58190"/>
                  </a:lnTo>
                  <a:lnTo>
                    <a:pt x="10287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6750" y="762000"/>
                  </a:lnTo>
                  <a:lnTo>
                    <a:pt x="712470" y="716280"/>
                  </a:lnTo>
                  <a:lnTo>
                    <a:pt x="716280" y="712470"/>
                  </a:lnTo>
                  <a:lnTo>
                    <a:pt x="762000" y="666750"/>
                  </a:lnTo>
                  <a:lnTo>
                    <a:pt x="762000" y="388620"/>
                  </a:lnTo>
                  <a:lnTo>
                    <a:pt x="762000" y="381000"/>
                  </a:lnTo>
                  <a:lnTo>
                    <a:pt x="762000" y="10287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581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00300" y="1630679"/>
            <a:ext cx="769620" cy="1424940"/>
            <a:chOff x="2400300" y="1630679"/>
            <a:chExt cx="769620" cy="142494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7920" y="1638299"/>
              <a:ext cx="754380" cy="14173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40030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19" h="1424939">
                  <a:moveTo>
                    <a:pt x="99060" y="765810"/>
                  </a:moveTo>
                  <a:lnTo>
                    <a:pt x="49530" y="716280"/>
                  </a:lnTo>
                  <a:lnTo>
                    <a:pt x="0" y="765810"/>
                  </a:lnTo>
                  <a:lnTo>
                    <a:pt x="0" y="1036320"/>
                  </a:lnTo>
                  <a:lnTo>
                    <a:pt x="0" y="105156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51560"/>
                  </a:lnTo>
                  <a:lnTo>
                    <a:pt x="99060" y="1036320"/>
                  </a:lnTo>
                  <a:lnTo>
                    <a:pt x="99060" y="765810"/>
                  </a:lnTo>
                  <a:close/>
                </a:path>
                <a:path w="769619" h="1424939">
                  <a:moveTo>
                    <a:pt x="762000" y="110490"/>
                  </a:moveTo>
                  <a:lnTo>
                    <a:pt x="712470" y="60960"/>
                  </a:lnTo>
                  <a:lnTo>
                    <a:pt x="662940" y="110490"/>
                  </a:lnTo>
                  <a:lnTo>
                    <a:pt x="662940" y="381000"/>
                  </a:lnTo>
                  <a:lnTo>
                    <a:pt x="662940" y="39624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06680" y="662940"/>
                  </a:lnTo>
                  <a:lnTo>
                    <a:pt x="106680" y="388620"/>
                  </a:lnTo>
                  <a:lnTo>
                    <a:pt x="106680" y="381000"/>
                  </a:lnTo>
                  <a:lnTo>
                    <a:pt x="106680" y="106680"/>
                  </a:lnTo>
                  <a:lnTo>
                    <a:pt x="381000" y="106680"/>
                  </a:lnTo>
                  <a:lnTo>
                    <a:pt x="388620" y="106680"/>
                  </a:lnTo>
                  <a:lnTo>
                    <a:pt x="662940" y="106680"/>
                  </a:lnTo>
                  <a:lnTo>
                    <a:pt x="716280" y="53340"/>
                  </a:lnTo>
                  <a:lnTo>
                    <a:pt x="66294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06680" y="0"/>
                  </a:lnTo>
                  <a:lnTo>
                    <a:pt x="53340" y="53340"/>
                  </a:lnTo>
                  <a:lnTo>
                    <a:pt x="0" y="106680"/>
                  </a:lnTo>
                  <a:lnTo>
                    <a:pt x="0" y="381000"/>
                  </a:lnTo>
                  <a:lnTo>
                    <a:pt x="0" y="388620"/>
                  </a:lnTo>
                  <a:lnTo>
                    <a:pt x="0" y="662940"/>
                  </a:lnTo>
                  <a:lnTo>
                    <a:pt x="53340" y="716280"/>
                  </a:lnTo>
                  <a:lnTo>
                    <a:pt x="55245" y="714375"/>
                  </a:lnTo>
                  <a:lnTo>
                    <a:pt x="10287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6750" y="762000"/>
                  </a:lnTo>
                  <a:lnTo>
                    <a:pt x="712470" y="716280"/>
                  </a:lnTo>
                  <a:lnTo>
                    <a:pt x="716280" y="712470"/>
                  </a:lnTo>
                  <a:lnTo>
                    <a:pt x="762000" y="666750"/>
                  </a:lnTo>
                  <a:lnTo>
                    <a:pt x="762000" y="396240"/>
                  </a:lnTo>
                  <a:lnTo>
                    <a:pt x="762000" y="381000"/>
                  </a:lnTo>
                  <a:lnTo>
                    <a:pt x="762000" y="110490"/>
                  </a:lnTo>
                  <a:close/>
                </a:path>
                <a:path w="769619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43940"/>
                  </a:lnTo>
                  <a:lnTo>
                    <a:pt x="670560" y="1051560"/>
                  </a:lnTo>
                  <a:lnTo>
                    <a:pt x="670560" y="1329690"/>
                  </a:lnTo>
                  <a:lnTo>
                    <a:pt x="666750" y="1325880"/>
                  </a:lnTo>
                  <a:lnTo>
                    <a:pt x="388620" y="1325880"/>
                  </a:lnTo>
                  <a:lnTo>
                    <a:pt x="381000" y="1325880"/>
                  </a:lnTo>
                  <a:lnTo>
                    <a:pt x="102870" y="1325880"/>
                  </a:lnTo>
                  <a:lnTo>
                    <a:pt x="53340" y="1375410"/>
                  </a:lnTo>
                  <a:lnTo>
                    <a:pt x="10287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6750" y="1424940"/>
                  </a:lnTo>
                  <a:lnTo>
                    <a:pt x="716280" y="1375410"/>
                  </a:lnTo>
                  <a:lnTo>
                    <a:pt x="720090" y="1379220"/>
                  </a:lnTo>
                  <a:lnTo>
                    <a:pt x="769620" y="1329690"/>
                  </a:lnTo>
                  <a:lnTo>
                    <a:pt x="769620" y="1051560"/>
                  </a:lnTo>
                  <a:lnTo>
                    <a:pt x="769620" y="1043940"/>
                  </a:lnTo>
                  <a:lnTo>
                    <a:pt x="769620" y="76581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589020" y="1630679"/>
            <a:ext cx="769620" cy="1424940"/>
            <a:chOff x="3589020" y="1630679"/>
            <a:chExt cx="769620" cy="14249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6640" y="1638299"/>
              <a:ext cx="754379" cy="14173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8902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106680" y="762000"/>
                  </a:moveTo>
                  <a:lnTo>
                    <a:pt x="53340" y="708660"/>
                  </a:lnTo>
                  <a:lnTo>
                    <a:pt x="0" y="76200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43940"/>
                  </a:lnTo>
                  <a:lnTo>
                    <a:pt x="106680" y="1036320"/>
                  </a:lnTo>
                  <a:lnTo>
                    <a:pt x="106680" y="762000"/>
                  </a:lnTo>
                  <a:close/>
                </a:path>
                <a:path w="769620" h="1424939">
                  <a:moveTo>
                    <a:pt x="106680" y="106680"/>
                  </a:moveTo>
                  <a:lnTo>
                    <a:pt x="53340" y="53340"/>
                  </a:lnTo>
                  <a:lnTo>
                    <a:pt x="0" y="10668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65532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6680"/>
                  </a:lnTo>
                  <a:close/>
                </a:path>
                <a:path w="76962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14300" y="1318260"/>
                  </a:lnTo>
                  <a:lnTo>
                    <a:pt x="60960" y="1371600"/>
                  </a:lnTo>
                  <a:lnTo>
                    <a:pt x="11430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69620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10490" y="0"/>
                  </a:lnTo>
                  <a:lnTo>
                    <a:pt x="60960" y="49530"/>
                  </a:lnTo>
                  <a:lnTo>
                    <a:pt x="110490" y="99060"/>
                  </a:lnTo>
                  <a:lnTo>
                    <a:pt x="381000" y="99060"/>
                  </a:lnTo>
                  <a:lnTo>
                    <a:pt x="388620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5810"/>
                  </a:lnTo>
                  <a:close/>
                </a:path>
                <a:path w="769620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10490" y="662940"/>
                  </a:lnTo>
                  <a:lnTo>
                    <a:pt x="60960" y="712470"/>
                  </a:lnTo>
                  <a:lnTo>
                    <a:pt x="11049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785359" y="1630679"/>
            <a:ext cx="769620" cy="1424940"/>
            <a:chOff x="4785359" y="1630679"/>
            <a:chExt cx="769620" cy="14249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2979" y="1638299"/>
              <a:ext cx="754379" cy="14173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8536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102870"/>
                  </a:moveTo>
                  <a:lnTo>
                    <a:pt x="49530" y="53340"/>
                  </a:lnTo>
                  <a:lnTo>
                    <a:pt x="0" y="10287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9130"/>
                  </a:lnTo>
                  <a:lnTo>
                    <a:pt x="49530" y="708660"/>
                  </a:lnTo>
                  <a:lnTo>
                    <a:pt x="99060" y="659130"/>
                  </a:lnTo>
                  <a:lnTo>
                    <a:pt x="99060" y="388620"/>
                  </a:lnTo>
                  <a:lnTo>
                    <a:pt x="99060" y="373380"/>
                  </a:lnTo>
                  <a:lnTo>
                    <a:pt x="99060" y="102870"/>
                  </a:lnTo>
                  <a:close/>
                </a:path>
                <a:path w="769620" h="1424939">
                  <a:moveTo>
                    <a:pt x="708660" y="1371600"/>
                  </a:moveTo>
                  <a:lnTo>
                    <a:pt x="655320" y="1318260"/>
                  </a:lnTo>
                  <a:lnTo>
                    <a:pt x="388620" y="1318260"/>
                  </a:lnTo>
                  <a:lnTo>
                    <a:pt x="373380" y="1318260"/>
                  </a:lnTo>
                  <a:lnTo>
                    <a:pt x="10668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73380" y="1424940"/>
                  </a:lnTo>
                  <a:lnTo>
                    <a:pt x="388620" y="1424940"/>
                  </a:lnTo>
                  <a:lnTo>
                    <a:pt x="655320" y="1424940"/>
                  </a:lnTo>
                  <a:lnTo>
                    <a:pt x="708660" y="1371600"/>
                  </a:lnTo>
                  <a:close/>
                </a:path>
                <a:path w="769620" h="1424939">
                  <a:moveTo>
                    <a:pt x="708660" y="49530"/>
                  </a:moveTo>
                  <a:lnTo>
                    <a:pt x="659130" y="0"/>
                  </a:lnTo>
                  <a:lnTo>
                    <a:pt x="388620" y="0"/>
                  </a:lnTo>
                  <a:lnTo>
                    <a:pt x="37338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73380" y="99060"/>
                  </a:lnTo>
                  <a:lnTo>
                    <a:pt x="388620" y="99060"/>
                  </a:lnTo>
                  <a:lnTo>
                    <a:pt x="659130" y="99060"/>
                  </a:lnTo>
                  <a:lnTo>
                    <a:pt x="708660" y="49530"/>
                  </a:lnTo>
                  <a:close/>
                </a:path>
                <a:path w="769620" h="1424939">
                  <a:moveTo>
                    <a:pt x="762000" y="102870"/>
                  </a:moveTo>
                  <a:lnTo>
                    <a:pt x="712470" y="53340"/>
                  </a:lnTo>
                  <a:lnTo>
                    <a:pt x="662940" y="10287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6750"/>
                  </a:lnTo>
                  <a:lnTo>
                    <a:pt x="659130" y="662940"/>
                  </a:lnTo>
                  <a:lnTo>
                    <a:pt x="388620" y="662940"/>
                  </a:lnTo>
                  <a:lnTo>
                    <a:pt x="373380" y="662940"/>
                  </a:lnTo>
                  <a:lnTo>
                    <a:pt x="102870" y="662940"/>
                  </a:lnTo>
                  <a:lnTo>
                    <a:pt x="53340" y="712470"/>
                  </a:lnTo>
                  <a:lnTo>
                    <a:pt x="49530" y="708660"/>
                  </a:lnTo>
                  <a:lnTo>
                    <a:pt x="0" y="75819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58190"/>
                  </a:lnTo>
                  <a:lnTo>
                    <a:pt x="102870" y="762000"/>
                  </a:lnTo>
                  <a:lnTo>
                    <a:pt x="373380" y="762000"/>
                  </a:lnTo>
                  <a:lnTo>
                    <a:pt x="388620" y="762000"/>
                  </a:lnTo>
                  <a:lnTo>
                    <a:pt x="659130" y="762000"/>
                  </a:lnTo>
                  <a:lnTo>
                    <a:pt x="708660" y="712470"/>
                  </a:lnTo>
                  <a:lnTo>
                    <a:pt x="712470" y="716280"/>
                  </a:lnTo>
                  <a:lnTo>
                    <a:pt x="762000" y="666750"/>
                  </a:lnTo>
                  <a:lnTo>
                    <a:pt x="762000" y="388620"/>
                  </a:lnTo>
                  <a:lnTo>
                    <a:pt x="762000" y="381000"/>
                  </a:lnTo>
                  <a:lnTo>
                    <a:pt x="762000" y="102870"/>
                  </a:lnTo>
                  <a:close/>
                </a:path>
                <a:path w="769620" h="1424939">
                  <a:moveTo>
                    <a:pt x="769620" y="769620"/>
                  </a:moveTo>
                  <a:lnTo>
                    <a:pt x="716280" y="716280"/>
                  </a:lnTo>
                  <a:lnTo>
                    <a:pt x="662940" y="769620"/>
                  </a:lnTo>
                  <a:lnTo>
                    <a:pt x="662940" y="1036320"/>
                  </a:lnTo>
                  <a:lnTo>
                    <a:pt x="662940" y="1051560"/>
                  </a:lnTo>
                  <a:lnTo>
                    <a:pt x="662940" y="1318260"/>
                  </a:lnTo>
                  <a:lnTo>
                    <a:pt x="716280" y="1371600"/>
                  </a:lnTo>
                  <a:lnTo>
                    <a:pt x="769620" y="131826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1172" y="2285364"/>
            <a:ext cx="8166734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E82728"/>
                </a:solidFill>
              </a:rPr>
              <a:t>CENTRAL</a:t>
            </a:r>
            <a:r>
              <a:rPr sz="4350" spc="75" dirty="0">
                <a:solidFill>
                  <a:srgbClr val="E82728"/>
                </a:solidFill>
              </a:rPr>
              <a:t> </a:t>
            </a:r>
            <a:r>
              <a:rPr sz="4350" spc="15" dirty="0">
                <a:solidFill>
                  <a:srgbClr val="E82728"/>
                </a:solidFill>
              </a:rPr>
              <a:t>PROCESSING</a:t>
            </a:r>
            <a:r>
              <a:rPr sz="4350" spc="75" dirty="0">
                <a:solidFill>
                  <a:srgbClr val="E82728"/>
                </a:solidFill>
              </a:rPr>
              <a:t> </a:t>
            </a:r>
            <a:r>
              <a:rPr sz="4350" spc="20" dirty="0">
                <a:solidFill>
                  <a:srgbClr val="E82728"/>
                </a:solidFill>
              </a:rPr>
              <a:t>UNIT</a:t>
            </a:r>
            <a:endParaRPr sz="43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7091" rIns="0" bIns="0" rtlCol="0">
            <a:spAutoFit/>
          </a:bodyPr>
          <a:lstStyle/>
          <a:p>
            <a:pPr marL="9525" marR="5080" algn="ctr">
              <a:lnSpc>
                <a:spcPct val="101699"/>
              </a:lnSpc>
              <a:spcBef>
                <a:spcPts val="70"/>
              </a:spcBef>
            </a:pPr>
            <a:r>
              <a:rPr sz="3150" spc="20" dirty="0"/>
              <a:t>Also</a:t>
            </a:r>
            <a:r>
              <a:rPr sz="3150" spc="10" dirty="0"/>
              <a:t> known</a:t>
            </a:r>
            <a:r>
              <a:rPr sz="3150" spc="110" dirty="0"/>
              <a:t> </a:t>
            </a:r>
            <a:r>
              <a:rPr sz="3150" spc="15" dirty="0"/>
              <a:t>as</a:t>
            </a:r>
            <a:r>
              <a:rPr sz="3150" spc="-5" dirty="0"/>
              <a:t> </a:t>
            </a:r>
            <a:r>
              <a:rPr sz="3150" spc="-10" dirty="0"/>
              <a:t>Microprocessor,</a:t>
            </a:r>
            <a:r>
              <a:rPr sz="3150" spc="30" dirty="0"/>
              <a:t> handles </a:t>
            </a:r>
            <a:r>
              <a:rPr sz="3150" spc="-1090" dirty="0"/>
              <a:t> </a:t>
            </a:r>
            <a:r>
              <a:rPr sz="3150" spc="20" dirty="0"/>
              <a:t>all </a:t>
            </a:r>
            <a:r>
              <a:rPr sz="3150" spc="25" dirty="0"/>
              <a:t>instructions </a:t>
            </a:r>
            <a:r>
              <a:rPr sz="3150" spc="20" dirty="0"/>
              <a:t>it </a:t>
            </a:r>
            <a:r>
              <a:rPr sz="3150" spc="25" dirty="0"/>
              <a:t>receives from </a:t>
            </a:r>
            <a:r>
              <a:rPr sz="3150" spc="30" dirty="0"/>
              <a:t> </a:t>
            </a:r>
            <a:r>
              <a:rPr sz="3150" spc="15" dirty="0"/>
              <a:t>hardware </a:t>
            </a:r>
            <a:r>
              <a:rPr sz="3150" spc="30" dirty="0"/>
              <a:t>and </a:t>
            </a:r>
            <a:r>
              <a:rPr sz="3150" spc="10" dirty="0"/>
              <a:t>software </a:t>
            </a:r>
            <a:r>
              <a:rPr sz="3150" spc="35" dirty="0"/>
              <a:t>running </a:t>
            </a:r>
            <a:r>
              <a:rPr sz="3150" spc="10" dirty="0"/>
              <a:t>on </a:t>
            </a:r>
            <a:r>
              <a:rPr sz="3150" spc="25" dirty="0"/>
              <a:t>the </a:t>
            </a:r>
            <a:r>
              <a:rPr sz="3150" spc="-1095" dirty="0"/>
              <a:t> </a:t>
            </a:r>
            <a:r>
              <a:rPr sz="3150" spc="25" dirty="0"/>
              <a:t>computer</a:t>
            </a:r>
            <a:endParaRPr sz="31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99610" y="788670"/>
            <a:ext cx="115760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15" dirty="0">
                <a:solidFill>
                  <a:srgbClr val="014EA0"/>
                </a:solidFill>
              </a:rPr>
              <a:t>CPU</a:t>
            </a:r>
            <a:endParaRPr sz="43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2920" y="226440"/>
            <a:ext cx="406336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/>
              <a:t>INTEL</a:t>
            </a:r>
            <a:r>
              <a:rPr sz="4000" spc="-125" dirty="0"/>
              <a:t> </a:t>
            </a:r>
            <a:r>
              <a:rPr sz="4000" spc="10" dirty="0"/>
              <a:t>PENTIUM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" y="1333500"/>
            <a:ext cx="3733800" cy="315468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5820" y="1333500"/>
            <a:ext cx="3672839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412750"/>
            <a:ext cx="743839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</a:rPr>
              <a:t>CENTRAL</a:t>
            </a:r>
            <a:r>
              <a:rPr sz="4000" spc="-114" dirty="0">
                <a:solidFill>
                  <a:srgbClr val="014EA0"/>
                </a:solidFill>
              </a:rPr>
              <a:t> </a:t>
            </a:r>
            <a:r>
              <a:rPr sz="4000" spc="10" dirty="0">
                <a:solidFill>
                  <a:srgbClr val="014EA0"/>
                </a:solidFill>
              </a:rPr>
              <a:t>PROCESSING</a:t>
            </a:r>
            <a:r>
              <a:rPr sz="4000" spc="-235" dirty="0">
                <a:solidFill>
                  <a:srgbClr val="014EA0"/>
                </a:solidFill>
              </a:rPr>
              <a:t> </a:t>
            </a:r>
            <a:r>
              <a:rPr sz="4000" spc="20" dirty="0">
                <a:solidFill>
                  <a:srgbClr val="014EA0"/>
                </a:solidFill>
              </a:rPr>
              <a:t>UNIT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6257" y="1448688"/>
            <a:ext cx="7785734" cy="3171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processor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placed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secured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into</a:t>
            </a:r>
            <a:r>
              <a:rPr sz="3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compatible</a:t>
            </a:r>
            <a:r>
              <a:rPr sz="30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socket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found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motherboard</a:t>
            </a:r>
            <a:endParaRPr sz="3000">
              <a:latin typeface="Verdana"/>
              <a:cs typeface="Verdana"/>
            </a:endParaRPr>
          </a:p>
          <a:p>
            <a:pPr marL="355600" marR="36195" indent="-343535">
              <a:lnSpc>
                <a:spcPct val="100000"/>
              </a:lnSpc>
              <a:spcBef>
                <a:spcPts val="3150"/>
              </a:spcBef>
              <a:buFont typeface="Wingdings"/>
              <a:buChar char=""/>
              <a:tabLst>
                <a:tab pos="355600" algn="l"/>
                <a:tab pos="356235" algn="l"/>
                <a:tab pos="5886450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Processors</a:t>
            </a:r>
            <a:r>
              <a:rPr sz="3000" spc="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produce</a:t>
            </a:r>
            <a:r>
              <a:rPr sz="3000" spc="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heat,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so	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they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are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covered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30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heat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sink</a:t>
            </a:r>
            <a:r>
              <a:rPr sz="30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keep</a:t>
            </a:r>
            <a:r>
              <a:rPr sz="3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them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cool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running</a:t>
            </a:r>
            <a:r>
              <a:rPr sz="30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smoothly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150" y="2285364"/>
            <a:ext cx="751141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-35" dirty="0">
                <a:solidFill>
                  <a:srgbClr val="014EA0"/>
                </a:solidFill>
              </a:rPr>
              <a:t>WHAT</a:t>
            </a:r>
            <a:r>
              <a:rPr sz="4350" spc="60" dirty="0">
                <a:solidFill>
                  <a:srgbClr val="014EA0"/>
                </a:solidFill>
              </a:rPr>
              <a:t> </a:t>
            </a:r>
            <a:r>
              <a:rPr sz="4350" spc="10" dirty="0">
                <a:solidFill>
                  <a:srgbClr val="014EA0"/>
                </a:solidFill>
              </a:rPr>
              <a:t>DOES</a:t>
            </a:r>
            <a:r>
              <a:rPr sz="4350" spc="60" dirty="0">
                <a:solidFill>
                  <a:srgbClr val="014EA0"/>
                </a:solidFill>
              </a:rPr>
              <a:t> </a:t>
            </a:r>
            <a:r>
              <a:rPr sz="4350" spc="20" dirty="0">
                <a:solidFill>
                  <a:srgbClr val="014EA0"/>
                </a:solidFill>
              </a:rPr>
              <a:t>THE</a:t>
            </a:r>
            <a:r>
              <a:rPr sz="4350" spc="65" dirty="0">
                <a:solidFill>
                  <a:srgbClr val="014EA0"/>
                </a:solidFill>
              </a:rPr>
              <a:t> </a:t>
            </a:r>
            <a:r>
              <a:rPr sz="4350" spc="20" dirty="0">
                <a:solidFill>
                  <a:srgbClr val="014EA0"/>
                </a:solidFill>
              </a:rPr>
              <a:t>CPU</a:t>
            </a:r>
            <a:r>
              <a:rPr sz="4350" spc="40" dirty="0">
                <a:solidFill>
                  <a:srgbClr val="014EA0"/>
                </a:solidFill>
              </a:rPr>
              <a:t> </a:t>
            </a:r>
            <a:r>
              <a:rPr sz="4350" spc="5" dirty="0">
                <a:solidFill>
                  <a:srgbClr val="014EA0"/>
                </a:solidFill>
              </a:rPr>
              <a:t>DO?</a:t>
            </a:r>
            <a:endParaRPr sz="43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57" y="1448688"/>
            <a:ext cx="7957184" cy="2956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55370" indent="-34353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spc="-65" dirty="0">
                <a:solidFill>
                  <a:srgbClr val="404040"/>
                </a:solidFill>
                <a:latin typeface="Verdana"/>
                <a:cs typeface="Verdana"/>
              </a:rPr>
              <a:t>Takes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input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from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peripheral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(keyboard,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mouse,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printer,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etc)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computer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endParaRPr sz="300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3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Interprets</a:t>
            </a:r>
            <a:r>
              <a:rPr sz="30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what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needs</a:t>
            </a:r>
            <a:endParaRPr sz="300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73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Outputs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information</a:t>
            </a:r>
            <a:r>
              <a:rPr sz="3000" spc="-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3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monitor,</a:t>
            </a:r>
            <a:r>
              <a:rPr sz="3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perform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requested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task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7127" y="412750"/>
            <a:ext cx="68465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0" dirty="0">
                <a:solidFill>
                  <a:srgbClr val="014EA0"/>
                </a:solidFill>
              </a:rPr>
              <a:t>WHAT</a:t>
            </a:r>
            <a:r>
              <a:rPr sz="4000" spc="-65" dirty="0">
                <a:solidFill>
                  <a:srgbClr val="014EA0"/>
                </a:solidFill>
              </a:rPr>
              <a:t> </a:t>
            </a:r>
            <a:r>
              <a:rPr sz="4000" spc="15" dirty="0">
                <a:solidFill>
                  <a:srgbClr val="014EA0"/>
                </a:solidFill>
              </a:rPr>
              <a:t>DOES</a:t>
            </a:r>
            <a:r>
              <a:rPr sz="4000" spc="-95" dirty="0">
                <a:solidFill>
                  <a:srgbClr val="014EA0"/>
                </a:solidFill>
              </a:rPr>
              <a:t> </a:t>
            </a:r>
            <a:r>
              <a:rPr sz="4000" dirty="0">
                <a:solidFill>
                  <a:srgbClr val="014EA0"/>
                </a:solidFill>
              </a:rPr>
              <a:t>THE</a:t>
            </a:r>
            <a:r>
              <a:rPr sz="4000" spc="-15" dirty="0">
                <a:solidFill>
                  <a:srgbClr val="014EA0"/>
                </a:solidFill>
              </a:rPr>
              <a:t> </a:t>
            </a:r>
            <a:r>
              <a:rPr sz="4000" spc="10" dirty="0">
                <a:solidFill>
                  <a:srgbClr val="014EA0"/>
                </a:solidFill>
              </a:rPr>
              <a:t>CPU</a:t>
            </a:r>
            <a:r>
              <a:rPr sz="4000" spc="-50" dirty="0">
                <a:solidFill>
                  <a:srgbClr val="014EA0"/>
                </a:solidFill>
              </a:rPr>
              <a:t> </a:t>
            </a:r>
            <a:r>
              <a:rPr sz="4000" spc="25" dirty="0">
                <a:solidFill>
                  <a:srgbClr val="014EA0"/>
                </a:solidFill>
              </a:rPr>
              <a:t>DO?</a:t>
            </a:r>
            <a:endParaRPr sz="4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7127" y="412750"/>
            <a:ext cx="68465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0" dirty="0"/>
              <a:t>WHAT</a:t>
            </a:r>
            <a:r>
              <a:rPr sz="4000" spc="-65" dirty="0"/>
              <a:t> </a:t>
            </a:r>
            <a:r>
              <a:rPr sz="4000" spc="15" dirty="0"/>
              <a:t>DOES</a:t>
            </a:r>
            <a:r>
              <a:rPr sz="4000" spc="-95" dirty="0"/>
              <a:t> </a:t>
            </a:r>
            <a:r>
              <a:rPr sz="4000" dirty="0"/>
              <a:t>THE</a:t>
            </a:r>
            <a:r>
              <a:rPr sz="4000" spc="-15" dirty="0"/>
              <a:t> </a:t>
            </a:r>
            <a:r>
              <a:rPr sz="4000" spc="10" dirty="0"/>
              <a:t>CPU</a:t>
            </a:r>
            <a:r>
              <a:rPr sz="4000" spc="-50" dirty="0"/>
              <a:t> </a:t>
            </a:r>
            <a:r>
              <a:rPr sz="4000" spc="25" dirty="0"/>
              <a:t>DO?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940" y="1623060"/>
            <a:ext cx="2293619" cy="22936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2491739"/>
            <a:ext cx="1546860" cy="548640"/>
          </a:xfrm>
          <a:prstGeom prst="rect">
            <a:avLst/>
          </a:prstGeom>
          <a:solidFill>
            <a:srgbClr val="2E5E94"/>
          </a:solidFill>
        </p:spPr>
        <p:txBody>
          <a:bodyPr vert="horz" wrap="square" lIns="0" tIns="9715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765"/>
              </a:spcBef>
            </a:pPr>
            <a:r>
              <a:rPr sz="2400" spc="-15" dirty="0">
                <a:solidFill>
                  <a:srgbClr val="FFFFFF"/>
                </a:solidFill>
                <a:latin typeface="Verdana"/>
                <a:cs typeface="Verdana"/>
              </a:rPr>
              <a:t>INPUTS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44640" y="2491739"/>
            <a:ext cx="1638300" cy="548640"/>
          </a:xfrm>
          <a:prstGeom prst="rect">
            <a:avLst/>
          </a:prstGeom>
          <a:solidFill>
            <a:srgbClr val="2E5E94"/>
          </a:solidFill>
        </p:spPr>
        <p:txBody>
          <a:bodyPr vert="horz" wrap="square" lIns="0" tIns="9715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765"/>
              </a:spcBef>
            </a:pPr>
            <a:r>
              <a:rPr sz="2400" spc="-5" dirty="0">
                <a:solidFill>
                  <a:srgbClr val="FFFFFF"/>
                </a:solidFill>
                <a:latin typeface="Verdana"/>
                <a:cs typeface="Verdana"/>
              </a:rPr>
              <a:t>OUTPUTS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7400" y="3589020"/>
            <a:ext cx="320039" cy="6934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980" y="3482340"/>
            <a:ext cx="1165859" cy="8077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77000" y="3276600"/>
            <a:ext cx="1341120" cy="11582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39100" y="3337559"/>
            <a:ext cx="365759" cy="37338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9559" y="3794759"/>
            <a:ext cx="632459" cy="72390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644139" y="2552700"/>
            <a:ext cx="457200" cy="426720"/>
          </a:xfrm>
          <a:custGeom>
            <a:avLst/>
            <a:gdLst/>
            <a:ahLst/>
            <a:cxnLst/>
            <a:rect l="l" t="t" r="r" b="b"/>
            <a:pathLst>
              <a:path w="457200" h="426719">
                <a:moveTo>
                  <a:pt x="243840" y="0"/>
                </a:moveTo>
                <a:lnTo>
                  <a:pt x="243840" y="106680"/>
                </a:lnTo>
                <a:lnTo>
                  <a:pt x="0" y="106680"/>
                </a:lnTo>
                <a:lnTo>
                  <a:pt x="0" y="320039"/>
                </a:lnTo>
                <a:lnTo>
                  <a:pt x="243840" y="320039"/>
                </a:lnTo>
                <a:lnTo>
                  <a:pt x="243840" y="426719"/>
                </a:lnTo>
                <a:lnTo>
                  <a:pt x="457200" y="213360"/>
                </a:lnTo>
                <a:lnTo>
                  <a:pt x="243840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52159" y="2552700"/>
            <a:ext cx="457200" cy="426720"/>
          </a:xfrm>
          <a:custGeom>
            <a:avLst/>
            <a:gdLst/>
            <a:ahLst/>
            <a:cxnLst/>
            <a:rect l="l" t="t" r="r" b="b"/>
            <a:pathLst>
              <a:path w="457200" h="426719">
                <a:moveTo>
                  <a:pt x="243839" y="0"/>
                </a:moveTo>
                <a:lnTo>
                  <a:pt x="243839" y="106680"/>
                </a:lnTo>
                <a:lnTo>
                  <a:pt x="0" y="106680"/>
                </a:lnTo>
                <a:lnTo>
                  <a:pt x="0" y="320039"/>
                </a:lnTo>
                <a:lnTo>
                  <a:pt x="243839" y="320039"/>
                </a:lnTo>
                <a:lnTo>
                  <a:pt x="243839" y="426719"/>
                </a:lnTo>
                <a:lnTo>
                  <a:pt x="457200" y="213360"/>
                </a:lnTo>
                <a:lnTo>
                  <a:pt x="243839" y="0"/>
                </a:lnTo>
                <a:close/>
              </a:path>
            </a:pathLst>
          </a:custGeom>
          <a:solidFill>
            <a:srgbClr val="E8272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" y="1143000"/>
            <a:ext cx="8595360" cy="35280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7809" y="1628139"/>
            <a:ext cx="2549525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H</a:t>
            </a:r>
            <a:r>
              <a:rPr sz="4350" spc="25" dirty="0">
                <a:solidFill>
                  <a:srgbClr val="014EA0"/>
                </a:solidFill>
                <a:latin typeface="Verdana"/>
                <a:cs typeface="Verdana"/>
              </a:rPr>
              <a:t>I</a:t>
            </a: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S</a:t>
            </a:r>
            <a:r>
              <a:rPr sz="4350" spc="-95" dirty="0">
                <a:solidFill>
                  <a:srgbClr val="014EA0"/>
                </a:solidFill>
                <a:latin typeface="Verdana"/>
                <a:cs typeface="Verdana"/>
              </a:rPr>
              <a:t>T</a:t>
            </a:r>
            <a:r>
              <a:rPr sz="4350" spc="-5" dirty="0">
                <a:solidFill>
                  <a:srgbClr val="014EA0"/>
                </a:solidFill>
                <a:latin typeface="Verdana"/>
                <a:cs typeface="Verdana"/>
              </a:rPr>
              <a:t>O</a:t>
            </a:r>
            <a:r>
              <a:rPr sz="4350" spc="-30" dirty="0">
                <a:solidFill>
                  <a:srgbClr val="014EA0"/>
                </a:solidFill>
                <a:latin typeface="Verdana"/>
                <a:cs typeface="Verdana"/>
              </a:rPr>
              <a:t>R</a:t>
            </a:r>
            <a:r>
              <a:rPr sz="4350" spc="20" dirty="0">
                <a:solidFill>
                  <a:srgbClr val="014EA0"/>
                </a:solidFill>
                <a:latin typeface="Verdana"/>
                <a:cs typeface="Verdana"/>
              </a:rPr>
              <a:t>Y</a:t>
            </a:r>
            <a:endParaRPr sz="435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5934" marR="5080" indent="-480695">
              <a:lnSpc>
                <a:spcPct val="100000"/>
              </a:lnSpc>
              <a:spcBef>
                <a:spcPts val="105"/>
              </a:spcBef>
            </a:pPr>
            <a:r>
              <a:rPr spc="10" dirty="0"/>
              <a:t>THE </a:t>
            </a:r>
            <a:r>
              <a:rPr dirty="0"/>
              <a:t>FIRST </a:t>
            </a:r>
            <a:r>
              <a:rPr spc="-10" dirty="0"/>
              <a:t>MICROPROCESSOR </a:t>
            </a:r>
            <a:r>
              <a:rPr spc="-35" dirty="0"/>
              <a:t>WAS </a:t>
            </a:r>
            <a:r>
              <a:rPr spc="10" dirty="0"/>
              <a:t>THE </a:t>
            </a:r>
            <a:r>
              <a:rPr spc="-1040" dirty="0"/>
              <a:t> </a:t>
            </a:r>
            <a:r>
              <a:rPr dirty="0"/>
              <a:t>INTEL</a:t>
            </a:r>
            <a:r>
              <a:rPr spc="-30" dirty="0"/>
              <a:t> </a:t>
            </a:r>
            <a:r>
              <a:rPr spc="5" dirty="0"/>
              <a:t>4004,</a:t>
            </a:r>
            <a:r>
              <a:rPr spc="10" dirty="0"/>
              <a:t> </a:t>
            </a:r>
            <a:r>
              <a:rPr dirty="0"/>
              <a:t>INTRODUCED</a:t>
            </a:r>
            <a:r>
              <a:rPr spc="-75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10" dirty="0"/>
              <a:t>1971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567" y="194309"/>
            <a:ext cx="2122170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25" dirty="0"/>
              <a:t>INTEL</a:t>
            </a:r>
            <a:r>
              <a:rPr sz="2800" spc="-225" dirty="0"/>
              <a:t> </a:t>
            </a:r>
            <a:r>
              <a:rPr sz="2800" spc="15" dirty="0"/>
              <a:t>4004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8081391" y="4553902"/>
            <a:ext cx="941069" cy="45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1971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21676" y="306070"/>
            <a:ext cx="1061720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spc="35" dirty="0">
                <a:solidFill>
                  <a:srgbClr val="FFFFFF"/>
                </a:solidFill>
              </a:rPr>
              <a:t>2019</a:t>
            </a:r>
            <a:endParaRPr sz="315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357" y="117855"/>
            <a:ext cx="605282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000" spc="5" dirty="0">
                <a:solidFill>
                  <a:srgbClr val="FFFFFF"/>
                </a:solidFill>
              </a:rPr>
              <a:t>Intel</a:t>
            </a:r>
            <a:r>
              <a:rPr sz="3000" spc="-30" dirty="0">
                <a:solidFill>
                  <a:srgbClr val="FFFFFF"/>
                </a:solidFill>
              </a:rPr>
              <a:t> </a:t>
            </a:r>
            <a:r>
              <a:rPr sz="3000" spc="-15" dirty="0">
                <a:solidFill>
                  <a:srgbClr val="FFFFFF"/>
                </a:solidFill>
              </a:rPr>
              <a:t>Core</a:t>
            </a:r>
            <a:r>
              <a:rPr sz="3000" spc="-5" dirty="0">
                <a:solidFill>
                  <a:srgbClr val="FFFFFF"/>
                </a:solidFill>
              </a:rPr>
              <a:t> </a:t>
            </a:r>
            <a:r>
              <a:rPr sz="3000" spc="15" dirty="0">
                <a:solidFill>
                  <a:srgbClr val="FFFFFF"/>
                </a:solidFill>
              </a:rPr>
              <a:t>i9-9900KS</a:t>
            </a:r>
            <a:r>
              <a:rPr sz="3000" spc="-114" dirty="0">
                <a:solidFill>
                  <a:srgbClr val="FFFFFF"/>
                </a:solidFill>
              </a:rPr>
              <a:t> </a:t>
            </a:r>
            <a:r>
              <a:rPr sz="3000" spc="-10" dirty="0">
                <a:solidFill>
                  <a:srgbClr val="FFFFFF"/>
                </a:solidFill>
              </a:rPr>
              <a:t>Processor </a:t>
            </a:r>
            <a:r>
              <a:rPr sz="3000" spc="-1040" dirty="0">
                <a:solidFill>
                  <a:srgbClr val="FFFFFF"/>
                </a:solidFill>
              </a:rPr>
              <a:t> </a:t>
            </a:r>
            <a:r>
              <a:rPr sz="3000" spc="5" dirty="0">
                <a:solidFill>
                  <a:srgbClr val="FFFFFF"/>
                </a:solidFill>
              </a:rPr>
              <a:t>18</a:t>
            </a:r>
            <a:r>
              <a:rPr sz="3000" spc="-30" dirty="0">
                <a:solidFill>
                  <a:srgbClr val="FFFFFF"/>
                </a:solidFill>
              </a:rPr>
              <a:t> </a:t>
            </a:r>
            <a:r>
              <a:rPr sz="3000" spc="25" dirty="0">
                <a:solidFill>
                  <a:srgbClr val="FFFFFF"/>
                </a:solidFill>
              </a:rPr>
              <a:t>Billion</a:t>
            </a:r>
            <a:r>
              <a:rPr sz="3000" spc="-200" dirty="0">
                <a:solidFill>
                  <a:srgbClr val="FFFFFF"/>
                </a:solidFill>
              </a:rPr>
              <a:t> </a:t>
            </a:r>
            <a:r>
              <a:rPr sz="3000" spc="-30" dirty="0">
                <a:solidFill>
                  <a:srgbClr val="FFFFFF"/>
                </a:solidFill>
              </a:rPr>
              <a:t>Transistors</a:t>
            </a:r>
            <a:endParaRPr sz="3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640080"/>
            <a:ext cx="2179320" cy="14325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4740" y="335279"/>
            <a:ext cx="1943100" cy="1943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20840" y="335279"/>
            <a:ext cx="2217420" cy="1638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2207" y="3309194"/>
            <a:ext cx="3212532" cy="7065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20840" y="2689860"/>
            <a:ext cx="2186940" cy="21945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73410" y="2840448"/>
            <a:ext cx="1825826" cy="1657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809" y="2285364"/>
            <a:ext cx="7621270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350" spc="20" dirty="0">
                <a:solidFill>
                  <a:srgbClr val="014EA0"/>
                </a:solidFill>
              </a:rPr>
              <a:t>COMPONENTS</a:t>
            </a:r>
            <a:r>
              <a:rPr sz="4350" spc="120" dirty="0">
                <a:solidFill>
                  <a:srgbClr val="014EA0"/>
                </a:solidFill>
              </a:rPr>
              <a:t> </a:t>
            </a:r>
            <a:r>
              <a:rPr sz="4350" spc="5" dirty="0">
                <a:solidFill>
                  <a:srgbClr val="014EA0"/>
                </a:solidFill>
              </a:rPr>
              <a:t>OF</a:t>
            </a:r>
            <a:r>
              <a:rPr sz="4350" spc="10" dirty="0">
                <a:solidFill>
                  <a:srgbClr val="014EA0"/>
                </a:solidFill>
              </a:rPr>
              <a:t> </a:t>
            </a:r>
            <a:r>
              <a:rPr sz="4350" spc="20" dirty="0">
                <a:solidFill>
                  <a:srgbClr val="014EA0"/>
                </a:solidFill>
              </a:rPr>
              <a:t>THE</a:t>
            </a:r>
            <a:r>
              <a:rPr sz="4350" spc="60" dirty="0">
                <a:solidFill>
                  <a:srgbClr val="014EA0"/>
                </a:solidFill>
              </a:rPr>
              <a:t> </a:t>
            </a:r>
            <a:r>
              <a:rPr sz="4350" spc="15" dirty="0">
                <a:solidFill>
                  <a:srgbClr val="014EA0"/>
                </a:solidFill>
              </a:rPr>
              <a:t>CPU</a:t>
            </a:r>
            <a:endParaRPr sz="43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57" y="1356994"/>
            <a:ext cx="7922259" cy="304800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25"/>
              </a:spcBef>
            </a:pP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primary</a:t>
            </a:r>
            <a:r>
              <a:rPr sz="3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components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 are:</a:t>
            </a:r>
            <a:endParaRPr sz="3000">
              <a:latin typeface="Verdana"/>
              <a:cs typeface="Verdana"/>
            </a:endParaRPr>
          </a:p>
          <a:p>
            <a:pPr marL="355600" marR="579755" indent="-343535" algn="just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E82728"/>
                </a:solidFill>
                <a:latin typeface="Verdana"/>
                <a:cs typeface="Verdana"/>
              </a:rPr>
              <a:t>ALU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(Arithmetic</a:t>
            </a:r>
            <a:r>
              <a:rPr sz="30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Logic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Unit)</a:t>
            </a:r>
            <a:r>
              <a:rPr sz="30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performs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mathematical,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logical,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decision</a:t>
            </a:r>
            <a:r>
              <a:rPr sz="30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operations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endParaRPr sz="3000">
              <a:latin typeface="Verdana"/>
              <a:cs typeface="Verdana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E82728"/>
                </a:solidFill>
                <a:latin typeface="Verdana"/>
                <a:cs typeface="Verdana"/>
              </a:rPr>
              <a:t>CU</a:t>
            </a:r>
            <a:r>
              <a:rPr sz="3000" spc="-1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(Control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Unit)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directs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10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processors</a:t>
            </a:r>
            <a:r>
              <a:rPr sz="3000" spc="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operations.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9027" y="412750"/>
            <a:ext cx="693420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014EA0"/>
                </a:solidFill>
              </a:rPr>
              <a:t>COMPONENTS</a:t>
            </a:r>
            <a:r>
              <a:rPr sz="4000" spc="-155" dirty="0">
                <a:solidFill>
                  <a:srgbClr val="014EA0"/>
                </a:solidFill>
              </a:rPr>
              <a:t> </a:t>
            </a:r>
            <a:r>
              <a:rPr sz="4000" spc="20" dirty="0">
                <a:solidFill>
                  <a:srgbClr val="014EA0"/>
                </a:solidFill>
              </a:rPr>
              <a:t>OF</a:t>
            </a:r>
            <a:r>
              <a:rPr sz="4000" spc="-25" dirty="0">
                <a:solidFill>
                  <a:srgbClr val="014EA0"/>
                </a:solidFill>
              </a:rPr>
              <a:t> </a:t>
            </a:r>
            <a:r>
              <a:rPr sz="4000" dirty="0">
                <a:solidFill>
                  <a:srgbClr val="014EA0"/>
                </a:solidFill>
              </a:rPr>
              <a:t>THE</a:t>
            </a:r>
            <a:r>
              <a:rPr sz="4000" spc="-70" dirty="0">
                <a:solidFill>
                  <a:srgbClr val="014EA0"/>
                </a:solidFill>
              </a:rPr>
              <a:t> </a:t>
            </a:r>
            <a:r>
              <a:rPr sz="4000" spc="10" dirty="0">
                <a:solidFill>
                  <a:srgbClr val="014EA0"/>
                </a:solidFill>
              </a:rPr>
              <a:t>CPU</a:t>
            </a:r>
            <a:endParaRPr sz="4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027" y="121665"/>
            <a:ext cx="693420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/>
              <a:t>COMPONENTS</a:t>
            </a:r>
            <a:r>
              <a:rPr sz="4000" spc="-155" dirty="0"/>
              <a:t> </a:t>
            </a:r>
            <a:r>
              <a:rPr sz="4000" spc="20" dirty="0"/>
              <a:t>OF</a:t>
            </a:r>
            <a:r>
              <a:rPr sz="4000" spc="-25" dirty="0"/>
              <a:t> </a:t>
            </a:r>
            <a:r>
              <a:rPr sz="4000" dirty="0"/>
              <a:t>THE</a:t>
            </a:r>
            <a:r>
              <a:rPr sz="4000" spc="-70" dirty="0"/>
              <a:t> </a:t>
            </a:r>
            <a:r>
              <a:rPr sz="4000" spc="10" dirty="0"/>
              <a:t>CPU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0260" y="960119"/>
            <a:ext cx="498348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3860" y="550798"/>
            <a:ext cx="426529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/>
              <a:t>MACHINE</a:t>
            </a:r>
            <a:r>
              <a:rPr sz="4000" spc="-165" dirty="0"/>
              <a:t> </a:t>
            </a:r>
            <a:r>
              <a:rPr sz="4000" spc="5" dirty="0"/>
              <a:t>CYCLE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" y="1638300"/>
            <a:ext cx="7940040" cy="24993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marR="5080" algn="ctr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The</a:t>
            </a:r>
            <a:r>
              <a:rPr spc="-35" dirty="0"/>
              <a:t> </a:t>
            </a:r>
            <a:r>
              <a:rPr spc="-10" dirty="0"/>
              <a:t>control</a:t>
            </a:r>
            <a:r>
              <a:rPr spc="35" dirty="0"/>
              <a:t> </a:t>
            </a:r>
            <a:r>
              <a:rPr spc="25" dirty="0"/>
              <a:t>unit</a:t>
            </a:r>
            <a:r>
              <a:rPr spc="-145" dirty="0"/>
              <a:t> </a:t>
            </a:r>
            <a:r>
              <a:rPr spc="5" dirty="0"/>
              <a:t>has</a:t>
            </a:r>
            <a:r>
              <a:rPr spc="-50" dirty="0"/>
              <a:t> </a:t>
            </a:r>
            <a:r>
              <a:rPr spc="10" dirty="0"/>
              <a:t>the</a:t>
            </a:r>
            <a:r>
              <a:rPr spc="-3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spc="-15" dirty="0"/>
              <a:t>of</a:t>
            </a:r>
            <a:r>
              <a:rPr spc="-20" dirty="0"/>
              <a:t> </a:t>
            </a:r>
            <a:r>
              <a:rPr spc="5" dirty="0"/>
              <a:t>decoding </a:t>
            </a:r>
            <a:r>
              <a:rPr spc="-1040" dirty="0"/>
              <a:t> </a:t>
            </a:r>
            <a:r>
              <a:rPr spc="10" dirty="0"/>
              <a:t>the </a:t>
            </a:r>
            <a:r>
              <a:rPr spc="5" dirty="0"/>
              <a:t>instructions, </a:t>
            </a:r>
            <a:r>
              <a:rPr spc="10" dirty="0"/>
              <a:t>interpreting them </a:t>
            </a:r>
            <a:r>
              <a:rPr spc="-5" dirty="0"/>
              <a:t>by </a:t>
            </a:r>
            <a:r>
              <a:rPr dirty="0"/>
              <a:t> generating </a:t>
            </a:r>
            <a:r>
              <a:rPr spc="5" dirty="0"/>
              <a:t>the </a:t>
            </a:r>
            <a:r>
              <a:rPr spc="-5" dirty="0"/>
              <a:t>appropriate </a:t>
            </a:r>
            <a:r>
              <a:rPr spc="20" dirty="0"/>
              <a:t>signals </a:t>
            </a:r>
            <a:r>
              <a:rPr spc="5" dirty="0"/>
              <a:t>to </a:t>
            </a:r>
            <a:r>
              <a:rPr spc="-5" dirty="0"/>
              <a:t>be </a:t>
            </a:r>
            <a:r>
              <a:rPr spc="-1040" dirty="0"/>
              <a:t> </a:t>
            </a:r>
            <a:r>
              <a:rPr spc="5" dirty="0"/>
              <a:t>sent</a:t>
            </a:r>
            <a:r>
              <a:rPr spc="-35" dirty="0"/>
              <a:t> </a:t>
            </a:r>
            <a:r>
              <a:rPr spc="5" dirty="0"/>
              <a:t>to</a:t>
            </a:r>
            <a:r>
              <a:rPr spc="-65" dirty="0"/>
              <a:t> </a:t>
            </a:r>
            <a:r>
              <a:rPr spc="10" dirty="0"/>
              <a:t>the</a:t>
            </a:r>
            <a:r>
              <a:rPr spc="-40" dirty="0"/>
              <a:t> </a:t>
            </a:r>
            <a:r>
              <a:rPr spc="10" dirty="0"/>
              <a:t>executing</a:t>
            </a:r>
            <a:r>
              <a:rPr spc="-175" dirty="0"/>
              <a:t> </a:t>
            </a:r>
            <a:r>
              <a:rPr spc="-10" dirty="0"/>
              <a:t>organs</a:t>
            </a:r>
            <a:r>
              <a:rPr spc="70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spc="10" dirty="0"/>
              <a:t>the</a:t>
            </a:r>
            <a:r>
              <a:rPr spc="-35" dirty="0"/>
              <a:t> </a:t>
            </a:r>
            <a:r>
              <a:rPr spc="10" dirty="0"/>
              <a:t>clock </a:t>
            </a:r>
            <a:r>
              <a:rPr spc="-1040" dirty="0"/>
              <a:t> </a:t>
            </a:r>
            <a:r>
              <a:rPr spc="15" dirty="0"/>
              <a:t>pulse</a:t>
            </a:r>
            <a:r>
              <a:rPr spc="-85" dirty="0"/>
              <a:t> </a:t>
            </a:r>
            <a:r>
              <a:rPr spc="-20" dirty="0"/>
              <a:t>rate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8641" y="412750"/>
            <a:ext cx="397573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5" dirty="0">
                <a:solidFill>
                  <a:srgbClr val="014EA0"/>
                </a:solidFill>
              </a:rPr>
              <a:t>CONTROL</a:t>
            </a:r>
            <a:r>
              <a:rPr sz="4000" spc="-229" dirty="0">
                <a:solidFill>
                  <a:srgbClr val="014EA0"/>
                </a:solidFill>
              </a:rPr>
              <a:t> </a:t>
            </a:r>
            <a:r>
              <a:rPr sz="4000" spc="20" dirty="0">
                <a:solidFill>
                  <a:srgbClr val="014EA0"/>
                </a:solidFill>
              </a:rPr>
              <a:t>UNIT</a:t>
            </a:r>
            <a:endParaRPr sz="4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6137" y="1497012"/>
            <a:ext cx="7212330" cy="2589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control</a:t>
            </a:r>
            <a:r>
              <a:rPr sz="300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unit's</a:t>
            </a:r>
            <a:r>
              <a:rPr sz="30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activity</a:t>
            </a:r>
            <a:r>
              <a:rPr sz="30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generally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divided</a:t>
            </a:r>
            <a:r>
              <a:rPr sz="3000" spc="-1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into</a:t>
            </a:r>
            <a:r>
              <a:rPr sz="30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three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r>
              <a:rPr sz="30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phases:</a:t>
            </a:r>
            <a:endParaRPr sz="300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3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Fetch</a:t>
            </a:r>
            <a:endParaRPr sz="300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30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Decode</a:t>
            </a:r>
            <a:endParaRPr sz="300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72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Execute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8641" y="412750"/>
            <a:ext cx="3975735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5" dirty="0">
                <a:solidFill>
                  <a:srgbClr val="014EA0"/>
                </a:solidFill>
              </a:rPr>
              <a:t>CONTROL</a:t>
            </a:r>
            <a:r>
              <a:rPr sz="4000" spc="-229" dirty="0">
                <a:solidFill>
                  <a:srgbClr val="014EA0"/>
                </a:solidFill>
              </a:rPr>
              <a:t> </a:t>
            </a:r>
            <a:r>
              <a:rPr sz="4000" spc="20" dirty="0">
                <a:solidFill>
                  <a:srgbClr val="014EA0"/>
                </a:solidFill>
              </a:rPr>
              <a:t>UNIT</a:t>
            </a:r>
            <a:endParaRPr sz="4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marR="5080" indent="8890" algn="ctr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The </a:t>
            </a:r>
            <a:r>
              <a:rPr spc="10" dirty="0"/>
              <a:t>arithmetic-logic </a:t>
            </a:r>
            <a:r>
              <a:rPr spc="25" dirty="0"/>
              <a:t>unit </a:t>
            </a:r>
            <a:r>
              <a:rPr spc="35" dirty="0"/>
              <a:t>is </a:t>
            </a:r>
            <a:r>
              <a:rPr dirty="0"/>
              <a:t>formed </a:t>
            </a:r>
            <a:r>
              <a:rPr spc="-5" dirty="0"/>
              <a:t>by </a:t>
            </a:r>
            <a:r>
              <a:rPr dirty="0"/>
              <a:t>a </a:t>
            </a:r>
            <a:r>
              <a:rPr spc="5" dirty="0"/>
              <a:t> </a:t>
            </a:r>
            <a:r>
              <a:rPr dirty="0"/>
              <a:t>set </a:t>
            </a:r>
            <a:r>
              <a:rPr spc="-15" dirty="0"/>
              <a:t>of </a:t>
            </a:r>
            <a:r>
              <a:rPr spc="15" dirty="0"/>
              <a:t>circuits </a:t>
            </a:r>
            <a:r>
              <a:rPr spc="5" dirty="0"/>
              <a:t>capable </a:t>
            </a:r>
            <a:r>
              <a:rPr spc="-15" dirty="0"/>
              <a:t>of </a:t>
            </a:r>
            <a:r>
              <a:rPr spc="5" dirty="0"/>
              <a:t>performing </a:t>
            </a:r>
            <a:r>
              <a:rPr spc="10" dirty="0"/>
              <a:t> elementary</a:t>
            </a:r>
            <a:r>
              <a:rPr spc="-195" dirty="0"/>
              <a:t> </a:t>
            </a:r>
            <a:r>
              <a:rPr spc="15" dirty="0"/>
              <a:t>arithmetic</a:t>
            </a:r>
            <a:r>
              <a:rPr spc="-220" dirty="0"/>
              <a:t> </a:t>
            </a:r>
            <a:r>
              <a:rPr spc="-5" dirty="0"/>
              <a:t>operations</a:t>
            </a:r>
            <a:r>
              <a:rPr spc="-35" dirty="0"/>
              <a:t> </a:t>
            </a:r>
            <a:r>
              <a:rPr dirty="0"/>
              <a:t>such</a:t>
            </a:r>
            <a:r>
              <a:rPr spc="-30" dirty="0"/>
              <a:t> </a:t>
            </a:r>
            <a:r>
              <a:rPr dirty="0"/>
              <a:t>as </a:t>
            </a:r>
            <a:r>
              <a:rPr spc="-1040" dirty="0"/>
              <a:t> </a:t>
            </a:r>
            <a:r>
              <a:rPr spc="10" dirty="0"/>
              <a:t>addition, </a:t>
            </a:r>
            <a:r>
              <a:rPr dirty="0"/>
              <a:t>subtraction, </a:t>
            </a:r>
            <a:r>
              <a:rPr spc="10" dirty="0"/>
              <a:t>increment, </a:t>
            </a:r>
            <a:r>
              <a:rPr spc="-50" dirty="0"/>
              <a:t>decay, </a:t>
            </a:r>
            <a:r>
              <a:rPr spc="-45" dirty="0"/>
              <a:t> </a:t>
            </a:r>
            <a:r>
              <a:rPr spc="10" dirty="0"/>
              <a:t>multiplication, </a:t>
            </a:r>
            <a:r>
              <a:rPr spc="15" dirty="0"/>
              <a:t>division, </a:t>
            </a:r>
            <a:r>
              <a:rPr dirty="0"/>
              <a:t>data </a:t>
            </a:r>
            <a:r>
              <a:rPr spc="5" dirty="0"/>
              <a:t>exchange </a:t>
            </a:r>
            <a:r>
              <a:rPr spc="10" dirty="0"/>
              <a:t> </a:t>
            </a:r>
            <a:r>
              <a:rPr dirty="0"/>
              <a:t>between</a:t>
            </a:r>
            <a:r>
              <a:rPr spc="-80" dirty="0"/>
              <a:t> </a:t>
            </a:r>
            <a:r>
              <a:rPr dirty="0"/>
              <a:t>registers</a:t>
            </a:r>
            <a:r>
              <a:rPr spc="-30" dirty="0"/>
              <a:t> </a:t>
            </a:r>
            <a:r>
              <a:rPr spc="5" dirty="0"/>
              <a:t>and</a:t>
            </a:r>
            <a:r>
              <a:rPr spc="-45" dirty="0"/>
              <a:t> </a:t>
            </a:r>
            <a:r>
              <a:rPr spc="-10" dirty="0"/>
              <a:t>control</a:t>
            </a:r>
            <a:r>
              <a:rPr spc="130" dirty="0"/>
              <a:t> </a:t>
            </a:r>
            <a:r>
              <a:rPr spc="-5" dirty="0"/>
              <a:t>operations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9463" y="412750"/>
            <a:ext cx="65544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</a:rPr>
              <a:t>ARITHMETIC</a:t>
            </a:r>
            <a:r>
              <a:rPr sz="4000" spc="-160" dirty="0">
                <a:solidFill>
                  <a:srgbClr val="014EA0"/>
                </a:solidFill>
              </a:rPr>
              <a:t> </a:t>
            </a:r>
            <a:r>
              <a:rPr sz="4000" spc="10" dirty="0">
                <a:solidFill>
                  <a:srgbClr val="014EA0"/>
                </a:solidFill>
              </a:rPr>
              <a:t>LOGIC</a:t>
            </a:r>
            <a:r>
              <a:rPr sz="4000" spc="-155" dirty="0">
                <a:solidFill>
                  <a:srgbClr val="014EA0"/>
                </a:solidFill>
              </a:rPr>
              <a:t> </a:t>
            </a:r>
            <a:r>
              <a:rPr sz="4000" spc="20" dirty="0">
                <a:solidFill>
                  <a:srgbClr val="014EA0"/>
                </a:solidFill>
              </a:rPr>
              <a:t>UNIT</a:t>
            </a:r>
            <a:endParaRPr sz="4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9385" y="1905635"/>
            <a:ext cx="6280785" cy="1249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25"/>
              </a:spcBef>
            </a:pPr>
            <a:r>
              <a:rPr sz="4000" spc="15" dirty="0">
                <a:solidFill>
                  <a:srgbClr val="014EA0"/>
                </a:solidFill>
              </a:rPr>
              <a:t>HOW</a:t>
            </a:r>
            <a:r>
              <a:rPr sz="4000" spc="-75" dirty="0">
                <a:solidFill>
                  <a:srgbClr val="014EA0"/>
                </a:solidFill>
              </a:rPr>
              <a:t> </a:t>
            </a:r>
            <a:r>
              <a:rPr sz="4000" spc="-20" dirty="0">
                <a:solidFill>
                  <a:srgbClr val="014EA0"/>
                </a:solidFill>
              </a:rPr>
              <a:t>FAST</a:t>
            </a:r>
            <a:r>
              <a:rPr sz="4000" spc="-185" dirty="0">
                <a:solidFill>
                  <a:srgbClr val="014EA0"/>
                </a:solidFill>
              </a:rPr>
              <a:t> </a:t>
            </a:r>
            <a:r>
              <a:rPr sz="4000" spc="15" dirty="0">
                <a:solidFill>
                  <a:srgbClr val="014EA0"/>
                </a:solidFill>
              </a:rPr>
              <a:t>DOES</a:t>
            </a:r>
            <a:endParaRPr sz="400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000" spc="15" dirty="0">
                <a:solidFill>
                  <a:srgbClr val="014EA0"/>
                </a:solidFill>
              </a:rPr>
              <a:t>A</a:t>
            </a:r>
            <a:r>
              <a:rPr sz="4000" spc="-45" dirty="0">
                <a:solidFill>
                  <a:srgbClr val="014EA0"/>
                </a:solidFill>
              </a:rPr>
              <a:t> </a:t>
            </a:r>
            <a:r>
              <a:rPr sz="4000" spc="10" dirty="0">
                <a:solidFill>
                  <a:srgbClr val="014EA0"/>
                </a:solidFill>
              </a:rPr>
              <a:t>CPU</a:t>
            </a:r>
            <a:r>
              <a:rPr sz="4000" spc="-60" dirty="0">
                <a:solidFill>
                  <a:srgbClr val="014EA0"/>
                </a:solidFill>
              </a:rPr>
              <a:t> </a:t>
            </a:r>
            <a:r>
              <a:rPr sz="4000" spc="15" dirty="0">
                <a:solidFill>
                  <a:srgbClr val="014EA0"/>
                </a:solidFill>
              </a:rPr>
              <a:t>TRANSFER</a:t>
            </a:r>
            <a:r>
              <a:rPr sz="4000" spc="-150" dirty="0">
                <a:solidFill>
                  <a:srgbClr val="014EA0"/>
                </a:solidFill>
              </a:rPr>
              <a:t> </a:t>
            </a:r>
            <a:r>
              <a:rPr sz="4000" spc="-80" dirty="0">
                <a:solidFill>
                  <a:srgbClr val="014EA0"/>
                </a:solidFill>
              </a:rPr>
              <a:t>DATA?</a:t>
            </a:r>
            <a:endParaRPr sz="4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1239" rIns="0" bIns="0" rtlCol="0">
            <a:spAutoFit/>
          </a:bodyPr>
          <a:lstStyle/>
          <a:p>
            <a:pPr marR="5080" indent="17145" algn="ctr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Like </a:t>
            </a:r>
            <a:r>
              <a:rPr spc="5" dirty="0"/>
              <a:t>any </a:t>
            </a:r>
            <a:r>
              <a:rPr spc="15" dirty="0"/>
              <a:t>device </a:t>
            </a:r>
            <a:r>
              <a:rPr spc="5" dirty="0"/>
              <a:t>that </a:t>
            </a:r>
            <a:r>
              <a:rPr spc="10" dirty="0"/>
              <a:t>utilizes </a:t>
            </a:r>
            <a:r>
              <a:rPr spc="15" dirty="0"/>
              <a:t>electrical </a:t>
            </a:r>
            <a:r>
              <a:rPr spc="-1040" dirty="0"/>
              <a:t> </a:t>
            </a:r>
            <a:r>
              <a:rPr spc="15" dirty="0"/>
              <a:t>signals,</a:t>
            </a:r>
            <a:r>
              <a:rPr spc="-180" dirty="0"/>
              <a:t> </a:t>
            </a:r>
            <a:r>
              <a:rPr spc="10" dirty="0"/>
              <a:t>the</a:t>
            </a:r>
            <a:r>
              <a:rPr spc="-3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travels</a:t>
            </a:r>
            <a:r>
              <a:rPr spc="-160" dirty="0"/>
              <a:t> </a:t>
            </a:r>
            <a:r>
              <a:rPr dirty="0"/>
              <a:t>very</a:t>
            </a:r>
            <a:r>
              <a:rPr spc="-25" dirty="0"/>
              <a:t> </a:t>
            </a:r>
            <a:r>
              <a:rPr spc="5" dirty="0"/>
              <a:t>near</a:t>
            </a:r>
            <a:r>
              <a:rPr spc="-65" dirty="0"/>
              <a:t> </a:t>
            </a:r>
            <a:r>
              <a:rPr spc="10" dirty="0"/>
              <a:t>the </a:t>
            </a:r>
            <a:r>
              <a:rPr spc="-1040" dirty="0"/>
              <a:t> </a:t>
            </a:r>
            <a:r>
              <a:rPr dirty="0"/>
              <a:t>speed</a:t>
            </a:r>
            <a:r>
              <a:rPr spc="-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25" dirty="0"/>
              <a:t>light,</a:t>
            </a:r>
            <a:r>
              <a:rPr spc="-180" dirty="0"/>
              <a:t> </a:t>
            </a:r>
            <a:r>
              <a:rPr spc="15" dirty="0"/>
              <a:t>which</a:t>
            </a:r>
            <a:r>
              <a:rPr spc="-155" dirty="0"/>
              <a:t> </a:t>
            </a:r>
            <a:r>
              <a:rPr spc="35" dirty="0"/>
              <a:t>is</a:t>
            </a:r>
            <a:r>
              <a:rPr spc="5" dirty="0"/>
              <a:t> approximately </a:t>
            </a:r>
            <a:r>
              <a:rPr spc="-1040" dirty="0"/>
              <a:t> </a:t>
            </a:r>
            <a:r>
              <a:rPr spc="5" dirty="0"/>
              <a:t>300,000,000</a:t>
            </a:r>
            <a:r>
              <a:rPr spc="-5" dirty="0"/>
              <a:t> </a:t>
            </a:r>
            <a:r>
              <a:rPr spc="10" dirty="0"/>
              <a:t>m/s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969" y="412750"/>
            <a:ext cx="733679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</a:rPr>
              <a:t>CPU</a:t>
            </a:r>
            <a:r>
              <a:rPr sz="4000" spc="-50" dirty="0">
                <a:solidFill>
                  <a:srgbClr val="014EA0"/>
                </a:solidFill>
              </a:rPr>
              <a:t> </a:t>
            </a:r>
            <a:r>
              <a:rPr sz="4000" spc="15" dirty="0">
                <a:solidFill>
                  <a:srgbClr val="014EA0"/>
                </a:solidFill>
              </a:rPr>
              <a:t>TRANSFER</a:t>
            </a:r>
            <a:r>
              <a:rPr sz="4000" spc="-140" dirty="0">
                <a:solidFill>
                  <a:srgbClr val="014EA0"/>
                </a:solidFill>
              </a:rPr>
              <a:t> </a:t>
            </a:r>
            <a:r>
              <a:rPr sz="4000" spc="-105" dirty="0">
                <a:solidFill>
                  <a:srgbClr val="014EA0"/>
                </a:solidFill>
              </a:rPr>
              <a:t>DATA</a:t>
            </a:r>
            <a:r>
              <a:rPr sz="4000" spc="-90" dirty="0">
                <a:solidFill>
                  <a:srgbClr val="014EA0"/>
                </a:solidFill>
              </a:rPr>
              <a:t> </a:t>
            </a:r>
            <a:r>
              <a:rPr sz="4000" dirty="0">
                <a:solidFill>
                  <a:srgbClr val="014EA0"/>
                </a:solidFill>
              </a:rPr>
              <a:t>SPEED</a:t>
            </a:r>
            <a:endParaRPr sz="4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57" y="1563369"/>
            <a:ext cx="7625715" cy="2406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20370" indent="-343535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speed</a:t>
            </a:r>
            <a:r>
              <a:rPr sz="30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depends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medium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(type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metal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 wire)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through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signal</a:t>
            </a:r>
            <a:r>
              <a:rPr sz="30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30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traveling.</a:t>
            </a:r>
            <a:endParaRPr sz="300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735"/>
              </a:spcBef>
              <a:buFont typeface="Wingdings"/>
              <a:buChar char=""/>
              <a:tabLst>
                <a:tab pos="355600" algn="l"/>
                <a:tab pos="356235" algn="l"/>
              </a:tabLst>
            </a:pP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Most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electrical</a:t>
            </a:r>
            <a:r>
              <a:rPr sz="3000" spc="-2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signals</a:t>
            </a:r>
            <a:r>
              <a:rPr sz="30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traveling</a:t>
            </a:r>
            <a:r>
              <a:rPr sz="3000" spc="-22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at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about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75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90%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30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speed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light.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969" y="412750"/>
            <a:ext cx="733679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</a:rPr>
              <a:t>CPU</a:t>
            </a:r>
            <a:r>
              <a:rPr sz="4000" spc="-50" dirty="0">
                <a:solidFill>
                  <a:srgbClr val="014EA0"/>
                </a:solidFill>
              </a:rPr>
              <a:t> </a:t>
            </a:r>
            <a:r>
              <a:rPr sz="4000" spc="15" dirty="0">
                <a:solidFill>
                  <a:srgbClr val="014EA0"/>
                </a:solidFill>
              </a:rPr>
              <a:t>TRANSFER</a:t>
            </a:r>
            <a:r>
              <a:rPr sz="4000" spc="-140" dirty="0">
                <a:solidFill>
                  <a:srgbClr val="014EA0"/>
                </a:solidFill>
              </a:rPr>
              <a:t> </a:t>
            </a:r>
            <a:r>
              <a:rPr sz="4000" spc="-105" dirty="0">
                <a:solidFill>
                  <a:srgbClr val="014EA0"/>
                </a:solidFill>
              </a:rPr>
              <a:t>DATA</a:t>
            </a:r>
            <a:r>
              <a:rPr sz="4000" spc="-90" dirty="0">
                <a:solidFill>
                  <a:srgbClr val="014EA0"/>
                </a:solidFill>
              </a:rPr>
              <a:t> </a:t>
            </a:r>
            <a:r>
              <a:rPr sz="4000" dirty="0">
                <a:solidFill>
                  <a:srgbClr val="014EA0"/>
                </a:solidFill>
              </a:rPr>
              <a:t>SPEED</a:t>
            </a:r>
            <a:endParaRPr sz="4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0069" y="2107501"/>
            <a:ext cx="8010525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" algn="ctr">
              <a:lnSpc>
                <a:spcPct val="100000"/>
              </a:lnSpc>
              <a:spcBef>
                <a:spcPts val="100"/>
              </a:spcBef>
            </a:pP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clock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speed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is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the number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instructions</a:t>
            </a:r>
            <a:r>
              <a:rPr sz="30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any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given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second,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measured</a:t>
            </a:r>
            <a:r>
              <a:rPr sz="3000" spc="-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30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gigahertz</a:t>
            </a:r>
            <a:r>
              <a:rPr sz="30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(GHz)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6300" y="412750"/>
            <a:ext cx="484886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  <a:latin typeface="Verdana"/>
                <a:cs typeface="Verdana"/>
              </a:rPr>
              <a:t>CPU</a:t>
            </a:r>
            <a:r>
              <a:rPr sz="4000" spc="-70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spc="5" dirty="0">
                <a:solidFill>
                  <a:srgbClr val="014EA0"/>
                </a:solidFill>
                <a:latin typeface="Verdana"/>
                <a:cs typeface="Verdana"/>
              </a:rPr>
              <a:t>CLOCK</a:t>
            </a:r>
            <a:r>
              <a:rPr sz="4000" spc="-95" dirty="0">
                <a:solidFill>
                  <a:srgbClr val="014EA0"/>
                </a:solidFill>
                <a:latin typeface="Verdana"/>
                <a:cs typeface="Verdana"/>
              </a:rPr>
              <a:t> </a:t>
            </a:r>
            <a:r>
              <a:rPr sz="4000" dirty="0">
                <a:solidFill>
                  <a:srgbClr val="014EA0"/>
                </a:solidFill>
                <a:latin typeface="Verdana"/>
                <a:cs typeface="Verdana"/>
              </a:rPr>
              <a:t>SPEED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5309" y="1534794"/>
            <a:ext cx="7994650" cy="277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3000" spc="-25" dirty="0">
                <a:solidFill>
                  <a:srgbClr val="404040"/>
                </a:solidFill>
                <a:latin typeface="Verdana"/>
                <a:cs typeface="Verdana"/>
              </a:rPr>
              <a:t>For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example,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CPU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has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clock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speed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1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Hz 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if it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one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piece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instruction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every second.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Extrapolating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30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30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more</a:t>
            </a:r>
            <a:r>
              <a:rPr sz="30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real-world</a:t>
            </a:r>
            <a:r>
              <a:rPr sz="3000" spc="-1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example:</a:t>
            </a:r>
            <a:r>
              <a:rPr sz="30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CPU </a:t>
            </a:r>
            <a:r>
              <a:rPr sz="3000" spc="-10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2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30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a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clock</a:t>
            </a:r>
            <a:r>
              <a:rPr sz="30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speed</a:t>
            </a:r>
            <a:r>
              <a:rPr sz="300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5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3000" spc="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3.0</a:t>
            </a:r>
            <a:r>
              <a:rPr sz="3000" spc="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0" dirty="0">
                <a:solidFill>
                  <a:srgbClr val="404040"/>
                </a:solidFill>
                <a:latin typeface="Verdana"/>
                <a:cs typeface="Verdana"/>
              </a:rPr>
              <a:t>GHz</a:t>
            </a:r>
            <a:r>
              <a:rPr sz="30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5" dirty="0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-10" dirty="0">
                <a:solidFill>
                  <a:srgbClr val="404040"/>
                </a:solidFill>
                <a:latin typeface="Verdana"/>
                <a:cs typeface="Verdana"/>
              </a:rPr>
              <a:t>process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3</a:t>
            </a:r>
            <a:r>
              <a:rPr sz="3000" spc="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15" dirty="0">
                <a:solidFill>
                  <a:srgbClr val="404040"/>
                </a:solidFill>
                <a:latin typeface="Verdana"/>
                <a:cs typeface="Verdana"/>
              </a:rPr>
              <a:t>billion</a:t>
            </a:r>
            <a:r>
              <a:rPr sz="30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spc="5" dirty="0">
                <a:solidFill>
                  <a:srgbClr val="404040"/>
                </a:solidFill>
                <a:latin typeface="Verdana"/>
                <a:cs typeface="Verdana"/>
              </a:rPr>
              <a:t>instructions</a:t>
            </a:r>
            <a:r>
              <a:rPr sz="30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r>
              <a:rPr sz="30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3000" dirty="0">
                <a:solidFill>
                  <a:srgbClr val="404040"/>
                </a:solidFill>
                <a:latin typeface="Verdana"/>
                <a:cs typeface="Verdana"/>
              </a:rPr>
              <a:t>second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46300" y="412750"/>
            <a:ext cx="484886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</a:rPr>
              <a:t>CPU</a:t>
            </a:r>
            <a:r>
              <a:rPr sz="4000" spc="-70" dirty="0">
                <a:solidFill>
                  <a:srgbClr val="014EA0"/>
                </a:solidFill>
              </a:rPr>
              <a:t> </a:t>
            </a:r>
            <a:r>
              <a:rPr sz="4000" spc="5" dirty="0">
                <a:solidFill>
                  <a:srgbClr val="014EA0"/>
                </a:solidFill>
              </a:rPr>
              <a:t>CLOCK</a:t>
            </a:r>
            <a:r>
              <a:rPr sz="4000" spc="-95" dirty="0">
                <a:solidFill>
                  <a:srgbClr val="014EA0"/>
                </a:solidFill>
              </a:rPr>
              <a:t> </a:t>
            </a:r>
            <a:r>
              <a:rPr sz="4000" dirty="0">
                <a:solidFill>
                  <a:srgbClr val="014EA0"/>
                </a:solidFill>
              </a:rPr>
              <a:t>SPEED</a:t>
            </a:r>
            <a:endParaRPr sz="4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4830" y="1136015"/>
            <a:ext cx="8066405" cy="3447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 marR="5080" indent="-12700" algn="ctr">
              <a:lnSpc>
                <a:spcPct val="100000"/>
              </a:lnSpc>
              <a:spcBef>
                <a:spcPts val="125"/>
              </a:spcBef>
            </a:pP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Some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devices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have a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single-core processor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 while</a:t>
            </a:r>
            <a:r>
              <a:rPr sz="2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others</a:t>
            </a:r>
            <a:r>
              <a:rPr sz="2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may</a:t>
            </a:r>
            <a:r>
              <a:rPr sz="2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2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 dual-core</a:t>
            </a:r>
            <a:r>
              <a:rPr sz="2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(or</a:t>
            </a:r>
            <a:r>
              <a:rPr sz="2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quad- </a:t>
            </a:r>
            <a:r>
              <a:rPr sz="2800" spc="-969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core, etc.) </a:t>
            </a:r>
            <a:r>
              <a:rPr sz="2800" spc="-40" dirty="0">
                <a:solidFill>
                  <a:srgbClr val="404040"/>
                </a:solidFill>
                <a:latin typeface="Verdana"/>
                <a:cs typeface="Verdana"/>
              </a:rPr>
              <a:t>processor.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As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might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already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be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apparent,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having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two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processor </a:t>
            </a:r>
            <a:r>
              <a:rPr sz="2800" spc="20" dirty="0">
                <a:solidFill>
                  <a:srgbClr val="404040"/>
                </a:solidFill>
                <a:latin typeface="Verdana"/>
                <a:cs typeface="Verdana"/>
              </a:rPr>
              <a:t>units </a:t>
            </a:r>
            <a:r>
              <a:rPr sz="28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working</a:t>
            </a:r>
            <a:r>
              <a:rPr sz="2800" spc="-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side</a:t>
            </a:r>
            <a:r>
              <a:rPr sz="280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2800" spc="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side</a:t>
            </a:r>
            <a:r>
              <a:rPr sz="2800" spc="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means that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800" spc="-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CPU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can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simultaneously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manage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twice </a:t>
            </a:r>
            <a:r>
              <a:rPr sz="2800" spc="25" dirty="0">
                <a:solidFill>
                  <a:srgbClr val="404040"/>
                </a:solidFill>
                <a:latin typeface="Verdana"/>
                <a:cs typeface="Verdana"/>
              </a:rPr>
              <a:t>the </a:t>
            </a:r>
            <a:r>
              <a:rPr sz="2800" spc="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instructions every </a:t>
            </a:r>
            <a:r>
              <a:rPr sz="2800" spc="5" dirty="0">
                <a:solidFill>
                  <a:srgbClr val="404040"/>
                </a:solidFill>
                <a:latin typeface="Verdana"/>
                <a:cs typeface="Verdana"/>
              </a:rPr>
              <a:t>second, </a:t>
            </a:r>
            <a:r>
              <a:rPr sz="2800" spc="-5" dirty="0">
                <a:solidFill>
                  <a:srgbClr val="404040"/>
                </a:solidFill>
                <a:latin typeface="Verdana"/>
                <a:cs typeface="Verdana"/>
              </a:rPr>
              <a:t>drastically </a:t>
            </a:r>
            <a:r>
              <a:rPr sz="28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5" dirty="0">
                <a:solidFill>
                  <a:srgbClr val="404040"/>
                </a:solidFill>
                <a:latin typeface="Verdana"/>
                <a:cs typeface="Verdana"/>
              </a:rPr>
              <a:t>improving</a:t>
            </a:r>
            <a:r>
              <a:rPr sz="2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800" spc="10" dirty="0">
                <a:solidFill>
                  <a:srgbClr val="404040"/>
                </a:solidFill>
                <a:latin typeface="Verdana"/>
                <a:cs typeface="Verdana"/>
              </a:rPr>
              <a:t>performance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1335" y="121665"/>
            <a:ext cx="302768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10" dirty="0">
                <a:solidFill>
                  <a:srgbClr val="014EA0"/>
                </a:solidFill>
              </a:rPr>
              <a:t>CPU</a:t>
            </a:r>
            <a:r>
              <a:rPr sz="4000" spc="-110" dirty="0">
                <a:solidFill>
                  <a:srgbClr val="014EA0"/>
                </a:solidFill>
              </a:rPr>
              <a:t> </a:t>
            </a:r>
            <a:r>
              <a:rPr sz="4000" spc="15" dirty="0">
                <a:solidFill>
                  <a:srgbClr val="014EA0"/>
                </a:solidFill>
              </a:rPr>
              <a:t>CORES</a:t>
            </a:r>
            <a:endParaRPr sz="4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9826" y="4226559"/>
            <a:ext cx="53352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-5" dirty="0">
                <a:solidFill>
                  <a:srgbClr val="FFFFFF"/>
                </a:solidFill>
              </a:rPr>
              <a:t>MPU</a:t>
            </a:r>
            <a:r>
              <a:rPr sz="4000" spc="-35" dirty="0">
                <a:solidFill>
                  <a:srgbClr val="FFFFFF"/>
                </a:solidFill>
              </a:rPr>
              <a:t> </a:t>
            </a:r>
            <a:r>
              <a:rPr sz="4000" spc="10" dirty="0">
                <a:solidFill>
                  <a:srgbClr val="FFFFFF"/>
                </a:solidFill>
              </a:rPr>
              <a:t>ARCHITECTURE</a:t>
            </a:r>
            <a:endParaRPr sz="4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3179" y="1630679"/>
            <a:ext cx="769620" cy="1424940"/>
            <a:chOff x="2583179" y="1630679"/>
            <a:chExt cx="769620" cy="1424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0799" y="1630679"/>
              <a:ext cx="754379" cy="14249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83180" y="1684019"/>
              <a:ext cx="769620" cy="1371600"/>
            </a:xfrm>
            <a:custGeom>
              <a:avLst/>
              <a:gdLst/>
              <a:ahLst/>
              <a:cxnLst/>
              <a:rect l="l" t="t" r="r" b="b"/>
              <a:pathLst>
                <a:path w="769620" h="1371600">
                  <a:moveTo>
                    <a:pt x="99060" y="704850"/>
                  </a:moveTo>
                  <a:lnTo>
                    <a:pt x="49530" y="655320"/>
                  </a:lnTo>
                  <a:lnTo>
                    <a:pt x="0" y="704850"/>
                  </a:lnTo>
                  <a:lnTo>
                    <a:pt x="0" y="982980"/>
                  </a:lnTo>
                  <a:lnTo>
                    <a:pt x="0" y="990600"/>
                  </a:lnTo>
                  <a:lnTo>
                    <a:pt x="0" y="1268730"/>
                  </a:lnTo>
                  <a:lnTo>
                    <a:pt x="49530" y="1318260"/>
                  </a:lnTo>
                  <a:lnTo>
                    <a:pt x="99060" y="1268730"/>
                  </a:lnTo>
                  <a:lnTo>
                    <a:pt x="99060" y="990600"/>
                  </a:lnTo>
                  <a:lnTo>
                    <a:pt x="99060" y="982980"/>
                  </a:lnTo>
                  <a:lnTo>
                    <a:pt x="99060" y="704850"/>
                  </a:lnTo>
                  <a:close/>
                </a:path>
                <a:path w="769620" h="1371600">
                  <a:moveTo>
                    <a:pt x="716280" y="1318260"/>
                  </a:moveTo>
                  <a:lnTo>
                    <a:pt x="662940" y="1264920"/>
                  </a:lnTo>
                  <a:lnTo>
                    <a:pt x="388620" y="1264920"/>
                  </a:lnTo>
                  <a:lnTo>
                    <a:pt x="381000" y="1264920"/>
                  </a:lnTo>
                  <a:lnTo>
                    <a:pt x="106680" y="1264920"/>
                  </a:lnTo>
                  <a:lnTo>
                    <a:pt x="53340" y="1318260"/>
                  </a:lnTo>
                  <a:lnTo>
                    <a:pt x="106680" y="1371600"/>
                  </a:lnTo>
                  <a:lnTo>
                    <a:pt x="381000" y="1371600"/>
                  </a:lnTo>
                  <a:lnTo>
                    <a:pt x="388620" y="1371600"/>
                  </a:lnTo>
                  <a:lnTo>
                    <a:pt x="662940" y="1371600"/>
                  </a:lnTo>
                  <a:lnTo>
                    <a:pt x="716280" y="1318260"/>
                  </a:lnTo>
                  <a:close/>
                </a:path>
                <a:path w="769620" h="1371600">
                  <a:moveTo>
                    <a:pt x="762000" y="49530"/>
                  </a:moveTo>
                  <a:lnTo>
                    <a:pt x="712470" y="0"/>
                  </a:lnTo>
                  <a:lnTo>
                    <a:pt x="662940" y="49530"/>
                  </a:lnTo>
                  <a:lnTo>
                    <a:pt x="662940" y="327660"/>
                  </a:lnTo>
                  <a:lnTo>
                    <a:pt x="662940" y="335280"/>
                  </a:lnTo>
                  <a:lnTo>
                    <a:pt x="662940" y="601980"/>
                  </a:lnTo>
                  <a:lnTo>
                    <a:pt x="388620" y="601980"/>
                  </a:lnTo>
                  <a:lnTo>
                    <a:pt x="381000" y="601980"/>
                  </a:lnTo>
                  <a:lnTo>
                    <a:pt x="106680" y="601980"/>
                  </a:lnTo>
                  <a:lnTo>
                    <a:pt x="106680" y="335280"/>
                  </a:lnTo>
                  <a:lnTo>
                    <a:pt x="106680" y="320040"/>
                  </a:lnTo>
                  <a:lnTo>
                    <a:pt x="106680" y="53340"/>
                  </a:lnTo>
                  <a:lnTo>
                    <a:pt x="53340" y="0"/>
                  </a:lnTo>
                  <a:lnTo>
                    <a:pt x="0" y="53340"/>
                  </a:lnTo>
                  <a:lnTo>
                    <a:pt x="0" y="320040"/>
                  </a:lnTo>
                  <a:lnTo>
                    <a:pt x="0" y="335280"/>
                  </a:lnTo>
                  <a:lnTo>
                    <a:pt x="0" y="601980"/>
                  </a:lnTo>
                  <a:lnTo>
                    <a:pt x="53340" y="655320"/>
                  </a:lnTo>
                  <a:lnTo>
                    <a:pt x="106680" y="708660"/>
                  </a:lnTo>
                  <a:lnTo>
                    <a:pt x="381000" y="708660"/>
                  </a:lnTo>
                  <a:lnTo>
                    <a:pt x="388620" y="708660"/>
                  </a:lnTo>
                  <a:lnTo>
                    <a:pt x="662940" y="708660"/>
                  </a:lnTo>
                  <a:lnTo>
                    <a:pt x="716280" y="655320"/>
                  </a:lnTo>
                  <a:lnTo>
                    <a:pt x="714375" y="653415"/>
                  </a:lnTo>
                  <a:lnTo>
                    <a:pt x="762000" y="605790"/>
                  </a:lnTo>
                  <a:lnTo>
                    <a:pt x="762000" y="335280"/>
                  </a:lnTo>
                  <a:lnTo>
                    <a:pt x="762000" y="327660"/>
                  </a:lnTo>
                  <a:lnTo>
                    <a:pt x="762000" y="49530"/>
                  </a:lnTo>
                  <a:close/>
                </a:path>
                <a:path w="769620" h="1371600">
                  <a:moveTo>
                    <a:pt x="769620" y="712470"/>
                  </a:moveTo>
                  <a:lnTo>
                    <a:pt x="720090" y="662940"/>
                  </a:lnTo>
                  <a:lnTo>
                    <a:pt x="670560" y="712470"/>
                  </a:lnTo>
                  <a:lnTo>
                    <a:pt x="670560" y="982980"/>
                  </a:lnTo>
                  <a:lnTo>
                    <a:pt x="670560" y="998220"/>
                  </a:lnTo>
                  <a:lnTo>
                    <a:pt x="670560" y="1268730"/>
                  </a:lnTo>
                  <a:lnTo>
                    <a:pt x="720090" y="1318260"/>
                  </a:lnTo>
                  <a:lnTo>
                    <a:pt x="769620" y="1268730"/>
                  </a:lnTo>
                  <a:lnTo>
                    <a:pt x="769620" y="998220"/>
                  </a:lnTo>
                  <a:lnTo>
                    <a:pt x="769620" y="982980"/>
                  </a:lnTo>
                  <a:lnTo>
                    <a:pt x="769620" y="71247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42359" y="1623060"/>
            <a:ext cx="777240" cy="1424940"/>
            <a:chOff x="3642359" y="1623060"/>
            <a:chExt cx="777240" cy="14249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9" y="1630680"/>
              <a:ext cx="754379" cy="14173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42360" y="1623059"/>
              <a:ext cx="777240" cy="1424940"/>
            </a:xfrm>
            <a:custGeom>
              <a:avLst/>
              <a:gdLst/>
              <a:ahLst/>
              <a:cxnLst/>
              <a:rect l="l" t="t" r="r" b="b"/>
              <a:pathLst>
                <a:path w="777239" h="1424939">
                  <a:moveTo>
                    <a:pt x="106680" y="762000"/>
                  </a:moveTo>
                  <a:lnTo>
                    <a:pt x="53340" y="708660"/>
                  </a:lnTo>
                  <a:lnTo>
                    <a:pt x="0" y="76200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43940"/>
                  </a:lnTo>
                  <a:lnTo>
                    <a:pt x="106680" y="1036320"/>
                  </a:lnTo>
                  <a:lnTo>
                    <a:pt x="106680" y="762000"/>
                  </a:lnTo>
                  <a:close/>
                </a:path>
                <a:path w="777239" h="1424939">
                  <a:moveTo>
                    <a:pt x="106680" y="102870"/>
                  </a:moveTo>
                  <a:lnTo>
                    <a:pt x="57150" y="53340"/>
                  </a:lnTo>
                  <a:lnTo>
                    <a:pt x="7620" y="102870"/>
                  </a:lnTo>
                  <a:lnTo>
                    <a:pt x="7620" y="373380"/>
                  </a:lnTo>
                  <a:lnTo>
                    <a:pt x="7620" y="388620"/>
                  </a:lnTo>
                  <a:lnTo>
                    <a:pt x="7620" y="659130"/>
                  </a:lnTo>
                  <a:lnTo>
                    <a:pt x="57150" y="708660"/>
                  </a:lnTo>
                  <a:lnTo>
                    <a:pt x="106680" y="65913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2870"/>
                  </a:lnTo>
                  <a:close/>
                </a:path>
                <a:path w="777239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96240" y="1318260"/>
                  </a:lnTo>
                  <a:lnTo>
                    <a:pt x="381000" y="1318260"/>
                  </a:lnTo>
                  <a:lnTo>
                    <a:pt x="114300" y="1318260"/>
                  </a:lnTo>
                  <a:lnTo>
                    <a:pt x="60960" y="1371600"/>
                  </a:lnTo>
                  <a:lnTo>
                    <a:pt x="114300" y="1424940"/>
                  </a:lnTo>
                  <a:lnTo>
                    <a:pt x="381000" y="1424940"/>
                  </a:lnTo>
                  <a:lnTo>
                    <a:pt x="39624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77239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96240" y="0"/>
                  </a:lnTo>
                  <a:lnTo>
                    <a:pt x="381000" y="0"/>
                  </a:lnTo>
                  <a:lnTo>
                    <a:pt x="110490" y="0"/>
                  </a:lnTo>
                  <a:lnTo>
                    <a:pt x="60960" y="49530"/>
                  </a:lnTo>
                  <a:lnTo>
                    <a:pt x="110490" y="99060"/>
                  </a:lnTo>
                  <a:lnTo>
                    <a:pt x="381000" y="99060"/>
                  </a:lnTo>
                  <a:lnTo>
                    <a:pt x="396240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77239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96240" y="662940"/>
                  </a:lnTo>
                  <a:lnTo>
                    <a:pt x="381000" y="662940"/>
                  </a:lnTo>
                  <a:lnTo>
                    <a:pt x="110490" y="662940"/>
                  </a:lnTo>
                  <a:lnTo>
                    <a:pt x="60960" y="712470"/>
                  </a:lnTo>
                  <a:lnTo>
                    <a:pt x="110490" y="762000"/>
                  </a:lnTo>
                  <a:lnTo>
                    <a:pt x="381000" y="762000"/>
                  </a:lnTo>
                  <a:lnTo>
                    <a:pt x="396240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  <a:path w="777239" h="1424939">
                  <a:moveTo>
                    <a:pt x="777240" y="769620"/>
                  </a:moveTo>
                  <a:lnTo>
                    <a:pt x="723900" y="716280"/>
                  </a:lnTo>
                  <a:lnTo>
                    <a:pt x="670560" y="76962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18260"/>
                  </a:lnTo>
                  <a:lnTo>
                    <a:pt x="723900" y="1371600"/>
                  </a:lnTo>
                  <a:lnTo>
                    <a:pt x="777240" y="1318260"/>
                  </a:lnTo>
                  <a:lnTo>
                    <a:pt x="777240" y="1051560"/>
                  </a:lnTo>
                  <a:lnTo>
                    <a:pt x="777240" y="1036320"/>
                  </a:lnTo>
                  <a:lnTo>
                    <a:pt x="77724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35618" y="4417377"/>
            <a:ext cx="31686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014EA0"/>
                </a:solidFill>
                <a:latin typeface="Verdana"/>
                <a:cs typeface="Verdana"/>
              </a:rPr>
              <a:t>1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09159" y="1623060"/>
            <a:ext cx="769620" cy="1424940"/>
            <a:chOff x="4709159" y="1623060"/>
            <a:chExt cx="769620" cy="142494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16779" y="1623060"/>
              <a:ext cx="754379" cy="14249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709160" y="162305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758190"/>
                  </a:moveTo>
                  <a:lnTo>
                    <a:pt x="49530" y="708660"/>
                  </a:lnTo>
                  <a:lnTo>
                    <a:pt x="0" y="75819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58190"/>
                  </a:lnTo>
                  <a:close/>
                </a:path>
                <a:path w="76962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0668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69620" h="1424939">
                  <a:moveTo>
                    <a:pt x="762000" y="102870"/>
                  </a:moveTo>
                  <a:lnTo>
                    <a:pt x="712470" y="53340"/>
                  </a:lnTo>
                  <a:lnTo>
                    <a:pt x="716280" y="49530"/>
                  </a:lnTo>
                  <a:lnTo>
                    <a:pt x="66675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81000" y="99060"/>
                  </a:lnTo>
                  <a:lnTo>
                    <a:pt x="388620" y="99060"/>
                  </a:lnTo>
                  <a:lnTo>
                    <a:pt x="666750" y="99060"/>
                  </a:lnTo>
                  <a:lnTo>
                    <a:pt x="662940" y="10287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55320"/>
                  </a:lnTo>
                  <a:lnTo>
                    <a:pt x="388620" y="655320"/>
                  </a:lnTo>
                  <a:lnTo>
                    <a:pt x="381000" y="655320"/>
                  </a:lnTo>
                  <a:lnTo>
                    <a:pt x="106680" y="655320"/>
                  </a:lnTo>
                  <a:lnTo>
                    <a:pt x="106680" y="381000"/>
                  </a:lnTo>
                  <a:lnTo>
                    <a:pt x="106680" y="373380"/>
                  </a:lnTo>
                  <a:lnTo>
                    <a:pt x="106680" y="106680"/>
                  </a:lnTo>
                  <a:lnTo>
                    <a:pt x="53340" y="53340"/>
                  </a:lnTo>
                  <a:lnTo>
                    <a:pt x="0" y="106680"/>
                  </a:lnTo>
                  <a:lnTo>
                    <a:pt x="0" y="373380"/>
                  </a:lnTo>
                  <a:lnTo>
                    <a:pt x="0" y="38100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2940" y="762000"/>
                  </a:lnTo>
                  <a:lnTo>
                    <a:pt x="716280" y="708660"/>
                  </a:lnTo>
                  <a:lnTo>
                    <a:pt x="714375" y="706755"/>
                  </a:lnTo>
                  <a:lnTo>
                    <a:pt x="762000" y="659130"/>
                  </a:lnTo>
                  <a:lnTo>
                    <a:pt x="762000" y="388620"/>
                  </a:lnTo>
                  <a:lnTo>
                    <a:pt x="762000" y="381000"/>
                  </a:lnTo>
                  <a:lnTo>
                    <a:pt x="762000" y="10287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581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775959" y="1630679"/>
            <a:ext cx="769620" cy="1424940"/>
            <a:chOff x="5775959" y="1630679"/>
            <a:chExt cx="769620" cy="14249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3579" y="1638299"/>
              <a:ext cx="754379" cy="14173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75960" y="1630679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106680" y="106680"/>
                  </a:moveTo>
                  <a:lnTo>
                    <a:pt x="53340" y="53340"/>
                  </a:lnTo>
                  <a:lnTo>
                    <a:pt x="0" y="10668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65532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6680"/>
                  </a:lnTo>
                  <a:close/>
                </a:path>
                <a:path w="76962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06680" y="1318260"/>
                  </a:lnTo>
                  <a:lnTo>
                    <a:pt x="106680" y="1043940"/>
                  </a:lnTo>
                  <a:lnTo>
                    <a:pt x="106680" y="1036320"/>
                  </a:lnTo>
                  <a:lnTo>
                    <a:pt x="106680" y="769620"/>
                  </a:lnTo>
                  <a:lnTo>
                    <a:pt x="53340" y="716280"/>
                  </a:lnTo>
                  <a:lnTo>
                    <a:pt x="0" y="76962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69620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10490" y="0"/>
                  </a:lnTo>
                  <a:lnTo>
                    <a:pt x="60960" y="49530"/>
                  </a:lnTo>
                  <a:lnTo>
                    <a:pt x="110490" y="99060"/>
                  </a:lnTo>
                  <a:lnTo>
                    <a:pt x="381000" y="99060"/>
                  </a:lnTo>
                  <a:lnTo>
                    <a:pt x="388620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5810"/>
                  </a:lnTo>
                  <a:close/>
                </a:path>
                <a:path w="769620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02870" y="662940"/>
                  </a:lnTo>
                  <a:lnTo>
                    <a:pt x="53340" y="712470"/>
                  </a:lnTo>
                  <a:lnTo>
                    <a:pt x="10287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027420" y="3329940"/>
            <a:ext cx="777240" cy="1424940"/>
            <a:chOff x="6027420" y="3329940"/>
            <a:chExt cx="777240" cy="142494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040" y="3337560"/>
              <a:ext cx="754380" cy="141732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027420" y="3329940"/>
              <a:ext cx="777240" cy="1424940"/>
            </a:xfrm>
            <a:custGeom>
              <a:avLst/>
              <a:gdLst/>
              <a:ahLst/>
              <a:cxnLst/>
              <a:rect l="l" t="t" r="r" b="b"/>
              <a:pathLst>
                <a:path w="777240" h="1424939">
                  <a:moveTo>
                    <a:pt x="106680" y="762000"/>
                  </a:moveTo>
                  <a:lnTo>
                    <a:pt x="53340" y="708660"/>
                  </a:lnTo>
                  <a:lnTo>
                    <a:pt x="0" y="76200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43940"/>
                  </a:lnTo>
                  <a:lnTo>
                    <a:pt x="106680" y="1036320"/>
                  </a:lnTo>
                  <a:lnTo>
                    <a:pt x="106680" y="762000"/>
                  </a:lnTo>
                  <a:close/>
                </a:path>
                <a:path w="777240" h="1424939">
                  <a:moveTo>
                    <a:pt x="106680" y="102870"/>
                  </a:moveTo>
                  <a:lnTo>
                    <a:pt x="57150" y="53340"/>
                  </a:lnTo>
                  <a:lnTo>
                    <a:pt x="7620" y="102870"/>
                  </a:lnTo>
                  <a:lnTo>
                    <a:pt x="7620" y="373380"/>
                  </a:lnTo>
                  <a:lnTo>
                    <a:pt x="7620" y="388620"/>
                  </a:lnTo>
                  <a:lnTo>
                    <a:pt x="7620" y="659130"/>
                  </a:lnTo>
                  <a:lnTo>
                    <a:pt x="57150" y="708660"/>
                  </a:lnTo>
                  <a:lnTo>
                    <a:pt x="106680" y="65913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2870"/>
                  </a:lnTo>
                  <a:close/>
                </a:path>
                <a:path w="77724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14300" y="1318260"/>
                  </a:lnTo>
                  <a:lnTo>
                    <a:pt x="60960" y="1371600"/>
                  </a:lnTo>
                  <a:lnTo>
                    <a:pt x="11430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77240" h="1424939">
                  <a:moveTo>
                    <a:pt x="716280" y="49530"/>
                  </a:moveTo>
                  <a:lnTo>
                    <a:pt x="666750" y="0"/>
                  </a:lnTo>
                  <a:lnTo>
                    <a:pt x="396240" y="0"/>
                  </a:lnTo>
                  <a:lnTo>
                    <a:pt x="381000" y="0"/>
                  </a:lnTo>
                  <a:lnTo>
                    <a:pt x="110490" y="0"/>
                  </a:lnTo>
                  <a:lnTo>
                    <a:pt x="60960" y="49530"/>
                  </a:lnTo>
                  <a:lnTo>
                    <a:pt x="110490" y="99060"/>
                  </a:lnTo>
                  <a:lnTo>
                    <a:pt x="381000" y="99060"/>
                  </a:lnTo>
                  <a:lnTo>
                    <a:pt x="396240" y="99060"/>
                  </a:lnTo>
                  <a:lnTo>
                    <a:pt x="666750" y="99060"/>
                  </a:lnTo>
                  <a:lnTo>
                    <a:pt x="716280" y="49530"/>
                  </a:lnTo>
                  <a:close/>
                </a:path>
                <a:path w="777240" h="1424939">
                  <a:moveTo>
                    <a:pt x="769620" y="106680"/>
                  </a:moveTo>
                  <a:lnTo>
                    <a:pt x="716280" y="53340"/>
                  </a:lnTo>
                  <a:lnTo>
                    <a:pt x="662940" y="10668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55320"/>
                  </a:lnTo>
                  <a:lnTo>
                    <a:pt x="388620" y="655320"/>
                  </a:lnTo>
                  <a:lnTo>
                    <a:pt x="381000" y="655320"/>
                  </a:lnTo>
                  <a:lnTo>
                    <a:pt x="114300" y="655320"/>
                  </a:lnTo>
                  <a:lnTo>
                    <a:pt x="60960" y="708660"/>
                  </a:lnTo>
                  <a:lnTo>
                    <a:pt x="11430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2940" y="762000"/>
                  </a:lnTo>
                  <a:lnTo>
                    <a:pt x="712470" y="712470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88620"/>
                  </a:lnTo>
                  <a:lnTo>
                    <a:pt x="769620" y="381000"/>
                  </a:lnTo>
                  <a:lnTo>
                    <a:pt x="769620" y="106680"/>
                  </a:lnTo>
                  <a:close/>
                </a:path>
                <a:path w="777240" h="1424939">
                  <a:moveTo>
                    <a:pt x="777240" y="769620"/>
                  </a:moveTo>
                  <a:lnTo>
                    <a:pt x="723900" y="716280"/>
                  </a:lnTo>
                  <a:lnTo>
                    <a:pt x="670560" y="76962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18260"/>
                  </a:lnTo>
                  <a:lnTo>
                    <a:pt x="723900" y="1371600"/>
                  </a:lnTo>
                  <a:lnTo>
                    <a:pt x="777240" y="1318260"/>
                  </a:lnTo>
                  <a:lnTo>
                    <a:pt x="777240" y="1051560"/>
                  </a:lnTo>
                  <a:lnTo>
                    <a:pt x="777240" y="1036320"/>
                  </a:lnTo>
                  <a:lnTo>
                    <a:pt x="77724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453639" y="3329940"/>
            <a:ext cx="777240" cy="1424940"/>
            <a:chOff x="2453639" y="3329940"/>
            <a:chExt cx="777240" cy="142494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1259" y="3337560"/>
              <a:ext cx="754380" cy="141732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453640" y="3329940"/>
              <a:ext cx="777240" cy="1424940"/>
            </a:xfrm>
            <a:custGeom>
              <a:avLst/>
              <a:gdLst/>
              <a:ahLst/>
              <a:cxnLst/>
              <a:rect l="l" t="t" r="r" b="b"/>
              <a:pathLst>
                <a:path w="777239" h="1424939">
                  <a:moveTo>
                    <a:pt x="106680" y="769620"/>
                  </a:moveTo>
                  <a:lnTo>
                    <a:pt x="53340" y="716280"/>
                  </a:lnTo>
                  <a:lnTo>
                    <a:pt x="0" y="769620"/>
                  </a:lnTo>
                  <a:lnTo>
                    <a:pt x="0" y="1036320"/>
                  </a:lnTo>
                  <a:lnTo>
                    <a:pt x="0" y="1051560"/>
                  </a:lnTo>
                  <a:lnTo>
                    <a:pt x="0" y="1318260"/>
                  </a:lnTo>
                  <a:lnTo>
                    <a:pt x="53340" y="1371600"/>
                  </a:lnTo>
                  <a:lnTo>
                    <a:pt x="106680" y="1318260"/>
                  </a:lnTo>
                  <a:lnTo>
                    <a:pt x="106680" y="1051560"/>
                  </a:lnTo>
                  <a:lnTo>
                    <a:pt x="106680" y="1036320"/>
                  </a:lnTo>
                  <a:lnTo>
                    <a:pt x="106680" y="769620"/>
                  </a:lnTo>
                  <a:close/>
                </a:path>
                <a:path w="777239" h="1424939">
                  <a:moveTo>
                    <a:pt x="106680" y="106680"/>
                  </a:moveTo>
                  <a:lnTo>
                    <a:pt x="53340" y="53340"/>
                  </a:lnTo>
                  <a:lnTo>
                    <a:pt x="0" y="106680"/>
                  </a:lnTo>
                  <a:lnTo>
                    <a:pt x="0" y="381000"/>
                  </a:lnTo>
                  <a:lnTo>
                    <a:pt x="0" y="388620"/>
                  </a:lnTo>
                  <a:lnTo>
                    <a:pt x="0" y="662940"/>
                  </a:lnTo>
                  <a:lnTo>
                    <a:pt x="53340" y="716280"/>
                  </a:lnTo>
                  <a:lnTo>
                    <a:pt x="106680" y="662940"/>
                  </a:lnTo>
                  <a:lnTo>
                    <a:pt x="106680" y="388620"/>
                  </a:lnTo>
                  <a:lnTo>
                    <a:pt x="106680" y="381000"/>
                  </a:lnTo>
                  <a:lnTo>
                    <a:pt x="106680" y="106680"/>
                  </a:lnTo>
                  <a:close/>
                </a:path>
                <a:path w="777239" h="1424939">
                  <a:moveTo>
                    <a:pt x="716280" y="1375410"/>
                  </a:moveTo>
                  <a:lnTo>
                    <a:pt x="666750" y="1325880"/>
                  </a:lnTo>
                  <a:lnTo>
                    <a:pt x="388620" y="1325880"/>
                  </a:lnTo>
                  <a:lnTo>
                    <a:pt x="381000" y="1325880"/>
                  </a:lnTo>
                  <a:lnTo>
                    <a:pt x="110490" y="1325880"/>
                  </a:lnTo>
                  <a:lnTo>
                    <a:pt x="60960" y="1375410"/>
                  </a:lnTo>
                  <a:lnTo>
                    <a:pt x="11049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6750" y="1424940"/>
                  </a:lnTo>
                  <a:lnTo>
                    <a:pt x="716280" y="1375410"/>
                  </a:lnTo>
                  <a:close/>
                </a:path>
                <a:path w="777239" h="1424939">
                  <a:moveTo>
                    <a:pt x="716280" y="53340"/>
                  </a:moveTo>
                  <a:lnTo>
                    <a:pt x="66294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14300" y="0"/>
                  </a:lnTo>
                  <a:lnTo>
                    <a:pt x="60960" y="53340"/>
                  </a:lnTo>
                  <a:lnTo>
                    <a:pt x="114300" y="106680"/>
                  </a:lnTo>
                  <a:lnTo>
                    <a:pt x="381000" y="106680"/>
                  </a:lnTo>
                  <a:lnTo>
                    <a:pt x="388620" y="106680"/>
                  </a:lnTo>
                  <a:lnTo>
                    <a:pt x="662940" y="106680"/>
                  </a:lnTo>
                  <a:lnTo>
                    <a:pt x="716280" y="53340"/>
                  </a:lnTo>
                  <a:close/>
                </a:path>
                <a:path w="777239" h="1424939">
                  <a:moveTo>
                    <a:pt x="769620" y="114300"/>
                  </a:moveTo>
                  <a:lnTo>
                    <a:pt x="716280" y="60960"/>
                  </a:lnTo>
                  <a:lnTo>
                    <a:pt x="662940" y="114300"/>
                  </a:lnTo>
                  <a:lnTo>
                    <a:pt x="662940" y="381000"/>
                  </a:lnTo>
                  <a:lnTo>
                    <a:pt x="662940" y="396240"/>
                  </a:lnTo>
                  <a:lnTo>
                    <a:pt x="662940" y="662940"/>
                  </a:lnTo>
                  <a:lnTo>
                    <a:pt x="388620" y="662940"/>
                  </a:lnTo>
                  <a:lnTo>
                    <a:pt x="381000" y="662940"/>
                  </a:lnTo>
                  <a:lnTo>
                    <a:pt x="110490" y="662940"/>
                  </a:lnTo>
                  <a:lnTo>
                    <a:pt x="60960" y="712470"/>
                  </a:lnTo>
                  <a:lnTo>
                    <a:pt x="11049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6750" y="762000"/>
                  </a:lnTo>
                  <a:lnTo>
                    <a:pt x="714375" y="714375"/>
                  </a:lnTo>
                  <a:lnTo>
                    <a:pt x="716280" y="716280"/>
                  </a:lnTo>
                  <a:lnTo>
                    <a:pt x="769620" y="662940"/>
                  </a:lnTo>
                  <a:lnTo>
                    <a:pt x="769620" y="396240"/>
                  </a:lnTo>
                  <a:lnTo>
                    <a:pt x="769620" y="381000"/>
                  </a:lnTo>
                  <a:lnTo>
                    <a:pt x="769620" y="114300"/>
                  </a:lnTo>
                  <a:close/>
                </a:path>
                <a:path w="777239" h="1424939">
                  <a:moveTo>
                    <a:pt x="777240" y="769620"/>
                  </a:moveTo>
                  <a:lnTo>
                    <a:pt x="723900" y="716280"/>
                  </a:lnTo>
                  <a:lnTo>
                    <a:pt x="670560" y="769620"/>
                  </a:lnTo>
                  <a:lnTo>
                    <a:pt x="670560" y="1043940"/>
                  </a:lnTo>
                  <a:lnTo>
                    <a:pt x="670560" y="1051560"/>
                  </a:lnTo>
                  <a:lnTo>
                    <a:pt x="670560" y="1325880"/>
                  </a:lnTo>
                  <a:lnTo>
                    <a:pt x="723900" y="1379220"/>
                  </a:lnTo>
                  <a:lnTo>
                    <a:pt x="777240" y="1325880"/>
                  </a:lnTo>
                  <a:lnTo>
                    <a:pt x="777240" y="1051560"/>
                  </a:lnTo>
                  <a:lnTo>
                    <a:pt x="777240" y="1043940"/>
                  </a:lnTo>
                  <a:lnTo>
                    <a:pt x="77724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649979" y="3329940"/>
            <a:ext cx="769620" cy="1424940"/>
            <a:chOff x="3649979" y="3329940"/>
            <a:chExt cx="769620" cy="142494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9" y="3329940"/>
              <a:ext cx="754379" cy="142494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49980" y="3329940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758190"/>
                  </a:moveTo>
                  <a:lnTo>
                    <a:pt x="49530" y="708660"/>
                  </a:lnTo>
                  <a:lnTo>
                    <a:pt x="0" y="75819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58190"/>
                  </a:lnTo>
                  <a:close/>
                </a:path>
                <a:path w="769620" h="1424939">
                  <a:moveTo>
                    <a:pt x="99060" y="102870"/>
                  </a:moveTo>
                  <a:lnTo>
                    <a:pt x="49530" y="53340"/>
                  </a:lnTo>
                  <a:lnTo>
                    <a:pt x="0" y="10287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9130"/>
                  </a:lnTo>
                  <a:lnTo>
                    <a:pt x="49530" y="708660"/>
                  </a:lnTo>
                  <a:lnTo>
                    <a:pt x="99060" y="659130"/>
                  </a:lnTo>
                  <a:lnTo>
                    <a:pt x="99060" y="388620"/>
                  </a:lnTo>
                  <a:lnTo>
                    <a:pt x="99060" y="373380"/>
                  </a:lnTo>
                  <a:lnTo>
                    <a:pt x="99060" y="102870"/>
                  </a:lnTo>
                  <a:close/>
                </a:path>
                <a:path w="769620" h="1424939">
                  <a:moveTo>
                    <a:pt x="708660" y="1371600"/>
                  </a:moveTo>
                  <a:lnTo>
                    <a:pt x="655320" y="1318260"/>
                  </a:lnTo>
                  <a:lnTo>
                    <a:pt x="388620" y="1318260"/>
                  </a:lnTo>
                  <a:lnTo>
                    <a:pt x="373380" y="1318260"/>
                  </a:lnTo>
                  <a:lnTo>
                    <a:pt x="10668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73380" y="1424940"/>
                  </a:lnTo>
                  <a:lnTo>
                    <a:pt x="388620" y="1424940"/>
                  </a:lnTo>
                  <a:lnTo>
                    <a:pt x="655320" y="1424940"/>
                  </a:lnTo>
                  <a:lnTo>
                    <a:pt x="708660" y="1371600"/>
                  </a:lnTo>
                  <a:close/>
                </a:path>
                <a:path w="769620" h="1424939">
                  <a:moveTo>
                    <a:pt x="708660" y="708660"/>
                  </a:moveTo>
                  <a:lnTo>
                    <a:pt x="655320" y="655320"/>
                  </a:lnTo>
                  <a:lnTo>
                    <a:pt x="388620" y="655320"/>
                  </a:lnTo>
                  <a:lnTo>
                    <a:pt x="373380" y="655320"/>
                  </a:lnTo>
                  <a:lnTo>
                    <a:pt x="106680" y="655320"/>
                  </a:lnTo>
                  <a:lnTo>
                    <a:pt x="53340" y="708660"/>
                  </a:lnTo>
                  <a:lnTo>
                    <a:pt x="106680" y="762000"/>
                  </a:lnTo>
                  <a:lnTo>
                    <a:pt x="373380" y="762000"/>
                  </a:lnTo>
                  <a:lnTo>
                    <a:pt x="388620" y="762000"/>
                  </a:lnTo>
                  <a:lnTo>
                    <a:pt x="655320" y="762000"/>
                  </a:lnTo>
                  <a:lnTo>
                    <a:pt x="708660" y="708660"/>
                  </a:lnTo>
                  <a:close/>
                </a:path>
                <a:path w="769620" h="1424939">
                  <a:moveTo>
                    <a:pt x="708660" y="49530"/>
                  </a:moveTo>
                  <a:lnTo>
                    <a:pt x="659130" y="0"/>
                  </a:lnTo>
                  <a:lnTo>
                    <a:pt x="388620" y="0"/>
                  </a:lnTo>
                  <a:lnTo>
                    <a:pt x="37338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73380" y="99060"/>
                  </a:lnTo>
                  <a:lnTo>
                    <a:pt x="388620" y="99060"/>
                  </a:lnTo>
                  <a:lnTo>
                    <a:pt x="659130" y="99060"/>
                  </a:lnTo>
                  <a:lnTo>
                    <a:pt x="708660" y="49530"/>
                  </a:lnTo>
                  <a:close/>
                </a:path>
                <a:path w="769620" h="1424939">
                  <a:moveTo>
                    <a:pt x="762000" y="102870"/>
                  </a:moveTo>
                  <a:lnTo>
                    <a:pt x="712470" y="53340"/>
                  </a:lnTo>
                  <a:lnTo>
                    <a:pt x="662940" y="10287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59130"/>
                  </a:lnTo>
                  <a:lnTo>
                    <a:pt x="712470" y="708660"/>
                  </a:lnTo>
                  <a:lnTo>
                    <a:pt x="762000" y="659130"/>
                  </a:lnTo>
                  <a:lnTo>
                    <a:pt x="762000" y="388620"/>
                  </a:lnTo>
                  <a:lnTo>
                    <a:pt x="762000" y="381000"/>
                  </a:lnTo>
                  <a:lnTo>
                    <a:pt x="762000" y="102870"/>
                  </a:lnTo>
                  <a:close/>
                </a:path>
                <a:path w="769620" h="1424939">
                  <a:moveTo>
                    <a:pt x="769620" y="769620"/>
                  </a:moveTo>
                  <a:lnTo>
                    <a:pt x="716280" y="716280"/>
                  </a:lnTo>
                  <a:lnTo>
                    <a:pt x="662940" y="769620"/>
                  </a:lnTo>
                  <a:lnTo>
                    <a:pt x="662940" y="1036320"/>
                  </a:lnTo>
                  <a:lnTo>
                    <a:pt x="662940" y="1051560"/>
                  </a:lnTo>
                  <a:lnTo>
                    <a:pt x="662940" y="1318260"/>
                  </a:lnTo>
                  <a:lnTo>
                    <a:pt x="716280" y="1371600"/>
                  </a:lnTo>
                  <a:lnTo>
                    <a:pt x="769620" y="131826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962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838700" y="3329940"/>
            <a:ext cx="769620" cy="1424940"/>
            <a:chOff x="4838700" y="3329940"/>
            <a:chExt cx="769620" cy="142494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6320" y="3329940"/>
              <a:ext cx="754379" cy="142494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838700" y="3329940"/>
              <a:ext cx="769620" cy="1424940"/>
            </a:xfrm>
            <a:custGeom>
              <a:avLst/>
              <a:gdLst/>
              <a:ahLst/>
              <a:cxnLst/>
              <a:rect l="l" t="t" r="r" b="b"/>
              <a:pathLst>
                <a:path w="769620" h="1424939">
                  <a:moveTo>
                    <a:pt x="99060" y="758190"/>
                  </a:moveTo>
                  <a:lnTo>
                    <a:pt x="49530" y="708660"/>
                  </a:lnTo>
                  <a:lnTo>
                    <a:pt x="0" y="758190"/>
                  </a:lnTo>
                  <a:lnTo>
                    <a:pt x="0" y="1036320"/>
                  </a:lnTo>
                  <a:lnTo>
                    <a:pt x="0" y="1043940"/>
                  </a:lnTo>
                  <a:lnTo>
                    <a:pt x="0" y="1322070"/>
                  </a:lnTo>
                  <a:lnTo>
                    <a:pt x="49530" y="1371600"/>
                  </a:lnTo>
                  <a:lnTo>
                    <a:pt x="99060" y="1322070"/>
                  </a:lnTo>
                  <a:lnTo>
                    <a:pt x="99060" y="1043940"/>
                  </a:lnTo>
                  <a:lnTo>
                    <a:pt x="99060" y="1036320"/>
                  </a:lnTo>
                  <a:lnTo>
                    <a:pt x="99060" y="758190"/>
                  </a:lnTo>
                  <a:close/>
                </a:path>
                <a:path w="769620" h="1424939">
                  <a:moveTo>
                    <a:pt x="716280" y="1371600"/>
                  </a:moveTo>
                  <a:lnTo>
                    <a:pt x="662940" y="1318260"/>
                  </a:lnTo>
                  <a:lnTo>
                    <a:pt x="388620" y="1318260"/>
                  </a:lnTo>
                  <a:lnTo>
                    <a:pt x="381000" y="1318260"/>
                  </a:lnTo>
                  <a:lnTo>
                    <a:pt x="106680" y="1318260"/>
                  </a:lnTo>
                  <a:lnTo>
                    <a:pt x="53340" y="1371600"/>
                  </a:lnTo>
                  <a:lnTo>
                    <a:pt x="106680" y="1424940"/>
                  </a:lnTo>
                  <a:lnTo>
                    <a:pt x="381000" y="1424940"/>
                  </a:lnTo>
                  <a:lnTo>
                    <a:pt x="388620" y="1424940"/>
                  </a:lnTo>
                  <a:lnTo>
                    <a:pt x="662940" y="1424940"/>
                  </a:lnTo>
                  <a:lnTo>
                    <a:pt x="716280" y="1371600"/>
                  </a:lnTo>
                  <a:close/>
                </a:path>
                <a:path w="769620" h="1424939">
                  <a:moveTo>
                    <a:pt x="762000" y="102870"/>
                  </a:moveTo>
                  <a:lnTo>
                    <a:pt x="712470" y="53340"/>
                  </a:lnTo>
                  <a:lnTo>
                    <a:pt x="716280" y="49530"/>
                  </a:lnTo>
                  <a:lnTo>
                    <a:pt x="666750" y="0"/>
                  </a:lnTo>
                  <a:lnTo>
                    <a:pt x="388620" y="0"/>
                  </a:lnTo>
                  <a:lnTo>
                    <a:pt x="381000" y="0"/>
                  </a:lnTo>
                  <a:lnTo>
                    <a:pt x="102870" y="0"/>
                  </a:lnTo>
                  <a:lnTo>
                    <a:pt x="53340" y="49530"/>
                  </a:lnTo>
                  <a:lnTo>
                    <a:pt x="102870" y="99060"/>
                  </a:lnTo>
                  <a:lnTo>
                    <a:pt x="381000" y="99060"/>
                  </a:lnTo>
                  <a:lnTo>
                    <a:pt x="388620" y="99060"/>
                  </a:lnTo>
                  <a:lnTo>
                    <a:pt x="666750" y="99060"/>
                  </a:lnTo>
                  <a:lnTo>
                    <a:pt x="662940" y="102870"/>
                  </a:lnTo>
                  <a:lnTo>
                    <a:pt x="662940" y="381000"/>
                  </a:lnTo>
                  <a:lnTo>
                    <a:pt x="662940" y="388620"/>
                  </a:lnTo>
                  <a:lnTo>
                    <a:pt x="662940" y="655320"/>
                  </a:lnTo>
                  <a:lnTo>
                    <a:pt x="388620" y="655320"/>
                  </a:lnTo>
                  <a:lnTo>
                    <a:pt x="381000" y="655320"/>
                  </a:lnTo>
                  <a:lnTo>
                    <a:pt x="106680" y="655320"/>
                  </a:lnTo>
                  <a:lnTo>
                    <a:pt x="106680" y="388620"/>
                  </a:lnTo>
                  <a:lnTo>
                    <a:pt x="106680" y="373380"/>
                  </a:lnTo>
                  <a:lnTo>
                    <a:pt x="106680" y="106680"/>
                  </a:lnTo>
                  <a:lnTo>
                    <a:pt x="53340" y="53340"/>
                  </a:lnTo>
                  <a:lnTo>
                    <a:pt x="0" y="106680"/>
                  </a:lnTo>
                  <a:lnTo>
                    <a:pt x="0" y="373380"/>
                  </a:lnTo>
                  <a:lnTo>
                    <a:pt x="0" y="388620"/>
                  </a:lnTo>
                  <a:lnTo>
                    <a:pt x="0" y="655320"/>
                  </a:lnTo>
                  <a:lnTo>
                    <a:pt x="53340" y="708660"/>
                  </a:lnTo>
                  <a:lnTo>
                    <a:pt x="106680" y="762000"/>
                  </a:lnTo>
                  <a:lnTo>
                    <a:pt x="381000" y="762000"/>
                  </a:lnTo>
                  <a:lnTo>
                    <a:pt x="388620" y="762000"/>
                  </a:lnTo>
                  <a:lnTo>
                    <a:pt x="662940" y="762000"/>
                  </a:lnTo>
                  <a:lnTo>
                    <a:pt x="716280" y="708660"/>
                  </a:lnTo>
                  <a:lnTo>
                    <a:pt x="714375" y="706755"/>
                  </a:lnTo>
                  <a:lnTo>
                    <a:pt x="762000" y="659130"/>
                  </a:lnTo>
                  <a:lnTo>
                    <a:pt x="762000" y="388620"/>
                  </a:lnTo>
                  <a:lnTo>
                    <a:pt x="762000" y="381000"/>
                  </a:lnTo>
                  <a:lnTo>
                    <a:pt x="762000" y="102870"/>
                  </a:lnTo>
                  <a:close/>
                </a:path>
                <a:path w="769620" h="1424939">
                  <a:moveTo>
                    <a:pt x="769620" y="765810"/>
                  </a:moveTo>
                  <a:lnTo>
                    <a:pt x="720090" y="716280"/>
                  </a:lnTo>
                  <a:lnTo>
                    <a:pt x="670560" y="765810"/>
                  </a:lnTo>
                  <a:lnTo>
                    <a:pt x="670560" y="1036320"/>
                  </a:lnTo>
                  <a:lnTo>
                    <a:pt x="670560" y="1051560"/>
                  </a:lnTo>
                  <a:lnTo>
                    <a:pt x="670560" y="1322070"/>
                  </a:lnTo>
                  <a:lnTo>
                    <a:pt x="720090" y="1371600"/>
                  </a:lnTo>
                  <a:lnTo>
                    <a:pt x="769620" y="1322070"/>
                  </a:lnTo>
                  <a:lnTo>
                    <a:pt x="769620" y="1051560"/>
                  </a:lnTo>
                  <a:lnTo>
                    <a:pt x="769620" y="1036320"/>
                  </a:lnTo>
                  <a:lnTo>
                    <a:pt x="769620" y="76581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6095" y="3032760"/>
            <a:ext cx="306197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spc="5" dirty="0">
                <a:solidFill>
                  <a:srgbClr val="E82728"/>
                </a:solidFill>
                <a:latin typeface="Verdana"/>
                <a:cs typeface="Verdana"/>
              </a:rPr>
              <a:t>THANK</a:t>
            </a:r>
            <a:r>
              <a:rPr sz="4000" spc="-125" dirty="0">
                <a:solidFill>
                  <a:srgbClr val="E82728"/>
                </a:solidFill>
                <a:latin typeface="Verdana"/>
                <a:cs typeface="Verdana"/>
              </a:rPr>
              <a:t> </a:t>
            </a:r>
            <a:r>
              <a:rPr sz="4000" spc="-5" dirty="0">
                <a:solidFill>
                  <a:srgbClr val="E82728"/>
                </a:solidFill>
                <a:latin typeface="Verdana"/>
                <a:cs typeface="Verdana"/>
              </a:rPr>
              <a:t>YOU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0404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1122</Words>
  <Application>Microsoft Office PowerPoint</Application>
  <PresentationFormat>On-screen Show (16:9)</PresentationFormat>
  <Paragraphs>354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 MT</vt:lpstr>
      <vt:lpstr>Calibri</vt:lpstr>
      <vt:lpstr>Times New Roman</vt:lpstr>
      <vt:lpstr>Verdana</vt:lpstr>
      <vt:lpstr>Wingdings</vt:lpstr>
      <vt:lpstr>Office Theme</vt:lpstr>
      <vt:lpstr>CLASS 4</vt:lpstr>
      <vt:lpstr>CLASS 3 REVIEW</vt:lpstr>
      <vt:lpstr>PORTB</vt:lpstr>
      <vt:lpstr>TURN LEDs ON AND OFF</vt:lpstr>
      <vt:lpstr>PORTB</vt:lpstr>
      <vt:lpstr>PowerPoint Presentation</vt:lpstr>
      <vt:lpstr>PORTB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4</vt:lpstr>
      <vt:lpstr>TURN LEDS ON AND OFF</vt:lpstr>
      <vt:lpstr>PowerPoint Presentation</vt:lpstr>
      <vt:lpstr>PowerPoint Presentation</vt:lpstr>
      <vt:lpstr>7-SEGMENT DISPLAY</vt:lpstr>
      <vt:lpstr>PowerPoint Presentation</vt:lpstr>
      <vt:lpstr>7-SEGMENT DISPLAY</vt:lpstr>
      <vt:lpstr>7-SEGMENT DISPLAY</vt:lpstr>
      <vt:lpstr>7-SEGMENT DISPLAY</vt:lpstr>
      <vt:lpstr>PowerPoint Presentation</vt:lpstr>
      <vt:lpstr>7-SEGMENT DISPLAY</vt:lpstr>
      <vt:lpstr>PowerPoint Presentation</vt:lpstr>
      <vt:lpstr>7-SEGMENT DISPLAY</vt:lpstr>
      <vt:lpstr>7-SEGMENT DISPLAY</vt:lpstr>
      <vt:lpstr>7-SEGMENT DISPLAY</vt:lpstr>
      <vt:lpstr>7-SEGMENT DISPLAY</vt:lpstr>
      <vt:lpstr>CENTRAL PROCESSING UNIT</vt:lpstr>
      <vt:lpstr>CPU</vt:lpstr>
      <vt:lpstr>INTEL PENTIUM</vt:lpstr>
      <vt:lpstr>CENTRAL PROCESSING UNIT</vt:lpstr>
      <vt:lpstr>WHAT DOES THE CPU DO?</vt:lpstr>
      <vt:lpstr>WHAT DOES THE CPU DO?</vt:lpstr>
      <vt:lpstr>WHAT DOES THE CPU DO?</vt:lpstr>
      <vt:lpstr>PowerPoint Presentation</vt:lpstr>
      <vt:lpstr>PowerPoint Presentation</vt:lpstr>
      <vt:lpstr>INTEL 4004</vt:lpstr>
      <vt:lpstr>PowerPoint Presentation</vt:lpstr>
      <vt:lpstr>2019</vt:lpstr>
      <vt:lpstr>Intel Core i9-9900KS Processor  18 Billion Transistors</vt:lpstr>
      <vt:lpstr>PowerPoint Presentation</vt:lpstr>
      <vt:lpstr>COMPONENTS OF THE CPU</vt:lpstr>
      <vt:lpstr>COMPONENTS OF THE CPU</vt:lpstr>
      <vt:lpstr>COMPONENTS OF THE CPU</vt:lpstr>
      <vt:lpstr>MACHINE CYCLE</vt:lpstr>
      <vt:lpstr>CONTROL UNIT</vt:lpstr>
      <vt:lpstr>CONTROL UNIT</vt:lpstr>
      <vt:lpstr>ARITHMETIC LOGIC UNIT</vt:lpstr>
      <vt:lpstr>HOW FAST DOES A CPU TRANSFER DATA?</vt:lpstr>
      <vt:lpstr>CPU TRANSFER DATA SPEED</vt:lpstr>
      <vt:lpstr>CPU TRANSFER DATA SPEED</vt:lpstr>
      <vt:lpstr>PowerPoint Presentation</vt:lpstr>
      <vt:lpstr>CPU CLOCK SPEED</vt:lpstr>
      <vt:lpstr>CPU CORES</vt:lpstr>
      <vt:lpstr>MPU ARCHITECTURE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hiba-hassan 123456</dc:creator>
  <cp:lastModifiedBy>Ahmed Donkol</cp:lastModifiedBy>
  <cp:revision>6</cp:revision>
  <dcterms:created xsi:type="dcterms:W3CDTF">2022-02-22T05:43:49Z</dcterms:created>
  <dcterms:modified xsi:type="dcterms:W3CDTF">2023-10-11T13:02:19Z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2022-02-22T00:00:00Z</vt:filetime>
  </property>
</Properties>
</file>