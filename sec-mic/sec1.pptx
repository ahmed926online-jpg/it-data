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92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96665" y="788670"/>
            <a:ext cx="2550668" cy="694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15" dirty="0"/>
              <a:t>C</a:t>
            </a:r>
            <a:r>
              <a:rPr spc="20" dirty="0"/>
              <a:t>o</a:t>
            </a:r>
            <a:r>
              <a:rPr spc="25" dirty="0"/>
              <a:t>p</a:t>
            </a:r>
            <a:r>
              <a:rPr spc="-5" dirty="0"/>
              <a:t>y</a:t>
            </a:r>
            <a:r>
              <a:rPr dirty="0"/>
              <a:t>r</a:t>
            </a:r>
            <a:r>
              <a:rPr spc="20" dirty="0"/>
              <a:t>i</a:t>
            </a:r>
            <a:r>
              <a:rPr spc="-30" dirty="0"/>
              <a:t>g</a:t>
            </a:r>
            <a:r>
              <a:rPr spc="25" dirty="0"/>
              <a:t>h</a:t>
            </a:r>
            <a:r>
              <a:rPr dirty="0"/>
              <a:t>t</a:t>
            </a:r>
            <a:r>
              <a:rPr spc="-65" dirty="0"/>
              <a:t> </a:t>
            </a:r>
            <a:r>
              <a:rPr spc="-600" dirty="0"/>
              <a:t>©️</a:t>
            </a:r>
            <a:r>
              <a:rPr spc="45" dirty="0"/>
              <a:t> </a:t>
            </a:r>
            <a:r>
              <a:rPr spc="25" dirty="0"/>
              <a:t>A</a:t>
            </a:r>
            <a:r>
              <a:rPr dirty="0"/>
              <a:t>mer</a:t>
            </a:r>
            <a:r>
              <a:rPr spc="20" dirty="0"/>
              <a:t>i</a:t>
            </a:r>
            <a:r>
              <a:rPr spc="-30" dirty="0"/>
              <a:t>c</a:t>
            </a:r>
            <a:r>
              <a:rPr spc="25" dirty="0"/>
              <a:t>a</a:t>
            </a:r>
            <a:r>
              <a:rPr dirty="0"/>
              <a:t>n</a:t>
            </a:r>
            <a:r>
              <a:rPr spc="-65" dirty="0"/>
              <a:t> </a:t>
            </a:r>
            <a:r>
              <a:rPr spc="20" dirty="0"/>
              <a:t>C</a:t>
            </a:r>
            <a:r>
              <a:rPr spc="25" dirty="0"/>
              <a:t>o</a:t>
            </a:r>
            <a:r>
              <a:rPr spc="20" dirty="0"/>
              <a:t>ll</a:t>
            </a:r>
            <a:r>
              <a:rPr dirty="0"/>
              <a:t>e</a:t>
            </a:r>
            <a:r>
              <a:rPr spc="-25" dirty="0"/>
              <a:t>g</a:t>
            </a:r>
            <a:r>
              <a:rPr dirty="0"/>
              <a:t>e</a:t>
            </a:r>
            <a:r>
              <a:rPr spc="-90" dirty="0"/>
              <a:t> </a:t>
            </a:r>
            <a:r>
              <a:rPr spc="25" dirty="0"/>
              <a:t>o</a:t>
            </a:r>
            <a:r>
              <a:rPr dirty="0"/>
              <a:t>f</a:t>
            </a:r>
            <a:r>
              <a:rPr spc="-100" dirty="0"/>
              <a:t> </a:t>
            </a:r>
            <a:r>
              <a:rPr spc="15" dirty="0"/>
              <a:t>t</a:t>
            </a:r>
            <a:r>
              <a:rPr spc="25" dirty="0"/>
              <a:t>h</a:t>
            </a:r>
            <a:r>
              <a:rPr dirty="0"/>
              <a:t>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M</a:t>
            </a:r>
            <a:r>
              <a:rPr spc="20" dirty="0"/>
              <a:t>i</a:t>
            </a:r>
            <a:r>
              <a:rPr spc="25" dirty="0"/>
              <a:t>dd</a:t>
            </a:r>
            <a:r>
              <a:rPr spc="20" dirty="0"/>
              <a:t>l</a:t>
            </a:r>
            <a:r>
              <a:rPr dirty="0"/>
              <a:t>e</a:t>
            </a:r>
            <a:r>
              <a:rPr spc="-90" dirty="0"/>
              <a:t> </a:t>
            </a:r>
            <a:r>
              <a:rPr spc="10" dirty="0"/>
              <a:t>E</a:t>
            </a:r>
            <a:r>
              <a:rPr spc="20" dirty="0"/>
              <a:t>a</a:t>
            </a:r>
            <a:r>
              <a:rPr spc="5" dirty="0"/>
              <a:t>s</a:t>
            </a:r>
            <a:r>
              <a:rPr spc="15" dirty="0"/>
              <a:t>t</a:t>
            </a:r>
            <a:r>
              <a:rPr dirty="0"/>
              <a:t>.</a:t>
            </a:r>
            <a:r>
              <a:rPr spc="-80" dirty="0"/>
              <a:t> </a:t>
            </a:r>
            <a:r>
              <a:rPr spc="-10" dirty="0"/>
              <a:t>2020</a:t>
            </a:r>
            <a:r>
              <a:rPr dirty="0"/>
              <a:t>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E8272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0404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15" dirty="0"/>
              <a:t>C</a:t>
            </a:r>
            <a:r>
              <a:rPr spc="20" dirty="0"/>
              <a:t>o</a:t>
            </a:r>
            <a:r>
              <a:rPr spc="25" dirty="0"/>
              <a:t>p</a:t>
            </a:r>
            <a:r>
              <a:rPr spc="-5" dirty="0"/>
              <a:t>y</a:t>
            </a:r>
            <a:r>
              <a:rPr dirty="0"/>
              <a:t>r</a:t>
            </a:r>
            <a:r>
              <a:rPr spc="20" dirty="0"/>
              <a:t>i</a:t>
            </a:r>
            <a:r>
              <a:rPr spc="-30" dirty="0"/>
              <a:t>g</a:t>
            </a:r>
            <a:r>
              <a:rPr spc="25" dirty="0"/>
              <a:t>h</a:t>
            </a:r>
            <a:r>
              <a:rPr dirty="0"/>
              <a:t>t</a:t>
            </a:r>
            <a:r>
              <a:rPr spc="-65" dirty="0"/>
              <a:t> </a:t>
            </a:r>
            <a:r>
              <a:rPr spc="-600" dirty="0"/>
              <a:t>©️</a:t>
            </a:r>
            <a:r>
              <a:rPr spc="45" dirty="0"/>
              <a:t> </a:t>
            </a:r>
            <a:r>
              <a:rPr spc="25" dirty="0"/>
              <a:t>A</a:t>
            </a:r>
            <a:r>
              <a:rPr dirty="0"/>
              <a:t>mer</a:t>
            </a:r>
            <a:r>
              <a:rPr spc="20" dirty="0"/>
              <a:t>i</a:t>
            </a:r>
            <a:r>
              <a:rPr spc="-30" dirty="0"/>
              <a:t>c</a:t>
            </a:r>
            <a:r>
              <a:rPr spc="25" dirty="0"/>
              <a:t>a</a:t>
            </a:r>
            <a:r>
              <a:rPr dirty="0"/>
              <a:t>n</a:t>
            </a:r>
            <a:r>
              <a:rPr spc="-65" dirty="0"/>
              <a:t> </a:t>
            </a:r>
            <a:r>
              <a:rPr spc="20" dirty="0"/>
              <a:t>C</a:t>
            </a:r>
            <a:r>
              <a:rPr spc="25" dirty="0"/>
              <a:t>o</a:t>
            </a:r>
            <a:r>
              <a:rPr spc="20" dirty="0"/>
              <a:t>ll</a:t>
            </a:r>
            <a:r>
              <a:rPr dirty="0"/>
              <a:t>e</a:t>
            </a:r>
            <a:r>
              <a:rPr spc="-25" dirty="0"/>
              <a:t>g</a:t>
            </a:r>
            <a:r>
              <a:rPr dirty="0"/>
              <a:t>e</a:t>
            </a:r>
            <a:r>
              <a:rPr spc="-90" dirty="0"/>
              <a:t> </a:t>
            </a:r>
            <a:r>
              <a:rPr spc="25" dirty="0"/>
              <a:t>o</a:t>
            </a:r>
            <a:r>
              <a:rPr dirty="0"/>
              <a:t>f</a:t>
            </a:r>
            <a:r>
              <a:rPr spc="-100" dirty="0"/>
              <a:t> </a:t>
            </a:r>
            <a:r>
              <a:rPr spc="15" dirty="0"/>
              <a:t>t</a:t>
            </a:r>
            <a:r>
              <a:rPr spc="25" dirty="0"/>
              <a:t>h</a:t>
            </a:r>
            <a:r>
              <a:rPr dirty="0"/>
              <a:t>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M</a:t>
            </a:r>
            <a:r>
              <a:rPr spc="20" dirty="0"/>
              <a:t>i</a:t>
            </a:r>
            <a:r>
              <a:rPr spc="25" dirty="0"/>
              <a:t>dd</a:t>
            </a:r>
            <a:r>
              <a:rPr spc="20" dirty="0"/>
              <a:t>l</a:t>
            </a:r>
            <a:r>
              <a:rPr dirty="0"/>
              <a:t>e</a:t>
            </a:r>
            <a:r>
              <a:rPr spc="-90" dirty="0"/>
              <a:t> </a:t>
            </a:r>
            <a:r>
              <a:rPr spc="10" dirty="0"/>
              <a:t>E</a:t>
            </a:r>
            <a:r>
              <a:rPr spc="20" dirty="0"/>
              <a:t>a</a:t>
            </a:r>
            <a:r>
              <a:rPr spc="5" dirty="0"/>
              <a:t>s</a:t>
            </a:r>
            <a:r>
              <a:rPr spc="15" dirty="0"/>
              <a:t>t</a:t>
            </a:r>
            <a:r>
              <a:rPr dirty="0"/>
              <a:t>.</a:t>
            </a:r>
            <a:r>
              <a:rPr spc="-80" dirty="0"/>
              <a:t> </a:t>
            </a:r>
            <a:r>
              <a:rPr spc="-10" dirty="0"/>
              <a:t>2020</a:t>
            </a:r>
            <a:r>
              <a:rPr dirty="0"/>
              <a:t>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E8272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15" dirty="0"/>
              <a:t>C</a:t>
            </a:r>
            <a:r>
              <a:rPr spc="20" dirty="0"/>
              <a:t>o</a:t>
            </a:r>
            <a:r>
              <a:rPr spc="25" dirty="0"/>
              <a:t>p</a:t>
            </a:r>
            <a:r>
              <a:rPr spc="-5" dirty="0"/>
              <a:t>y</a:t>
            </a:r>
            <a:r>
              <a:rPr dirty="0"/>
              <a:t>r</a:t>
            </a:r>
            <a:r>
              <a:rPr spc="20" dirty="0"/>
              <a:t>i</a:t>
            </a:r>
            <a:r>
              <a:rPr spc="-30" dirty="0"/>
              <a:t>g</a:t>
            </a:r>
            <a:r>
              <a:rPr spc="25" dirty="0"/>
              <a:t>h</a:t>
            </a:r>
            <a:r>
              <a:rPr dirty="0"/>
              <a:t>t</a:t>
            </a:r>
            <a:r>
              <a:rPr spc="-65" dirty="0"/>
              <a:t> </a:t>
            </a:r>
            <a:r>
              <a:rPr spc="-600" dirty="0"/>
              <a:t>©️</a:t>
            </a:r>
            <a:r>
              <a:rPr spc="45" dirty="0"/>
              <a:t> </a:t>
            </a:r>
            <a:r>
              <a:rPr spc="25" dirty="0"/>
              <a:t>A</a:t>
            </a:r>
            <a:r>
              <a:rPr dirty="0"/>
              <a:t>mer</a:t>
            </a:r>
            <a:r>
              <a:rPr spc="20" dirty="0"/>
              <a:t>i</a:t>
            </a:r>
            <a:r>
              <a:rPr spc="-30" dirty="0"/>
              <a:t>c</a:t>
            </a:r>
            <a:r>
              <a:rPr spc="25" dirty="0"/>
              <a:t>a</a:t>
            </a:r>
            <a:r>
              <a:rPr dirty="0"/>
              <a:t>n</a:t>
            </a:r>
            <a:r>
              <a:rPr spc="-65" dirty="0"/>
              <a:t> </a:t>
            </a:r>
            <a:r>
              <a:rPr spc="20" dirty="0"/>
              <a:t>C</a:t>
            </a:r>
            <a:r>
              <a:rPr spc="25" dirty="0"/>
              <a:t>o</a:t>
            </a:r>
            <a:r>
              <a:rPr spc="20" dirty="0"/>
              <a:t>ll</a:t>
            </a:r>
            <a:r>
              <a:rPr dirty="0"/>
              <a:t>e</a:t>
            </a:r>
            <a:r>
              <a:rPr spc="-25" dirty="0"/>
              <a:t>g</a:t>
            </a:r>
            <a:r>
              <a:rPr dirty="0"/>
              <a:t>e</a:t>
            </a:r>
            <a:r>
              <a:rPr spc="-90" dirty="0"/>
              <a:t> </a:t>
            </a:r>
            <a:r>
              <a:rPr spc="25" dirty="0"/>
              <a:t>o</a:t>
            </a:r>
            <a:r>
              <a:rPr dirty="0"/>
              <a:t>f</a:t>
            </a:r>
            <a:r>
              <a:rPr spc="-100" dirty="0"/>
              <a:t> </a:t>
            </a:r>
            <a:r>
              <a:rPr spc="15" dirty="0"/>
              <a:t>t</a:t>
            </a:r>
            <a:r>
              <a:rPr spc="25" dirty="0"/>
              <a:t>h</a:t>
            </a:r>
            <a:r>
              <a:rPr dirty="0"/>
              <a:t>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M</a:t>
            </a:r>
            <a:r>
              <a:rPr spc="20" dirty="0"/>
              <a:t>i</a:t>
            </a:r>
            <a:r>
              <a:rPr spc="25" dirty="0"/>
              <a:t>dd</a:t>
            </a:r>
            <a:r>
              <a:rPr spc="20" dirty="0"/>
              <a:t>l</a:t>
            </a:r>
            <a:r>
              <a:rPr dirty="0"/>
              <a:t>e</a:t>
            </a:r>
            <a:r>
              <a:rPr spc="-90" dirty="0"/>
              <a:t> </a:t>
            </a:r>
            <a:r>
              <a:rPr spc="10" dirty="0"/>
              <a:t>E</a:t>
            </a:r>
            <a:r>
              <a:rPr spc="20" dirty="0"/>
              <a:t>a</a:t>
            </a:r>
            <a:r>
              <a:rPr spc="5" dirty="0"/>
              <a:t>s</a:t>
            </a:r>
            <a:r>
              <a:rPr spc="15" dirty="0"/>
              <a:t>t</a:t>
            </a:r>
            <a:r>
              <a:rPr dirty="0"/>
              <a:t>.</a:t>
            </a:r>
            <a:r>
              <a:rPr spc="-80" dirty="0"/>
              <a:t> </a:t>
            </a:r>
            <a:r>
              <a:rPr spc="-10" dirty="0"/>
              <a:t>2020</a:t>
            </a:r>
            <a:r>
              <a:rPr dirty="0"/>
              <a:t>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E8272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15" dirty="0"/>
              <a:t>C</a:t>
            </a:r>
            <a:r>
              <a:rPr spc="20" dirty="0"/>
              <a:t>o</a:t>
            </a:r>
            <a:r>
              <a:rPr spc="25" dirty="0"/>
              <a:t>p</a:t>
            </a:r>
            <a:r>
              <a:rPr spc="-5" dirty="0"/>
              <a:t>y</a:t>
            </a:r>
            <a:r>
              <a:rPr dirty="0"/>
              <a:t>r</a:t>
            </a:r>
            <a:r>
              <a:rPr spc="20" dirty="0"/>
              <a:t>i</a:t>
            </a:r>
            <a:r>
              <a:rPr spc="-30" dirty="0"/>
              <a:t>g</a:t>
            </a:r>
            <a:r>
              <a:rPr spc="25" dirty="0"/>
              <a:t>h</a:t>
            </a:r>
            <a:r>
              <a:rPr dirty="0"/>
              <a:t>t</a:t>
            </a:r>
            <a:r>
              <a:rPr spc="-65" dirty="0"/>
              <a:t> </a:t>
            </a:r>
            <a:r>
              <a:rPr spc="-600" dirty="0"/>
              <a:t>©️</a:t>
            </a:r>
            <a:r>
              <a:rPr spc="45" dirty="0"/>
              <a:t> </a:t>
            </a:r>
            <a:r>
              <a:rPr spc="25" dirty="0"/>
              <a:t>A</a:t>
            </a:r>
            <a:r>
              <a:rPr dirty="0"/>
              <a:t>mer</a:t>
            </a:r>
            <a:r>
              <a:rPr spc="20" dirty="0"/>
              <a:t>i</a:t>
            </a:r>
            <a:r>
              <a:rPr spc="-30" dirty="0"/>
              <a:t>c</a:t>
            </a:r>
            <a:r>
              <a:rPr spc="25" dirty="0"/>
              <a:t>a</a:t>
            </a:r>
            <a:r>
              <a:rPr dirty="0"/>
              <a:t>n</a:t>
            </a:r>
            <a:r>
              <a:rPr spc="-65" dirty="0"/>
              <a:t> </a:t>
            </a:r>
            <a:r>
              <a:rPr spc="20" dirty="0"/>
              <a:t>C</a:t>
            </a:r>
            <a:r>
              <a:rPr spc="25" dirty="0"/>
              <a:t>o</a:t>
            </a:r>
            <a:r>
              <a:rPr spc="20" dirty="0"/>
              <a:t>ll</a:t>
            </a:r>
            <a:r>
              <a:rPr dirty="0"/>
              <a:t>e</a:t>
            </a:r>
            <a:r>
              <a:rPr spc="-25" dirty="0"/>
              <a:t>g</a:t>
            </a:r>
            <a:r>
              <a:rPr dirty="0"/>
              <a:t>e</a:t>
            </a:r>
            <a:r>
              <a:rPr spc="-90" dirty="0"/>
              <a:t> </a:t>
            </a:r>
            <a:r>
              <a:rPr spc="25" dirty="0"/>
              <a:t>o</a:t>
            </a:r>
            <a:r>
              <a:rPr dirty="0"/>
              <a:t>f</a:t>
            </a:r>
            <a:r>
              <a:rPr spc="-100" dirty="0"/>
              <a:t> </a:t>
            </a:r>
            <a:r>
              <a:rPr spc="15" dirty="0"/>
              <a:t>t</a:t>
            </a:r>
            <a:r>
              <a:rPr spc="25" dirty="0"/>
              <a:t>h</a:t>
            </a:r>
            <a:r>
              <a:rPr dirty="0"/>
              <a:t>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M</a:t>
            </a:r>
            <a:r>
              <a:rPr spc="20" dirty="0"/>
              <a:t>i</a:t>
            </a:r>
            <a:r>
              <a:rPr spc="25" dirty="0"/>
              <a:t>dd</a:t>
            </a:r>
            <a:r>
              <a:rPr spc="20" dirty="0"/>
              <a:t>l</a:t>
            </a:r>
            <a:r>
              <a:rPr dirty="0"/>
              <a:t>e</a:t>
            </a:r>
            <a:r>
              <a:rPr spc="-90" dirty="0"/>
              <a:t> </a:t>
            </a:r>
            <a:r>
              <a:rPr spc="10" dirty="0"/>
              <a:t>E</a:t>
            </a:r>
            <a:r>
              <a:rPr spc="20" dirty="0"/>
              <a:t>a</a:t>
            </a:r>
            <a:r>
              <a:rPr spc="5" dirty="0"/>
              <a:t>s</a:t>
            </a:r>
            <a:r>
              <a:rPr spc="15" dirty="0"/>
              <a:t>t</a:t>
            </a:r>
            <a:r>
              <a:rPr dirty="0"/>
              <a:t>.</a:t>
            </a:r>
            <a:r>
              <a:rPr spc="-80" dirty="0"/>
              <a:t> </a:t>
            </a:r>
            <a:r>
              <a:rPr spc="-10" dirty="0"/>
              <a:t>2020</a:t>
            </a:r>
            <a:r>
              <a:rPr dirty="0"/>
              <a:t>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15" dirty="0"/>
              <a:t>C</a:t>
            </a:r>
            <a:r>
              <a:rPr spc="20" dirty="0"/>
              <a:t>o</a:t>
            </a:r>
            <a:r>
              <a:rPr spc="25" dirty="0"/>
              <a:t>p</a:t>
            </a:r>
            <a:r>
              <a:rPr spc="-5" dirty="0"/>
              <a:t>y</a:t>
            </a:r>
            <a:r>
              <a:rPr dirty="0"/>
              <a:t>r</a:t>
            </a:r>
            <a:r>
              <a:rPr spc="20" dirty="0"/>
              <a:t>i</a:t>
            </a:r>
            <a:r>
              <a:rPr spc="-30" dirty="0"/>
              <a:t>g</a:t>
            </a:r>
            <a:r>
              <a:rPr spc="25" dirty="0"/>
              <a:t>h</a:t>
            </a:r>
            <a:r>
              <a:rPr dirty="0"/>
              <a:t>t</a:t>
            </a:r>
            <a:r>
              <a:rPr spc="-65" dirty="0"/>
              <a:t> </a:t>
            </a:r>
            <a:r>
              <a:rPr spc="-600" dirty="0"/>
              <a:t>©️</a:t>
            </a:r>
            <a:r>
              <a:rPr spc="45" dirty="0"/>
              <a:t> </a:t>
            </a:r>
            <a:r>
              <a:rPr spc="25" dirty="0"/>
              <a:t>A</a:t>
            </a:r>
            <a:r>
              <a:rPr dirty="0"/>
              <a:t>mer</a:t>
            </a:r>
            <a:r>
              <a:rPr spc="20" dirty="0"/>
              <a:t>i</a:t>
            </a:r>
            <a:r>
              <a:rPr spc="-30" dirty="0"/>
              <a:t>c</a:t>
            </a:r>
            <a:r>
              <a:rPr spc="25" dirty="0"/>
              <a:t>a</a:t>
            </a:r>
            <a:r>
              <a:rPr dirty="0"/>
              <a:t>n</a:t>
            </a:r>
            <a:r>
              <a:rPr spc="-65" dirty="0"/>
              <a:t> </a:t>
            </a:r>
            <a:r>
              <a:rPr spc="20" dirty="0"/>
              <a:t>C</a:t>
            </a:r>
            <a:r>
              <a:rPr spc="25" dirty="0"/>
              <a:t>o</a:t>
            </a:r>
            <a:r>
              <a:rPr spc="20" dirty="0"/>
              <a:t>ll</a:t>
            </a:r>
            <a:r>
              <a:rPr dirty="0"/>
              <a:t>e</a:t>
            </a:r>
            <a:r>
              <a:rPr spc="-25" dirty="0"/>
              <a:t>g</a:t>
            </a:r>
            <a:r>
              <a:rPr dirty="0"/>
              <a:t>e</a:t>
            </a:r>
            <a:r>
              <a:rPr spc="-90" dirty="0"/>
              <a:t> </a:t>
            </a:r>
            <a:r>
              <a:rPr spc="25" dirty="0"/>
              <a:t>o</a:t>
            </a:r>
            <a:r>
              <a:rPr dirty="0"/>
              <a:t>f</a:t>
            </a:r>
            <a:r>
              <a:rPr spc="-100" dirty="0"/>
              <a:t> </a:t>
            </a:r>
            <a:r>
              <a:rPr spc="15" dirty="0"/>
              <a:t>t</a:t>
            </a:r>
            <a:r>
              <a:rPr spc="25" dirty="0"/>
              <a:t>h</a:t>
            </a:r>
            <a:r>
              <a:rPr dirty="0"/>
              <a:t>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M</a:t>
            </a:r>
            <a:r>
              <a:rPr spc="20" dirty="0"/>
              <a:t>i</a:t>
            </a:r>
            <a:r>
              <a:rPr spc="25" dirty="0"/>
              <a:t>dd</a:t>
            </a:r>
            <a:r>
              <a:rPr spc="20" dirty="0"/>
              <a:t>l</a:t>
            </a:r>
            <a:r>
              <a:rPr dirty="0"/>
              <a:t>e</a:t>
            </a:r>
            <a:r>
              <a:rPr spc="-90" dirty="0"/>
              <a:t> </a:t>
            </a:r>
            <a:r>
              <a:rPr spc="10" dirty="0"/>
              <a:t>E</a:t>
            </a:r>
            <a:r>
              <a:rPr spc="20" dirty="0"/>
              <a:t>a</a:t>
            </a:r>
            <a:r>
              <a:rPr spc="5" dirty="0"/>
              <a:t>s</a:t>
            </a:r>
            <a:r>
              <a:rPr spc="15" dirty="0"/>
              <a:t>t</a:t>
            </a:r>
            <a:r>
              <a:rPr dirty="0"/>
              <a:t>.</a:t>
            </a:r>
            <a:r>
              <a:rPr spc="-80" dirty="0"/>
              <a:t> </a:t>
            </a:r>
            <a:r>
              <a:rPr spc="-10" dirty="0"/>
              <a:t>2020</a:t>
            </a:r>
            <a:r>
              <a:rPr dirty="0"/>
              <a:t>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175720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73274" y="425450"/>
            <a:ext cx="4997450" cy="638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E8272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030" y="1645919"/>
            <a:ext cx="7901939" cy="2773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40404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728" y="4746069"/>
            <a:ext cx="2313940" cy="361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15" dirty="0"/>
              <a:t>C</a:t>
            </a:r>
            <a:r>
              <a:rPr spc="20" dirty="0"/>
              <a:t>o</a:t>
            </a:r>
            <a:r>
              <a:rPr spc="25" dirty="0"/>
              <a:t>p</a:t>
            </a:r>
            <a:r>
              <a:rPr spc="-5" dirty="0"/>
              <a:t>y</a:t>
            </a:r>
            <a:r>
              <a:rPr dirty="0"/>
              <a:t>r</a:t>
            </a:r>
            <a:r>
              <a:rPr spc="20" dirty="0"/>
              <a:t>i</a:t>
            </a:r>
            <a:r>
              <a:rPr spc="-30" dirty="0"/>
              <a:t>g</a:t>
            </a:r>
            <a:r>
              <a:rPr spc="25" dirty="0"/>
              <a:t>h</a:t>
            </a:r>
            <a:r>
              <a:rPr dirty="0"/>
              <a:t>t</a:t>
            </a:r>
            <a:r>
              <a:rPr spc="-65" dirty="0"/>
              <a:t> </a:t>
            </a:r>
            <a:r>
              <a:rPr spc="-600" dirty="0"/>
              <a:t>©️</a:t>
            </a:r>
            <a:r>
              <a:rPr spc="45" dirty="0"/>
              <a:t> </a:t>
            </a:r>
            <a:r>
              <a:rPr spc="25" dirty="0"/>
              <a:t>A</a:t>
            </a:r>
            <a:r>
              <a:rPr dirty="0"/>
              <a:t>mer</a:t>
            </a:r>
            <a:r>
              <a:rPr spc="20" dirty="0"/>
              <a:t>i</a:t>
            </a:r>
            <a:r>
              <a:rPr spc="-30" dirty="0"/>
              <a:t>c</a:t>
            </a:r>
            <a:r>
              <a:rPr spc="25" dirty="0"/>
              <a:t>a</a:t>
            </a:r>
            <a:r>
              <a:rPr dirty="0"/>
              <a:t>n</a:t>
            </a:r>
            <a:r>
              <a:rPr spc="-65" dirty="0"/>
              <a:t> </a:t>
            </a:r>
            <a:r>
              <a:rPr spc="20" dirty="0"/>
              <a:t>C</a:t>
            </a:r>
            <a:r>
              <a:rPr spc="25" dirty="0"/>
              <a:t>o</a:t>
            </a:r>
            <a:r>
              <a:rPr spc="20" dirty="0"/>
              <a:t>ll</a:t>
            </a:r>
            <a:r>
              <a:rPr dirty="0"/>
              <a:t>e</a:t>
            </a:r>
            <a:r>
              <a:rPr spc="-25" dirty="0"/>
              <a:t>g</a:t>
            </a:r>
            <a:r>
              <a:rPr dirty="0"/>
              <a:t>e</a:t>
            </a:r>
            <a:r>
              <a:rPr spc="-90" dirty="0"/>
              <a:t> </a:t>
            </a:r>
            <a:r>
              <a:rPr spc="25" dirty="0"/>
              <a:t>o</a:t>
            </a:r>
            <a:r>
              <a:rPr dirty="0"/>
              <a:t>f</a:t>
            </a:r>
            <a:r>
              <a:rPr spc="-100" dirty="0"/>
              <a:t> </a:t>
            </a:r>
            <a:r>
              <a:rPr spc="15" dirty="0"/>
              <a:t>t</a:t>
            </a:r>
            <a:r>
              <a:rPr spc="25" dirty="0"/>
              <a:t>h</a:t>
            </a:r>
            <a:r>
              <a:rPr dirty="0"/>
              <a:t>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M</a:t>
            </a:r>
            <a:r>
              <a:rPr spc="20" dirty="0"/>
              <a:t>i</a:t>
            </a:r>
            <a:r>
              <a:rPr spc="25" dirty="0"/>
              <a:t>dd</a:t>
            </a:r>
            <a:r>
              <a:rPr spc="20" dirty="0"/>
              <a:t>l</a:t>
            </a:r>
            <a:r>
              <a:rPr dirty="0"/>
              <a:t>e</a:t>
            </a:r>
            <a:r>
              <a:rPr spc="-90" dirty="0"/>
              <a:t> </a:t>
            </a:r>
            <a:r>
              <a:rPr spc="10" dirty="0"/>
              <a:t>E</a:t>
            </a:r>
            <a:r>
              <a:rPr spc="20" dirty="0"/>
              <a:t>a</a:t>
            </a:r>
            <a:r>
              <a:rPr spc="5" dirty="0"/>
              <a:t>s</a:t>
            </a:r>
            <a:r>
              <a:rPr spc="15" dirty="0"/>
              <a:t>t</a:t>
            </a:r>
            <a:r>
              <a:rPr dirty="0"/>
              <a:t>.</a:t>
            </a:r>
            <a:r>
              <a:rPr spc="-80" dirty="0"/>
              <a:t> </a:t>
            </a:r>
            <a:r>
              <a:rPr spc="-10" dirty="0"/>
              <a:t>2020</a:t>
            </a:r>
            <a:r>
              <a:rPr dirty="0"/>
              <a:t>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7905" y="2246312"/>
            <a:ext cx="5577840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0" spc="-5" dirty="0">
                <a:latin typeface="Verdana"/>
                <a:cs typeface="Verdana"/>
              </a:rPr>
              <a:t>WELCOME</a:t>
            </a:r>
            <a:r>
              <a:rPr b="0" spc="-90" dirty="0">
                <a:latin typeface="Verdana"/>
                <a:cs typeface="Verdana"/>
              </a:rPr>
              <a:t> </a:t>
            </a:r>
            <a:r>
              <a:rPr b="0" spc="-55" dirty="0">
                <a:latin typeface="Verdana"/>
                <a:cs typeface="Verdana"/>
              </a:rPr>
              <a:t>TO</a:t>
            </a:r>
            <a:r>
              <a:rPr b="0" spc="5" dirty="0">
                <a:latin typeface="Verdana"/>
                <a:cs typeface="Verdana"/>
              </a:rPr>
              <a:t> CLASS!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0086" y="2246312"/>
            <a:ext cx="6246495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0" spc="-15" dirty="0">
                <a:solidFill>
                  <a:srgbClr val="014EA0"/>
                </a:solidFill>
                <a:latin typeface="Verdana"/>
                <a:cs typeface="Verdana"/>
              </a:rPr>
              <a:t>let’s</a:t>
            </a:r>
            <a:r>
              <a:rPr b="0" spc="-5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b="0" spc="5" dirty="0">
                <a:solidFill>
                  <a:srgbClr val="014EA0"/>
                </a:solidFill>
                <a:latin typeface="Verdana"/>
                <a:cs typeface="Verdana"/>
              </a:rPr>
              <a:t>introduce</a:t>
            </a:r>
            <a:r>
              <a:rPr b="0" spc="-5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b="0" spc="5" dirty="0">
                <a:solidFill>
                  <a:srgbClr val="014EA0"/>
                </a:solidFill>
                <a:latin typeface="Verdana"/>
                <a:cs typeface="Verdana"/>
              </a:rPr>
              <a:t>ourselves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3577" y="2285364"/>
            <a:ext cx="7764145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b="0" spc="20" dirty="0">
                <a:solidFill>
                  <a:srgbClr val="014EA0"/>
                </a:solidFill>
                <a:latin typeface="Verdana"/>
                <a:cs typeface="Verdana"/>
              </a:rPr>
              <a:t>what</a:t>
            </a:r>
            <a:r>
              <a:rPr sz="4350" b="0" spc="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350" b="0" spc="35" dirty="0">
                <a:solidFill>
                  <a:srgbClr val="014EA0"/>
                </a:solidFill>
                <a:latin typeface="Verdana"/>
                <a:cs typeface="Verdana"/>
              </a:rPr>
              <a:t>is</a:t>
            </a:r>
            <a:r>
              <a:rPr sz="4350" b="0" spc="-6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350" b="0" spc="20" dirty="0">
                <a:solidFill>
                  <a:srgbClr val="014EA0"/>
                </a:solidFill>
                <a:latin typeface="Verdana"/>
                <a:cs typeface="Verdana"/>
              </a:rPr>
              <a:t>a</a:t>
            </a:r>
            <a:r>
              <a:rPr sz="4350" b="0" spc="15" dirty="0">
                <a:solidFill>
                  <a:srgbClr val="014EA0"/>
                </a:solidFill>
                <a:latin typeface="Verdana"/>
                <a:cs typeface="Verdana"/>
              </a:rPr>
              <a:t> “Microprocessor”?</a:t>
            </a:r>
            <a:endParaRPr sz="4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3196" y="2246312"/>
            <a:ext cx="2204085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0" dirty="0">
                <a:latin typeface="Verdana"/>
                <a:cs typeface="Verdana"/>
              </a:rPr>
              <a:t>CLASS</a:t>
            </a:r>
            <a:r>
              <a:rPr b="0" spc="-150" dirty="0">
                <a:latin typeface="Verdana"/>
                <a:cs typeface="Verdana"/>
              </a:rPr>
              <a:t> </a:t>
            </a:r>
            <a:r>
              <a:rPr b="0" spc="15" dirty="0">
                <a:latin typeface="Verdana"/>
                <a:cs typeface="Verdana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98069" rIns="0" bIns="0" rtlCol="0">
            <a:spAutoFit/>
          </a:bodyPr>
          <a:lstStyle/>
          <a:p>
            <a:pPr marL="8890" marR="5080" algn="ctr">
              <a:lnSpc>
                <a:spcPct val="91100"/>
              </a:lnSpc>
              <a:spcBef>
                <a:spcPts val="470"/>
              </a:spcBef>
            </a:pPr>
            <a:r>
              <a:rPr sz="3150" spc="30" dirty="0"/>
              <a:t>The </a:t>
            </a:r>
            <a:r>
              <a:rPr sz="3150" spc="-5" dirty="0"/>
              <a:t>Microprocessor, </a:t>
            </a:r>
            <a:r>
              <a:rPr sz="3150" spc="25" dirty="0"/>
              <a:t>also </a:t>
            </a:r>
            <a:r>
              <a:rPr sz="3150" spc="15" dirty="0"/>
              <a:t>known as </a:t>
            </a:r>
            <a:r>
              <a:rPr sz="3150" spc="25" dirty="0"/>
              <a:t>the </a:t>
            </a:r>
            <a:r>
              <a:rPr sz="3150" spc="-1095" dirty="0"/>
              <a:t> </a:t>
            </a:r>
            <a:r>
              <a:rPr sz="3150" spc="15" dirty="0"/>
              <a:t>Central </a:t>
            </a:r>
            <a:r>
              <a:rPr sz="3150" spc="25" dirty="0"/>
              <a:t>Processing Unit </a:t>
            </a:r>
            <a:r>
              <a:rPr sz="3150" spc="15" dirty="0"/>
              <a:t>(CPU), </a:t>
            </a:r>
            <a:r>
              <a:rPr sz="3150" spc="20" dirty="0"/>
              <a:t>is </a:t>
            </a:r>
            <a:r>
              <a:rPr sz="3150" spc="25" dirty="0"/>
              <a:t>the </a:t>
            </a:r>
            <a:r>
              <a:rPr sz="3150" spc="30" dirty="0"/>
              <a:t> </a:t>
            </a:r>
            <a:r>
              <a:rPr sz="3150" spc="15" dirty="0"/>
              <a:t>brain </a:t>
            </a:r>
            <a:r>
              <a:rPr sz="3150" spc="10" dirty="0"/>
              <a:t>of </a:t>
            </a:r>
            <a:r>
              <a:rPr sz="3150" spc="25" dirty="0"/>
              <a:t>all computers </a:t>
            </a:r>
            <a:r>
              <a:rPr sz="3150" spc="30" dirty="0"/>
              <a:t>and </a:t>
            </a:r>
            <a:r>
              <a:rPr sz="3150" spc="20" dirty="0"/>
              <a:t>many </a:t>
            </a:r>
            <a:r>
              <a:rPr sz="3150" spc="25" dirty="0"/>
              <a:t> </a:t>
            </a:r>
            <a:r>
              <a:rPr sz="3150" spc="30" dirty="0"/>
              <a:t>household</a:t>
            </a:r>
            <a:r>
              <a:rPr sz="3150" spc="-35" dirty="0"/>
              <a:t> </a:t>
            </a:r>
            <a:r>
              <a:rPr sz="3150" spc="30" dirty="0"/>
              <a:t>and</a:t>
            </a:r>
            <a:r>
              <a:rPr sz="3150" spc="25" dirty="0"/>
              <a:t> electronic</a:t>
            </a:r>
            <a:r>
              <a:rPr sz="3150" spc="-40" dirty="0"/>
              <a:t> </a:t>
            </a:r>
            <a:r>
              <a:rPr sz="3150" spc="20" dirty="0"/>
              <a:t>devices</a:t>
            </a:r>
            <a:endParaRPr sz="315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8210" y="788670"/>
            <a:ext cx="7316470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b="0" spc="20" dirty="0">
                <a:solidFill>
                  <a:srgbClr val="014EA0"/>
                </a:solidFill>
                <a:latin typeface="Verdana"/>
                <a:cs typeface="Verdana"/>
              </a:rPr>
              <a:t>what </a:t>
            </a:r>
            <a:r>
              <a:rPr sz="4350" b="0" spc="40" dirty="0">
                <a:solidFill>
                  <a:srgbClr val="014EA0"/>
                </a:solidFill>
                <a:latin typeface="Verdana"/>
                <a:cs typeface="Verdana"/>
              </a:rPr>
              <a:t>is</a:t>
            </a:r>
            <a:r>
              <a:rPr sz="4350" b="0" spc="-5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350" b="0" spc="20" dirty="0">
                <a:solidFill>
                  <a:srgbClr val="014EA0"/>
                </a:solidFill>
                <a:latin typeface="Verdana"/>
                <a:cs typeface="Verdana"/>
              </a:rPr>
              <a:t>a</a:t>
            </a:r>
            <a:r>
              <a:rPr sz="4350" b="0" spc="10" dirty="0">
                <a:solidFill>
                  <a:srgbClr val="014EA0"/>
                </a:solidFill>
                <a:latin typeface="Verdana"/>
                <a:cs typeface="Verdana"/>
              </a:rPr>
              <a:t> microprocessor?</a:t>
            </a:r>
            <a:endParaRPr sz="4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8210" y="788670"/>
            <a:ext cx="7604759" cy="68672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4350" b="0" spc="20" dirty="0">
                <a:solidFill>
                  <a:srgbClr val="014EA0"/>
                </a:solidFill>
                <a:latin typeface="Verdana"/>
                <a:cs typeface="Verdana"/>
              </a:rPr>
              <a:t>W</a:t>
            </a:r>
            <a:r>
              <a:rPr sz="4350" b="0" spc="20" dirty="0">
                <a:solidFill>
                  <a:srgbClr val="014EA0"/>
                </a:solidFill>
                <a:latin typeface="Verdana"/>
                <a:cs typeface="Verdana"/>
              </a:rPr>
              <a:t>hat</a:t>
            </a:r>
            <a:r>
              <a:rPr sz="4350" b="0" spc="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350" b="0" spc="35" dirty="0">
                <a:solidFill>
                  <a:srgbClr val="014EA0"/>
                </a:solidFill>
                <a:latin typeface="Verdana"/>
                <a:cs typeface="Verdana"/>
              </a:rPr>
              <a:t>is</a:t>
            </a:r>
            <a:r>
              <a:rPr sz="4350" b="0" spc="-6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350" b="0" spc="20" dirty="0">
                <a:solidFill>
                  <a:srgbClr val="014EA0"/>
                </a:solidFill>
                <a:latin typeface="Verdana"/>
                <a:cs typeface="Verdana"/>
              </a:rPr>
              <a:t>a</a:t>
            </a:r>
            <a:r>
              <a:rPr sz="4350" b="0" spc="10" dirty="0">
                <a:solidFill>
                  <a:srgbClr val="014EA0"/>
                </a:solidFill>
                <a:latin typeface="Verdana"/>
                <a:cs typeface="Verdana"/>
              </a:rPr>
              <a:t> microprocessor?</a:t>
            </a:r>
            <a:endParaRPr sz="435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2654" rIns="0" bIns="0" rtlCol="0">
            <a:spAutoFit/>
          </a:bodyPr>
          <a:lstStyle/>
          <a:p>
            <a:pPr marR="5080" indent="16510" algn="ctr">
              <a:lnSpc>
                <a:spcPct val="101699"/>
              </a:lnSpc>
              <a:spcBef>
                <a:spcPts val="70"/>
              </a:spcBef>
            </a:pPr>
            <a:r>
              <a:rPr sz="3150" spc="25" dirty="0"/>
              <a:t>Multiple</a:t>
            </a:r>
            <a:r>
              <a:rPr sz="3150" spc="-65" dirty="0"/>
              <a:t> </a:t>
            </a:r>
            <a:r>
              <a:rPr sz="3150" spc="25" dirty="0"/>
              <a:t>MPUs, </a:t>
            </a:r>
            <a:r>
              <a:rPr sz="3150" spc="15" dirty="0"/>
              <a:t>working</a:t>
            </a:r>
            <a:r>
              <a:rPr sz="3150" spc="85" dirty="0"/>
              <a:t> </a:t>
            </a:r>
            <a:r>
              <a:rPr sz="3150" spc="-30" dirty="0"/>
              <a:t>together,</a:t>
            </a:r>
            <a:r>
              <a:rPr sz="3150" spc="75" dirty="0"/>
              <a:t> </a:t>
            </a:r>
            <a:r>
              <a:rPr sz="3150" spc="25" dirty="0"/>
              <a:t>are </a:t>
            </a:r>
            <a:r>
              <a:rPr sz="3150" spc="30" dirty="0"/>
              <a:t> </a:t>
            </a:r>
            <a:r>
              <a:rPr sz="3150" spc="20" dirty="0"/>
              <a:t>the "hearts" </a:t>
            </a:r>
            <a:r>
              <a:rPr sz="3150" spc="5" dirty="0"/>
              <a:t>of </a:t>
            </a:r>
            <a:r>
              <a:rPr sz="3150" spc="25" dirty="0"/>
              <a:t>datacenters, </a:t>
            </a:r>
            <a:r>
              <a:rPr sz="3150" spc="35" dirty="0"/>
              <a:t>super- </a:t>
            </a:r>
            <a:r>
              <a:rPr sz="3150" spc="40" dirty="0"/>
              <a:t> </a:t>
            </a:r>
            <a:r>
              <a:rPr sz="3150" spc="25" dirty="0"/>
              <a:t>computers,</a:t>
            </a:r>
            <a:r>
              <a:rPr sz="3150" spc="-75" dirty="0"/>
              <a:t> </a:t>
            </a:r>
            <a:r>
              <a:rPr sz="3150" spc="30" dirty="0"/>
              <a:t>communications</a:t>
            </a:r>
            <a:r>
              <a:rPr sz="3150" spc="-100" dirty="0"/>
              <a:t> </a:t>
            </a:r>
            <a:r>
              <a:rPr sz="3150" spc="20" dirty="0"/>
              <a:t>products, </a:t>
            </a:r>
            <a:r>
              <a:rPr sz="3150" spc="-1095" dirty="0"/>
              <a:t> </a:t>
            </a:r>
            <a:r>
              <a:rPr sz="3150" spc="30" dirty="0"/>
              <a:t>and</a:t>
            </a:r>
            <a:r>
              <a:rPr sz="3150" spc="20" dirty="0"/>
              <a:t> </a:t>
            </a:r>
            <a:r>
              <a:rPr sz="3150" spc="25" dirty="0"/>
              <a:t>other</a:t>
            </a:r>
            <a:r>
              <a:rPr sz="3150" spc="-5" dirty="0"/>
              <a:t> </a:t>
            </a:r>
            <a:r>
              <a:rPr sz="3150" spc="20" dirty="0"/>
              <a:t>digital</a:t>
            </a:r>
            <a:r>
              <a:rPr sz="3150" spc="55" dirty="0"/>
              <a:t> </a:t>
            </a:r>
            <a:r>
              <a:rPr sz="3150" spc="20" dirty="0"/>
              <a:t>devices</a:t>
            </a:r>
            <a:endParaRPr sz="31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09826" y="4226559"/>
            <a:ext cx="533527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0" spc="-5" dirty="0">
                <a:solidFill>
                  <a:srgbClr val="FFFFFF"/>
                </a:solidFill>
                <a:latin typeface="Verdana"/>
                <a:cs typeface="Verdana"/>
              </a:rPr>
              <a:t>MPU</a:t>
            </a:r>
            <a:r>
              <a:rPr b="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b="0" spc="10" dirty="0">
                <a:solidFill>
                  <a:srgbClr val="FFFFFF"/>
                </a:solidFill>
                <a:latin typeface="Verdana"/>
                <a:cs typeface="Verdana"/>
              </a:rPr>
              <a:t>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954" y="2091944"/>
            <a:ext cx="3225800" cy="941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4139" marR="5080" indent="-91440">
              <a:lnSpc>
                <a:spcPct val="100000"/>
              </a:lnSpc>
              <a:spcBef>
                <a:spcPts val="105"/>
              </a:spcBef>
            </a:pPr>
            <a:r>
              <a:rPr sz="3000" b="0" dirty="0">
                <a:solidFill>
                  <a:srgbClr val="014EA0"/>
                </a:solidFill>
                <a:latin typeface="Verdana"/>
                <a:cs typeface="Verdana"/>
              </a:rPr>
              <a:t>INTEL</a:t>
            </a:r>
            <a:r>
              <a:rPr sz="3000" b="0" spc="-7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b="0" spc="10" dirty="0">
                <a:solidFill>
                  <a:srgbClr val="014EA0"/>
                </a:solidFill>
                <a:latin typeface="Verdana"/>
                <a:cs typeface="Verdana"/>
              </a:rPr>
              <a:t>8085</a:t>
            </a:r>
            <a:r>
              <a:rPr sz="3000" b="0" spc="-7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b="0" spc="-5" dirty="0">
                <a:solidFill>
                  <a:srgbClr val="014EA0"/>
                </a:solidFill>
                <a:latin typeface="Verdana"/>
                <a:cs typeface="Verdana"/>
              </a:rPr>
              <a:t>MPU </a:t>
            </a:r>
            <a:r>
              <a:rPr sz="3000" b="0" spc="-10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b="0" spc="5" dirty="0">
                <a:solidFill>
                  <a:srgbClr val="014EA0"/>
                </a:solidFill>
                <a:latin typeface="Verdana"/>
                <a:cs typeface="Verdana"/>
              </a:rPr>
              <a:t>ARCHITECTURE</a:t>
            </a:r>
            <a:endParaRPr sz="30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8059" y="0"/>
            <a:ext cx="5615939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" y="0"/>
            <a:ext cx="7848600" cy="51434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048000" y="788670"/>
            <a:ext cx="2799333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H</a:t>
            </a:r>
            <a:r>
              <a:rPr spc="25" dirty="0"/>
              <a:t>I</a:t>
            </a:r>
            <a:r>
              <a:rPr spc="20" dirty="0"/>
              <a:t>S</a:t>
            </a:r>
            <a:r>
              <a:rPr spc="-95" dirty="0"/>
              <a:t>T</a:t>
            </a:r>
            <a:r>
              <a:rPr spc="-5" dirty="0"/>
              <a:t>O</a:t>
            </a:r>
            <a:r>
              <a:rPr spc="-30" dirty="0"/>
              <a:t>R</a:t>
            </a:r>
            <a:r>
              <a:rPr spc="20" dirty="0"/>
              <a:t>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4830" y="2170683"/>
            <a:ext cx="8049259" cy="148780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065" marR="5080" algn="ctr">
              <a:lnSpc>
                <a:spcPct val="101800"/>
              </a:lnSpc>
              <a:spcBef>
                <a:spcPts val="65"/>
              </a:spcBef>
            </a:pPr>
            <a:r>
              <a:rPr sz="3150" spc="30" dirty="0">
                <a:solidFill>
                  <a:srgbClr val="E82728"/>
                </a:solidFill>
                <a:latin typeface="Verdana"/>
                <a:cs typeface="Verdana"/>
              </a:rPr>
              <a:t>ENIAC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(Electronic</a:t>
            </a:r>
            <a:r>
              <a:rPr sz="315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Numerical</a:t>
            </a:r>
            <a:r>
              <a:rPr sz="315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Integrator </a:t>
            </a:r>
            <a:r>
              <a:rPr sz="3150" spc="-10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 Computer) </a:t>
            </a:r>
            <a:r>
              <a:rPr sz="3150" spc="-10" dirty="0">
                <a:solidFill>
                  <a:srgbClr val="404040"/>
                </a:solidFill>
                <a:latin typeface="Verdana"/>
                <a:cs typeface="Verdana"/>
              </a:rPr>
              <a:t>was</a:t>
            </a:r>
            <a:r>
              <a:rPr sz="3150" spc="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150" spc="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-5" dirty="0">
                <a:solidFill>
                  <a:srgbClr val="404040"/>
                </a:solidFill>
                <a:latin typeface="Verdana"/>
                <a:cs typeface="Verdana"/>
              </a:rPr>
              <a:t>world’s</a:t>
            </a:r>
            <a:r>
              <a:rPr sz="3150" spc="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first 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general-purpose</a:t>
            </a:r>
            <a:r>
              <a:rPr sz="315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computer</a:t>
            </a:r>
            <a:endParaRPr sz="3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914893" y="4448809"/>
            <a:ext cx="1061720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150" b="0" spc="35" dirty="0">
                <a:solidFill>
                  <a:srgbClr val="FFFFFF"/>
                </a:solidFill>
                <a:latin typeface="Verdana"/>
                <a:cs typeface="Verdana"/>
              </a:rPr>
              <a:t>1946</a:t>
            </a:r>
            <a:endParaRPr sz="3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H</a:t>
            </a:r>
            <a:r>
              <a:rPr spc="25" dirty="0"/>
              <a:t>I</a:t>
            </a:r>
            <a:r>
              <a:rPr spc="20" dirty="0"/>
              <a:t>S</a:t>
            </a:r>
            <a:r>
              <a:rPr spc="-95" dirty="0"/>
              <a:t>T</a:t>
            </a:r>
            <a:r>
              <a:rPr spc="-5" dirty="0"/>
              <a:t>O</a:t>
            </a:r>
            <a:r>
              <a:rPr spc="-30" dirty="0"/>
              <a:t>R</a:t>
            </a:r>
            <a:r>
              <a:rPr spc="20" dirty="0"/>
              <a:t>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4369" y="2396489"/>
            <a:ext cx="7778115" cy="957378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308735" marR="5080" indent="-1296670">
              <a:lnSpc>
                <a:spcPct val="101800"/>
              </a:lnSpc>
              <a:spcBef>
                <a:spcPts val="65"/>
              </a:spcBef>
            </a:pP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15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first</a:t>
            </a:r>
            <a:r>
              <a:rPr sz="3150" spc="-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microprocessor</a:t>
            </a:r>
            <a:r>
              <a:rPr sz="315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-10" dirty="0">
                <a:solidFill>
                  <a:srgbClr val="404040"/>
                </a:solidFill>
                <a:latin typeface="Verdana"/>
                <a:cs typeface="Verdana"/>
              </a:rPr>
              <a:t>was</a:t>
            </a:r>
            <a:r>
              <a:rPr sz="3150" spc="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lang="en-US" sz="315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Intel </a:t>
            </a:r>
            <a:r>
              <a:rPr sz="3150" spc="-10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4004,</a:t>
            </a:r>
            <a:r>
              <a:rPr sz="315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introduced</a:t>
            </a:r>
            <a:r>
              <a:rPr sz="3150" spc="-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3150" spc="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35" dirty="0">
                <a:solidFill>
                  <a:srgbClr val="404040"/>
                </a:solidFill>
                <a:latin typeface="Verdana"/>
                <a:cs typeface="Verdana"/>
              </a:rPr>
              <a:t>1971</a:t>
            </a:r>
            <a:endParaRPr sz="31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1795" y="350901"/>
            <a:ext cx="3290570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b="0" spc="20" dirty="0">
                <a:solidFill>
                  <a:srgbClr val="014EA0"/>
                </a:solidFill>
                <a:latin typeface="Verdana"/>
                <a:cs typeface="Verdana"/>
              </a:rPr>
              <a:t>INTEL</a:t>
            </a:r>
            <a:r>
              <a:rPr sz="4350" b="0" spc="-2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350" b="0" spc="-5" dirty="0">
                <a:solidFill>
                  <a:srgbClr val="014EA0"/>
                </a:solidFill>
                <a:latin typeface="Verdana"/>
                <a:cs typeface="Verdana"/>
              </a:rPr>
              <a:t>4004</a:t>
            </a:r>
            <a:endParaRPr sz="435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43000" y="1135380"/>
            <a:ext cx="6858000" cy="3794760"/>
            <a:chOff x="1143000" y="1135380"/>
            <a:chExt cx="6858000" cy="37947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0" y="1135380"/>
              <a:ext cx="6858000" cy="37947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01640" y="1844040"/>
              <a:ext cx="1950719" cy="14935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21676" y="306070"/>
            <a:ext cx="1061720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150" b="0" spc="35" dirty="0">
                <a:solidFill>
                  <a:srgbClr val="FFFFFF"/>
                </a:solidFill>
                <a:latin typeface="Verdana"/>
                <a:cs typeface="Verdana"/>
              </a:rPr>
              <a:t>2019</a:t>
            </a:r>
            <a:endParaRPr sz="3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357" y="117855"/>
            <a:ext cx="605282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000" b="0" spc="5" dirty="0">
                <a:solidFill>
                  <a:srgbClr val="FFFFFF"/>
                </a:solidFill>
                <a:latin typeface="Verdana"/>
                <a:cs typeface="Verdana"/>
              </a:rPr>
              <a:t>Intel</a:t>
            </a:r>
            <a:r>
              <a:rPr sz="3000" b="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0" spc="-15" dirty="0">
                <a:solidFill>
                  <a:srgbClr val="FFFFFF"/>
                </a:solidFill>
                <a:latin typeface="Verdana"/>
                <a:cs typeface="Verdana"/>
              </a:rPr>
              <a:t>Core</a:t>
            </a:r>
            <a:r>
              <a:rPr sz="3000" b="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0" spc="15" dirty="0">
                <a:solidFill>
                  <a:srgbClr val="FFFFFF"/>
                </a:solidFill>
                <a:latin typeface="Verdana"/>
                <a:cs typeface="Verdana"/>
              </a:rPr>
              <a:t>i9-9900KS</a:t>
            </a:r>
            <a:r>
              <a:rPr sz="3000" b="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0" spc="-10" dirty="0">
                <a:solidFill>
                  <a:srgbClr val="FFFFFF"/>
                </a:solidFill>
                <a:latin typeface="Verdana"/>
                <a:cs typeface="Verdana"/>
              </a:rPr>
              <a:t>Processor </a:t>
            </a:r>
            <a:r>
              <a:rPr sz="3000" b="0" spc="-10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0" spc="5" dirty="0">
                <a:solidFill>
                  <a:srgbClr val="FFFFFF"/>
                </a:solidFill>
                <a:latin typeface="Verdana"/>
                <a:cs typeface="Verdana"/>
              </a:rPr>
              <a:t>18</a:t>
            </a:r>
            <a:r>
              <a:rPr sz="3000" b="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0" spc="25" dirty="0">
                <a:solidFill>
                  <a:srgbClr val="FFFFFF"/>
                </a:solidFill>
                <a:latin typeface="Verdana"/>
                <a:cs typeface="Verdana"/>
              </a:rPr>
              <a:t>Billion</a:t>
            </a:r>
            <a:r>
              <a:rPr sz="3000" b="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0" spc="-30" dirty="0">
                <a:solidFill>
                  <a:srgbClr val="FFFFFF"/>
                </a:solidFill>
                <a:latin typeface="Verdana"/>
                <a:cs typeface="Verdana"/>
              </a:rPr>
              <a:t>Transistors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640080"/>
            <a:ext cx="2179320" cy="143256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34740" y="335279"/>
            <a:ext cx="1943100" cy="19431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20840" y="335279"/>
            <a:ext cx="2217420" cy="16383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2207" y="3309194"/>
            <a:ext cx="3212532" cy="70654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20840" y="2689860"/>
            <a:ext cx="2186940" cy="21945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73410" y="2840448"/>
            <a:ext cx="1825826" cy="16576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5667" y="1707451"/>
            <a:ext cx="7350759" cy="2772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CPU (central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processing 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unit) </a:t>
            </a:r>
            <a:r>
              <a:rPr sz="3000" spc="35" dirty="0">
                <a:solidFill>
                  <a:srgbClr val="404040"/>
                </a:solidFill>
                <a:latin typeface="Verdana"/>
                <a:cs typeface="Verdana"/>
              </a:rPr>
              <a:t>is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part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of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 computer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that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executes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instructions.</a:t>
            </a:r>
            <a:r>
              <a:rPr sz="3000" spc="-2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This</a:t>
            </a:r>
            <a:r>
              <a:rPr sz="30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sz="3000" spc="-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be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 implemented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using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 </a:t>
            </a:r>
            <a:r>
              <a:rPr sz="3000" spc="25" dirty="0">
                <a:solidFill>
                  <a:srgbClr val="404040"/>
                </a:solidFill>
                <a:latin typeface="Verdana"/>
                <a:cs typeface="Verdana"/>
              </a:rPr>
              <a:t>single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IC, a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number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of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ICs,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discrete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transistors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or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 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room </a:t>
            </a:r>
            <a:r>
              <a:rPr sz="3000" spc="25" dirty="0">
                <a:solidFill>
                  <a:srgbClr val="404040"/>
                </a:solidFill>
                <a:latin typeface="Verdana"/>
                <a:cs typeface="Verdana"/>
              </a:rPr>
              <a:t>full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of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vacuum</a:t>
            </a:r>
            <a:r>
              <a:rPr sz="30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tubes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53185" y="482917"/>
            <a:ext cx="6446520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b="0" spc="5" dirty="0">
                <a:solidFill>
                  <a:srgbClr val="014EA0"/>
                </a:solidFill>
                <a:latin typeface="Verdana"/>
                <a:cs typeface="Verdana"/>
              </a:rPr>
              <a:t>microprocessor</a:t>
            </a:r>
            <a:r>
              <a:rPr sz="4350" b="0" spc="2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350" b="0" spc="10" dirty="0">
                <a:solidFill>
                  <a:srgbClr val="014EA0"/>
                </a:solidFill>
                <a:latin typeface="Verdana"/>
                <a:cs typeface="Verdana"/>
              </a:rPr>
              <a:t>vs</a:t>
            </a:r>
            <a:r>
              <a:rPr sz="4350" b="0" spc="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350" b="0" spc="20" dirty="0">
                <a:solidFill>
                  <a:srgbClr val="014EA0"/>
                </a:solidFill>
                <a:latin typeface="Verdana"/>
                <a:cs typeface="Verdana"/>
              </a:rPr>
              <a:t>CPU</a:t>
            </a:r>
            <a:endParaRPr sz="4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1285" y="2249423"/>
            <a:ext cx="6363335" cy="941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98195" marR="5080" indent="-785495">
              <a:lnSpc>
                <a:spcPct val="100000"/>
              </a:lnSpc>
              <a:spcBef>
                <a:spcPts val="105"/>
              </a:spcBef>
            </a:pP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microprocessor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35" dirty="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sz="30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spc="-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single-chip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implementation</a:t>
            </a:r>
            <a:r>
              <a:rPr sz="30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spc="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CPU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3185" y="482917"/>
            <a:ext cx="6446520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spc="5" dirty="0">
                <a:solidFill>
                  <a:srgbClr val="014EA0"/>
                </a:solidFill>
                <a:latin typeface="Verdana"/>
                <a:cs typeface="Verdana"/>
              </a:rPr>
              <a:t>microprocessor</a:t>
            </a:r>
            <a:r>
              <a:rPr sz="4350" spc="2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350" spc="10" dirty="0">
                <a:solidFill>
                  <a:srgbClr val="014EA0"/>
                </a:solidFill>
                <a:latin typeface="Verdana"/>
                <a:cs typeface="Verdana"/>
              </a:rPr>
              <a:t>vs</a:t>
            </a:r>
            <a:r>
              <a:rPr sz="4350" spc="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350" spc="20" dirty="0">
                <a:solidFill>
                  <a:srgbClr val="014EA0"/>
                </a:solidFill>
                <a:latin typeface="Verdana"/>
                <a:cs typeface="Verdana"/>
              </a:rPr>
              <a:t>CPU</a:t>
            </a:r>
            <a:endParaRPr sz="4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2930" y="1954847"/>
            <a:ext cx="7977505" cy="18567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5080" algn="ctr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Nowadays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pretty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much 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all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CPUs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for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general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use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are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microprocessors,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causing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two terms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to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be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practically 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synonymous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53185" y="482917"/>
            <a:ext cx="6446520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b="0" spc="5" dirty="0">
                <a:solidFill>
                  <a:srgbClr val="014EA0"/>
                </a:solidFill>
                <a:latin typeface="Verdana"/>
                <a:cs typeface="Verdana"/>
              </a:rPr>
              <a:t>microprocessor</a:t>
            </a:r>
            <a:r>
              <a:rPr sz="4350" b="0" spc="2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350" b="0" spc="10" dirty="0">
                <a:solidFill>
                  <a:srgbClr val="014EA0"/>
                </a:solidFill>
                <a:latin typeface="Verdana"/>
                <a:cs typeface="Verdana"/>
              </a:rPr>
              <a:t>vs</a:t>
            </a:r>
            <a:r>
              <a:rPr sz="4350" b="0" spc="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350" b="0" spc="20" dirty="0">
                <a:solidFill>
                  <a:srgbClr val="014EA0"/>
                </a:solidFill>
                <a:latin typeface="Verdana"/>
                <a:cs typeface="Verdana"/>
              </a:rPr>
              <a:t>CPU</a:t>
            </a:r>
            <a:endParaRPr sz="4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9875" y="287401"/>
            <a:ext cx="3526790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b="0" spc="30" dirty="0">
                <a:solidFill>
                  <a:srgbClr val="014EA0"/>
                </a:solidFill>
                <a:latin typeface="Verdana"/>
                <a:cs typeface="Verdana"/>
              </a:rPr>
              <a:t>MPU</a:t>
            </a:r>
            <a:r>
              <a:rPr sz="4350" b="0" spc="10" dirty="0">
                <a:solidFill>
                  <a:srgbClr val="014EA0"/>
                </a:solidFill>
                <a:latin typeface="Verdana"/>
                <a:cs typeface="Verdana"/>
              </a:rPr>
              <a:t> vs</a:t>
            </a:r>
            <a:r>
              <a:rPr sz="4350" b="0" spc="-1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350" b="0" spc="25" dirty="0">
                <a:solidFill>
                  <a:srgbClr val="014EA0"/>
                </a:solidFill>
                <a:latin typeface="Verdana"/>
                <a:cs typeface="Verdana"/>
              </a:rPr>
              <a:t>MCU</a:t>
            </a:r>
            <a:endParaRPr sz="435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160" y="1066800"/>
            <a:ext cx="7345680" cy="39090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3767" y="287401"/>
            <a:ext cx="7281545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b="0" spc="20" dirty="0">
                <a:solidFill>
                  <a:srgbClr val="014EA0"/>
                </a:solidFill>
                <a:latin typeface="Verdana"/>
                <a:cs typeface="Verdana"/>
              </a:rPr>
              <a:t>what</a:t>
            </a:r>
            <a:r>
              <a:rPr sz="4350" b="0" spc="2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350" b="0" spc="35" dirty="0">
                <a:solidFill>
                  <a:srgbClr val="014EA0"/>
                </a:solidFill>
                <a:latin typeface="Verdana"/>
                <a:cs typeface="Verdana"/>
              </a:rPr>
              <a:t>is</a:t>
            </a:r>
            <a:r>
              <a:rPr sz="4350" b="0" spc="-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350" b="0" spc="20" dirty="0">
                <a:solidFill>
                  <a:srgbClr val="014EA0"/>
                </a:solidFill>
                <a:latin typeface="Verdana"/>
                <a:cs typeface="Verdana"/>
              </a:rPr>
              <a:t>a </a:t>
            </a:r>
            <a:r>
              <a:rPr sz="4350" b="0" spc="15" dirty="0">
                <a:solidFill>
                  <a:srgbClr val="014EA0"/>
                </a:solidFill>
                <a:latin typeface="Verdana"/>
                <a:cs typeface="Verdana"/>
              </a:rPr>
              <a:t>microcontroller?</a:t>
            </a:r>
            <a:endParaRPr sz="435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2930" y="1822195"/>
            <a:ext cx="7974330" cy="197612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065" marR="5080" indent="-2540" algn="ctr">
              <a:lnSpc>
                <a:spcPct val="101699"/>
              </a:lnSpc>
              <a:spcBef>
                <a:spcPts val="70"/>
              </a:spcBef>
            </a:pP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A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microcontroller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is a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computer 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 present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in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a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single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integrated 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circuit </a:t>
            </a:r>
            <a:r>
              <a:rPr sz="3150" spc="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which</a:t>
            </a:r>
            <a:r>
              <a:rPr sz="315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sz="3150" spc="-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dedicated</a:t>
            </a:r>
            <a:r>
              <a:rPr sz="3150" spc="15" dirty="0">
                <a:solidFill>
                  <a:srgbClr val="404040"/>
                </a:solidFill>
                <a:latin typeface="Verdana"/>
                <a:cs typeface="Verdana"/>
              </a:rPr>
              <a:t> to</a:t>
            </a:r>
            <a:r>
              <a:rPr sz="315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perform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one</a:t>
            </a:r>
            <a:r>
              <a:rPr sz="315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task </a:t>
            </a:r>
            <a:r>
              <a:rPr sz="3150" spc="-10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15" dirty="0">
                <a:solidFill>
                  <a:srgbClr val="404040"/>
                </a:solidFill>
                <a:latin typeface="Verdana"/>
                <a:cs typeface="Verdana"/>
              </a:rPr>
              <a:t>execute</a:t>
            </a:r>
            <a:r>
              <a:rPr sz="3150" spc="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one</a:t>
            </a:r>
            <a:r>
              <a:rPr sz="315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specific</a:t>
            </a:r>
            <a:r>
              <a:rPr sz="3150" spc="-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application</a:t>
            </a:r>
            <a:endParaRPr sz="3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3767" y="287401"/>
            <a:ext cx="7281545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spc="20" dirty="0">
                <a:solidFill>
                  <a:srgbClr val="014EA0"/>
                </a:solidFill>
                <a:latin typeface="Verdana"/>
                <a:cs typeface="Verdana"/>
              </a:rPr>
              <a:t>what</a:t>
            </a:r>
            <a:r>
              <a:rPr sz="4350" spc="2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350" spc="35" dirty="0">
                <a:solidFill>
                  <a:srgbClr val="014EA0"/>
                </a:solidFill>
                <a:latin typeface="Verdana"/>
                <a:cs typeface="Verdana"/>
              </a:rPr>
              <a:t>is</a:t>
            </a:r>
            <a:r>
              <a:rPr sz="4350" spc="-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350" spc="20" dirty="0">
                <a:solidFill>
                  <a:srgbClr val="014EA0"/>
                </a:solidFill>
                <a:latin typeface="Verdana"/>
                <a:cs typeface="Verdana"/>
              </a:rPr>
              <a:t>a </a:t>
            </a:r>
            <a:r>
              <a:rPr sz="4350" spc="15" dirty="0">
                <a:solidFill>
                  <a:srgbClr val="014EA0"/>
                </a:solidFill>
                <a:latin typeface="Verdana"/>
                <a:cs typeface="Verdana"/>
              </a:rPr>
              <a:t>microcontroller?</a:t>
            </a:r>
            <a:endParaRPr sz="435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7730" y="2007488"/>
            <a:ext cx="7371080" cy="1399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</a:pP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MCUs</a:t>
            </a:r>
            <a:r>
              <a:rPr sz="30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contain</a:t>
            </a:r>
            <a:r>
              <a:rPr sz="30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40" dirty="0">
                <a:solidFill>
                  <a:srgbClr val="404040"/>
                </a:solidFill>
                <a:latin typeface="Verdana"/>
                <a:cs typeface="Verdana"/>
              </a:rPr>
              <a:t>memory,</a:t>
            </a:r>
            <a:r>
              <a:rPr sz="30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programmable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input/output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peripherals as 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well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processor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3767" y="287401"/>
            <a:ext cx="7281545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b="0" spc="20" dirty="0">
                <a:solidFill>
                  <a:srgbClr val="014EA0"/>
                </a:solidFill>
                <a:latin typeface="Verdana"/>
                <a:cs typeface="Verdana"/>
              </a:rPr>
              <a:t>what</a:t>
            </a:r>
            <a:r>
              <a:rPr sz="4350" b="0" spc="2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350" b="0" spc="35" dirty="0">
                <a:solidFill>
                  <a:srgbClr val="014EA0"/>
                </a:solidFill>
                <a:latin typeface="Verdana"/>
                <a:cs typeface="Verdana"/>
              </a:rPr>
              <a:t>is</a:t>
            </a:r>
            <a:r>
              <a:rPr sz="4350" b="0" spc="-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350" b="0" spc="20" dirty="0">
                <a:solidFill>
                  <a:srgbClr val="014EA0"/>
                </a:solidFill>
                <a:latin typeface="Verdana"/>
                <a:cs typeface="Verdana"/>
              </a:rPr>
              <a:t>a </a:t>
            </a:r>
            <a:r>
              <a:rPr sz="4350" b="0" spc="15" dirty="0">
                <a:solidFill>
                  <a:srgbClr val="014EA0"/>
                </a:solidFill>
                <a:latin typeface="Verdana"/>
                <a:cs typeface="Verdana"/>
              </a:rPr>
              <a:t>microcontroller?</a:t>
            </a:r>
            <a:endParaRPr sz="435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0" marR="5080" algn="ctr">
              <a:lnSpc>
                <a:spcPct val="100000"/>
              </a:lnSpc>
              <a:spcBef>
                <a:spcPts val="105"/>
              </a:spcBef>
            </a:pPr>
            <a:r>
              <a:rPr dirty="0"/>
              <a:t>MCUs</a:t>
            </a:r>
            <a:r>
              <a:rPr spc="-50" dirty="0"/>
              <a:t> </a:t>
            </a:r>
            <a:r>
              <a:rPr spc="-10" dirty="0"/>
              <a:t>are</a:t>
            </a:r>
            <a:r>
              <a:rPr spc="40" dirty="0"/>
              <a:t> </a:t>
            </a:r>
            <a:r>
              <a:rPr spc="10" dirty="0"/>
              <a:t>mostly</a:t>
            </a:r>
            <a:r>
              <a:rPr spc="-140" dirty="0"/>
              <a:t> </a:t>
            </a:r>
            <a:r>
              <a:rPr spc="10" dirty="0"/>
              <a:t>designed</a:t>
            </a:r>
            <a:r>
              <a:rPr spc="-55" dirty="0"/>
              <a:t> </a:t>
            </a:r>
            <a:r>
              <a:rPr spc="-5" dirty="0"/>
              <a:t>for</a:t>
            </a:r>
            <a:r>
              <a:rPr spc="-65" dirty="0"/>
              <a:t> </a:t>
            </a:r>
            <a:r>
              <a:rPr dirty="0"/>
              <a:t>embedded </a:t>
            </a:r>
            <a:r>
              <a:rPr spc="-1040" dirty="0"/>
              <a:t> </a:t>
            </a:r>
            <a:r>
              <a:rPr spc="15" dirty="0"/>
              <a:t>applications </a:t>
            </a:r>
            <a:r>
              <a:rPr spc="5" dirty="0"/>
              <a:t>and </a:t>
            </a:r>
            <a:r>
              <a:rPr spc="-10" dirty="0"/>
              <a:t>are </a:t>
            </a:r>
            <a:r>
              <a:rPr spc="15" dirty="0"/>
              <a:t>heavily </a:t>
            </a:r>
            <a:r>
              <a:rPr spc="5" dirty="0"/>
              <a:t>used </a:t>
            </a:r>
            <a:r>
              <a:rPr spc="35" dirty="0"/>
              <a:t>in </a:t>
            </a:r>
            <a:r>
              <a:rPr spc="40" dirty="0"/>
              <a:t> </a:t>
            </a:r>
            <a:r>
              <a:rPr spc="10" dirty="0"/>
              <a:t>automatically controlled electronic </a:t>
            </a:r>
            <a:r>
              <a:rPr spc="15" dirty="0"/>
              <a:t> </a:t>
            </a:r>
            <a:r>
              <a:rPr spc="10" dirty="0"/>
              <a:t>devices </a:t>
            </a:r>
            <a:r>
              <a:rPr dirty="0"/>
              <a:t>such as </a:t>
            </a:r>
            <a:r>
              <a:rPr spc="15" dirty="0"/>
              <a:t>cellphones, </a:t>
            </a:r>
            <a:r>
              <a:rPr spc="-10" dirty="0"/>
              <a:t>cameras, </a:t>
            </a:r>
            <a:r>
              <a:rPr spc="-5" dirty="0"/>
              <a:t> </a:t>
            </a:r>
            <a:r>
              <a:rPr spc="5" dirty="0"/>
              <a:t>microwave </a:t>
            </a:r>
            <a:r>
              <a:rPr dirty="0"/>
              <a:t>ovens, </a:t>
            </a:r>
            <a:r>
              <a:rPr spc="10" dirty="0"/>
              <a:t>washing machines, </a:t>
            </a:r>
            <a:r>
              <a:rPr spc="15" dirty="0"/>
              <a:t> </a:t>
            </a:r>
            <a:r>
              <a:rPr dirty="0"/>
              <a:t>etc.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412242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1000" y="4122420"/>
            <a:ext cx="8034655" cy="82613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2661285" marR="30480" indent="-2623820">
              <a:lnSpc>
                <a:spcPct val="74900"/>
              </a:lnSpc>
              <a:spcBef>
                <a:spcPts val="1005"/>
              </a:spcBef>
            </a:pP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MCUs</a:t>
            </a:r>
            <a:r>
              <a:rPr sz="3000" spc="-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come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35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30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different</a:t>
            </a:r>
            <a:r>
              <a:rPr sz="30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shapes,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sizes</a:t>
            </a:r>
            <a:r>
              <a:rPr sz="30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and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500" baseline="-10185" dirty="0">
                <a:solidFill>
                  <a:srgbClr val="404040"/>
                </a:solidFill>
                <a:latin typeface="Verdana"/>
                <a:cs typeface="Verdana"/>
              </a:rPr>
              <a:t>c</a:t>
            </a:r>
            <a:r>
              <a:rPr sz="4500" spc="-2482" baseline="-10185" dirty="0">
                <a:solidFill>
                  <a:srgbClr val="404040"/>
                </a:solidFill>
                <a:latin typeface="Verdana"/>
                <a:cs typeface="Verdana"/>
              </a:rPr>
              <a:t>o</a:t>
            </a:r>
            <a:r>
              <a:rPr sz="4500" spc="-2325" baseline="-10185" dirty="0">
                <a:solidFill>
                  <a:srgbClr val="404040"/>
                </a:solidFill>
                <a:latin typeface="Verdana"/>
                <a:cs typeface="Verdana"/>
              </a:rPr>
              <a:t>n</a:t>
            </a:r>
            <a:r>
              <a:rPr sz="4500" spc="-592" baseline="-10185" dirty="0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1200" spc="-1140" dirty="0">
                <a:solidFill>
                  <a:srgbClr val="888888"/>
                </a:solidFill>
                <a:latin typeface="Calibri"/>
                <a:cs typeface="Calibri"/>
              </a:rPr>
              <a:t>©️</a:t>
            </a:r>
            <a:r>
              <a:rPr sz="4500" spc="-1530" baseline="-10185" dirty="0" err="1">
                <a:solidFill>
                  <a:srgbClr val="404040"/>
                </a:solidFill>
                <a:latin typeface="Verdana"/>
                <a:cs typeface="Verdana"/>
              </a:rPr>
              <a:t>g</a:t>
            </a:r>
            <a:r>
              <a:rPr sz="1200" spc="25" dirty="0" err="1">
                <a:solidFill>
                  <a:srgbClr val="888888"/>
                </a:solidFill>
                <a:latin typeface="Calibri"/>
                <a:cs typeface="Calibri"/>
              </a:rPr>
              <a:t>A</a:t>
            </a:r>
            <a:r>
              <a:rPr sz="4500" spc="-1845" baseline="-10185" dirty="0" err="1">
                <a:solidFill>
                  <a:srgbClr val="404040"/>
                </a:solidFill>
                <a:latin typeface="Verdana"/>
                <a:cs typeface="Verdana"/>
              </a:rPr>
              <a:t>u</a:t>
            </a:r>
            <a:r>
              <a:rPr sz="1200" dirty="0" err="1">
                <a:solidFill>
                  <a:srgbClr val="888888"/>
                </a:solidFill>
                <a:latin typeface="Calibri"/>
                <a:cs typeface="Calibri"/>
              </a:rPr>
              <a:t>er</a:t>
            </a:r>
            <a:r>
              <a:rPr sz="4500" spc="-1807" baseline="-10185" dirty="0" err="1">
                <a:solidFill>
                  <a:srgbClr val="404040"/>
                </a:solidFill>
                <a:latin typeface="Verdana"/>
                <a:cs typeface="Verdana"/>
              </a:rPr>
              <a:t>r</a:t>
            </a:r>
            <a:r>
              <a:rPr sz="1200" spc="-30" dirty="0" err="1">
                <a:solidFill>
                  <a:srgbClr val="888888"/>
                </a:solidFill>
                <a:latin typeface="Calibri"/>
                <a:cs typeface="Calibri"/>
              </a:rPr>
              <a:t>c</a:t>
            </a:r>
            <a:r>
              <a:rPr sz="1200" spc="25" dirty="0" err="1">
                <a:solidFill>
                  <a:srgbClr val="888888"/>
                </a:solidFill>
                <a:latin typeface="Calibri"/>
                <a:cs typeface="Calibri"/>
              </a:rPr>
              <a:t>a</a:t>
            </a:r>
            <a:r>
              <a:rPr sz="1200" spc="-600" dirty="0" err="1">
                <a:solidFill>
                  <a:srgbClr val="888888"/>
                </a:solidFill>
                <a:latin typeface="Calibri"/>
                <a:cs typeface="Calibri"/>
              </a:rPr>
              <a:t>n</a:t>
            </a:r>
            <a:r>
              <a:rPr sz="4500" spc="-1500" baseline="-10185" dirty="0" err="1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200" spc="20" dirty="0" err="1">
                <a:solidFill>
                  <a:srgbClr val="888888"/>
                </a:solidFill>
                <a:latin typeface="Calibri"/>
                <a:cs typeface="Calibri"/>
              </a:rPr>
              <a:t>C</a:t>
            </a:r>
            <a:r>
              <a:rPr sz="1200" spc="-300" dirty="0" err="1">
                <a:solidFill>
                  <a:srgbClr val="888888"/>
                </a:solidFill>
                <a:latin typeface="Calibri"/>
                <a:cs typeface="Calibri"/>
              </a:rPr>
              <a:t>o</a:t>
            </a:r>
            <a:r>
              <a:rPr sz="4500" spc="-1297" baseline="-10185" dirty="0" err="1">
                <a:solidFill>
                  <a:srgbClr val="404040"/>
                </a:solidFill>
                <a:latin typeface="Verdana"/>
                <a:cs typeface="Verdana"/>
              </a:rPr>
              <a:t>t</a:t>
            </a:r>
            <a:r>
              <a:rPr sz="1200" spc="20" dirty="0" err="1">
                <a:solidFill>
                  <a:srgbClr val="888888"/>
                </a:solidFill>
                <a:latin typeface="Calibri"/>
                <a:cs typeface="Calibri"/>
              </a:rPr>
              <a:t>ll</a:t>
            </a:r>
            <a:r>
              <a:rPr sz="1200" spc="-330" dirty="0" err="1">
                <a:solidFill>
                  <a:srgbClr val="888888"/>
                </a:solidFill>
                <a:latin typeface="Calibri"/>
                <a:cs typeface="Calibri"/>
              </a:rPr>
              <a:t>e</a:t>
            </a:r>
            <a:r>
              <a:rPr sz="4500" spc="-750" baseline="-10185" dirty="0" err="1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1200" spc="-25" dirty="0" err="1">
                <a:solidFill>
                  <a:srgbClr val="888888"/>
                </a:solidFill>
                <a:latin typeface="Calibri"/>
                <a:cs typeface="Calibri"/>
              </a:rPr>
              <a:t>g</a:t>
            </a:r>
            <a:r>
              <a:rPr sz="1200" spc="-575" dirty="0" err="1">
                <a:solidFill>
                  <a:srgbClr val="888888"/>
                </a:solidFill>
                <a:latin typeface="Calibri"/>
                <a:cs typeface="Calibri"/>
              </a:rPr>
              <a:t>e</a:t>
            </a:r>
            <a:r>
              <a:rPr sz="4500" spc="-1604" baseline="-10185" dirty="0" err="1">
                <a:solidFill>
                  <a:srgbClr val="404040"/>
                </a:solidFill>
                <a:latin typeface="Verdana"/>
                <a:cs typeface="Verdana"/>
              </a:rPr>
              <a:t>o</a:t>
            </a:r>
            <a:r>
              <a:rPr sz="1200" spc="25" dirty="0" err="1">
                <a:solidFill>
                  <a:srgbClr val="888888"/>
                </a:solidFill>
                <a:latin typeface="Calibri"/>
                <a:cs typeface="Calibri"/>
              </a:rPr>
              <a:t>o</a:t>
            </a:r>
            <a:r>
              <a:rPr sz="1200" spc="15" dirty="0" err="1">
                <a:solidFill>
                  <a:srgbClr val="888888"/>
                </a:solidFill>
                <a:latin typeface="Calibri"/>
                <a:cs typeface="Calibri"/>
              </a:rPr>
              <a:t>f</a:t>
            </a:r>
            <a:r>
              <a:rPr sz="4500" spc="-2625" baseline="-10185" dirty="0" err="1">
                <a:solidFill>
                  <a:srgbClr val="404040"/>
                </a:solidFill>
                <a:latin typeface="Verdana"/>
                <a:cs typeface="Verdana"/>
              </a:rPr>
              <a:t>n</a:t>
            </a:r>
            <a:r>
              <a:rPr sz="1200" spc="15" dirty="0" err="1">
                <a:solidFill>
                  <a:srgbClr val="888888"/>
                </a:solidFill>
                <a:latin typeface="Calibri"/>
                <a:cs typeface="Calibri"/>
              </a:rPr>
              <a:t>t</a:t>
            </a:r>
            <a:r>
              <a:rPr sz="1200" spc="25" dirty="0" err="1">
                <a:solidFill>
                  <a:srgbClr val="888888"/>
                </a:solidFill>
                <a:latin typeface="Calibri"/>
                <a:cs typeface="Calibri"/>
              </a:rPr>
              <a:t>h</a:t>
            </a:r>
            <a:r>
              <a:rPr sz="1200" dirty="0" err="1">
                <a:solidFill>
                  <a:srgbClr val="888888"/>
                </a:solidFill>
                <a:latin typeface="Calibri"/>
                <a:cs typeface="Calibri"/>
              </a:rPr>
              <a:t>e</a:t>
            </a:r>
            <a:r>
              <a:rPr sz="1200" spc="-19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4500" baseline="-10185" dirty="0">
                <a:solidFill>
                  <a:srgbClr val="404040"/>
                </a:solidFill>
                <a:latin typeface="Verdana"/>
                <a:cs typeface="Verdana"/>
              </a:rPr>
              <a:t>s</a:t>
            </a:r>
            <a:endParaRPr sz="4500" baseline="-10185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0285" y="1728787"/>
            <a:ext cx="5589270" cy="1250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87325" marR="5080" indent="-175260">
              <a:lnSpc>
                <a:spcPct val="100000"/>
              </a:lnSpc>
              <a:spcBef>
                <a:spcPts val="125"/>
              </a:spcBef>
            </a:pPr>
            <a:r>
              <a:rPr b="0" spc="-15" dirty="0">
                <a:solidFill>
                  <a:srgbClr val="014EA0"/>
                </a:solidFill>
                <a:latin typeface="Verdana"/>
                <a:cs typeface="Verdana"/>
              </a:rPr>
              <a:t>M</a:t>
            </a:r>
            <a:r>
              <a:rPr b="0" spc="50" dirty="0">
                <a:solidFill>
                  <a:srgbClr val="014EA0"/>
                </a:solidFill>
                <a:latin typeface="Verdana"/>
                <a:cs typeface="Verdana"/>
              </a:rPr>
              <a:t>I</a:t>
            </a:r>
            <a:r>
              <a:rPr b="0" spc="10" dirty="0">
                <a:solidFill>
                  <a:srgbClr val="014EA0"/>
                </a:solidFill>
                <a:latin typeface="Verdana"/>
                <a:cs typeface="Verdana"/>
              </a:rPr>
              <a:t>C</a:t>
            </a:r>
            <a:r>
              <a:rPr b="0" spc="45" dirty="0">
                <a:solidFill>
                  <a:srgbClr val="014EA0"/>
                </a:solidFill>
                <a:latin typeface="Verdana"/>
                <a:cs typeface="Verdana"/>
              </a:rPr>
              <a:t>R</a:t>
            </a:r>
            <a:r>
              <a:rPr b="0" spc="25" dirty="0">
                <a:solidFill>
                  <a:srgbClr val="014EA0"/>
                </a:solidFill>
                <a:latin typeface="Verdana"/>
                <a:cs typeface="Verdana"/>
              </a:rPr>
              <a:t>O</a:t>
            </a:r>
            <a:r>
              <a:rPr b="0" spc="10" dirty="0">
                <a:solidFill>
                  <a:srgbClr val="014EA0"/>
                </a:solidFill>
                <a:latin typeface="Verdana"/>
                <a:cs typeface="Verdana"/>
              </a:rPr>
              <a:t>C</a:t>
            </a:r>
            <a:r>
              <a:rPr b="0" spc="35" dirty="0">
                <a:solidFill>
                  <a:srgbClr val="014EA0"/>
                </a:solidFill>
                <a:latin typeface="Verdana"/>
                <a:cs typeface="Verdana"/>
              </a:rPr>
              <a:t>O</a:t>
            </a:r>
            <a:r>
              <a:rPr b="0" spc="15" dirty="0">
                <a:solidFill>
                  <a:srgbClr val="014EA0"/>
                </a:solidFill>
                <a:latin typeface="Verdana"/>
                <a:cs typeface="Verdana"/>
              </a:rPr>
              <a:t>N</a:t>
            </a:r>
            <a:r>
              <a:rPr b="0" spc="-15" dirty="0">
                <a:solidFill>
                  <a:srgbClr val="014EA0"/>
                </a:solidFill>
                <a:latin typeface="Verdana"/>
                <a:cs typeface="Verdana"/>
              </a:rPr>
              <a:t>T</a:t>
            </a:r>
            <a:r>
              <a:rPr b="0" spc="-25" dirty="0">
                <a:solidFill>
                  <a:srgbClr val="014EA0"/>
                </a:solidFill>
                <a:latin typeface="Verdana"/>
                <a:cs typeface="Verdana"/>
              </a:rPr>
              <a:t>R</a:t>
            </a:r>
            <a:r>
              <a:rPr b="0" spc="25" dirty="0">
                <a:solidFill>
                  <a:srgbClr val="014EA0"/>
                </a:solidFill>
                <a:latin typeface="Verdana"/>
                <a:cs typeface="Verdana"/>
              </a:rPr>
              <a:t>O</a:t>
            </a:r>
            <a:r>
              <a:rPr b="0" spc="-5" dirty="0">
                <a:solidFill>
                  <a:srgbClr val="014EA0"/>
                </a:solidFill>
                <a:latin typeface="Verdana"/>
                <a:cs typeface="Verdana"/>
              </a:rPr>
              <a:t>LL</a:t>
            </a:r>
            <a:r>
              <a:rPr b="0" spc="-15" dirty="0">
                <a:solidFill>
                  <a:srgbClr val="014EA0"/>
                </a:solidFill>
                <a:latin typeface="Verdana"/>
                <a:cs typeface="Verdana"/>
              </a:rPr>
              <a:t>E</a:t>
            </a:r>
            <a:r>
              <a:rPr b="0" spc="-25" dirty="0">
                <a:solidFill>
                  <a:srgbClr val="014EA0"/>
                </a:solidFill>
                <a:latin typeface="Verdana"/>
                <a:cs typeface="Verdana"/>
              </a:rPr>
              <a:t>R</a:t>
            </a:r>
            <a:r>
              <a:rPr b="0" spc="10" dirty="0">
                <a:solidFill>
                  <a:srgbClr val="014EA0"/>
                </a:solidFill>
                <a:latin typeface="Verdana"/>
                <a:cs typeface="Verdana"/>
              </a:rPr>
              <a:t>S  </a:t>
            </a:r>
            <a:r>
              <a:rPr b="0" spc="15" dirty="0">
                <a:solidFill>
                  <a:srgbClr val="014EA0"/>
                </a:solidFill>
                <a:latin typeface="Verdana"/>
                <a:cs typeface="Verdana"/>
              </a:rPr>
              <a:t>CONTROL</a:t>
            </a:r>
            <a:r>
              <a:rPr b="0" spc="-18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b="0" spc="15" dirty="0">
                <a:solidFill>
                  <a:srgbClr val="014EA0"/>
                </a:solidFill>
                <a:latin typeface="Verdana"/>
                <a:cs typeface="Verdana"/>
              </a:rPr>
              <a:t>CIRCUITS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8760" y="274320"/>
            <a:ext cx="6126479" cy="45948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" y="1143000"/>
            <a:ext cx="8595360" cy="35280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207899"/>
            <a:ext cx="7435215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b="0" dirty="0">
                <a:solidFill>
                  <a:srgbClr val="404040"/>
                </a:solidFill>
                <a:latin typeface="Verdana"/>
                <a:cs typeface="Verdana"/>
              </a:rPr>
              <a:t>IN-EAR</a:t>
            </a:r>
            <a:r>
              <a:rPr sz="3000" b="0" spc="-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0" spc="5" dirty="0">
                <a:solidFill>
                  <a:srgbClr val="404040"/>
                </a:solidFill>
                <a:latin typeface="Verdana"/>
                <a:cs typeface="Verdana"/>
              </a:rPr>
              <a:t>PULSE</a:t>
            </a:r>
            <a:r>
              <a:rPr sz="3000" b="0" spc="-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0" spc="-55" dirty="0">
                <a:solidFill>
                  <a:srgbClr val="404040"/>
                </a:solidFill>
                <a:latin typeface="Verdana"/>
                <a:cs typeface="Verdana"/>
              </a:rPr>
              <a:t>BIODATA</a:t>
            </a:r>
            <a:r>
              <a:rPr sz="3000" b="0" spc="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0" spc="-5" dirty="0">
                <a:solidFill>
                  <a:srgbClr val="404040"/>
                </a:solidFill>
                <a:latin typeface="Verdana"/>
                <a:cs typeface="Verdana"/>
              </a:rPr>
              <a:t>ACQUISITION</a:t>
            </a:r>
            <a:endParaRPr sz="30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807719"/>
            <a:ext cx="7467600" cy="418337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890" y="207899"/>
            <a:ext cx="7864475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b="0" spc="-25" dirty="0">
                <a:solidFill>
                  <a:srgbClr val="404040"/>
                </a:solidFill>
                <a:latin typeface="Verdana"/>
                <a:cs typeface="Verdana"/>
              </a:rPr>
              <a:t>PASSWORD</a:t>
            </a:r>
            <a:r>
              <a:rPr sz="3000" b="0" spc="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0" spc="-5" dirty="0">
                <a:solidFill>
                  <a:srgbClr val="404040"/>
                </a:solidFill>
                <a:latin typeface="Verdana"/>
                <a:cs typeface="Verdana"/>
              </a:rPr>
              <a:t>BASED</a:t>
            </a:r>
            <a:r>
              <a:rPr sz="3000" b="0" spc="-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0" spc="-5" dirty="0">
                <a:solidFill>
                  <a:srgbClr val="404040"/>
                </a:solidFill>
                <a:latin typeface="Verdana"/>
                <a:cs typeface="Verdana"/>
              </a:rPr>
              <a:t>DOOR</a:t>
            </a:r>
            <a:r>
              <a:rPr sz="3000" b="0" spc="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0" spc="-5" dirty="0">
                <a:solidFill>
                  <a:srgbClr val="404040"/>
                </a:solidFill>
                <a:latin typeface="Verdana"/>
                <a:cs typeface="Verdana"/>
              </a:rPr>
              <a:t>LOCK</a:t>
            </a:r>
            <a:r>
              <a:rPr sz="3000" b="0" spc="-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0" dirty="0">
                <a:solidFill>
                  <a:srgbClr val="404040"/>
                </a:solidFill>
                <a:latin typeface="Verdana"/>
                <a:cs typeface="Verdana"/>
              </a:rPr>
              <a:t>SYSTEM</a:t>
            </a:r>
            <a:endParaRPr sz="30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93419"/>
            <a:ext cx="8191500" cy="4282440"/>
            <a:chOff x="0" y="693419"/>
            <a:chExt cx="8191500" cy="42824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784859"/>
              <a:ext cx="7239000" cy="4191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93419"/>
              <a:ext cx="2697480" cy="276606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spc="15" dirty="0"/>
              <a:t>C</a:t>
            </a:r>
            <a:r>
              <a:rPr spc="20" dirty="0"/>
              <a:t>o</a:t>
            </a:r>
            <a:r>
              <a:rPr spc="25" dirty="0"/>
              <a:t>p</a:t>
            </a:r>
            <a:r>
              <a:rPr spc="-5" dirty="0"/>
              <a:t>y</a:t>
            </a:r>
            <a:r>
              <a:rPr dirty="0"/>
              <a:t>r</a:t>
            </a:r>
            <a:r>
              <a:rPr spc="20" dirty="0"/>
              <a:t>i</a:t>
            </a:r>
            <a:r>
              <a:rPr spc="-30" dirty="0"/>
              <a:t>g</a:t>
            </a:r>
            <a:r>
              <a:rPr spc="25" dirty="0"/>
              <a:t>h</a:t>
            </a:r>
            <a:r>
              <a:rPr dirty="0"/>
              <a:t>t</a:t>
            </a:r>
            <a:r>
              <a:rPr spc="-65" dirty="0"/>
              <a:t> </a:t>
            </a:r>
            <a:r>
              <a:rPr spc="-600" dirty="0"/>
              <a:t>©️</a:t>
            </a:r>
            <a:r>
              <a:rPr spc="45" dirty="0"/>
              <a:t> </a:t>
            </a:r>
            <a:r>
              <a:rPr spc="25" dirty="0"/>
              <a:t>A</a:t>
            </a:r>
            <a:r>
              <a:rPr dirty="0"/>
              <a:t>mer</a:t>
            </a:r>
            <a:r>
              <a:rPr spc="20" dirty="0"/>
              <a:t>i</a:t>
            </a:r>
            <a:r>
              <a:rPr spc="-30" dirty="0"/>
              <a:t>c</a:t>
            </a:r>
            <a:r>
              <a:rPr spc="25" dirty="0"/>
              <a:t>a</a:t>
            </a:r>
            <a:r>
              <a:rPr dirty="0"/>
              <a:t>n</a:t>
            </a:r>
            <a:r>
              <a:rPr spc="-65" dirty="0"/>
              <a:t> </a:t>
            </a:r>
            <a:r>
              <a:rPr spc="20" dirty="0"/>
              <a:t>C</a:t>
            </a:r>
            <a:r>
              <a:rPr spc="25" dirty="0"/>
              <a:t>o</a:t>
            </a:r>
            <a:r>
              <a:rPr spc="20" dirty="0"/>
              <a:t>ll</a:t>
            </a:r>
            <a:r>
              <a:rPr dirty="0"/>
              <a:t>e</a:t>
            </a:r>
            <a:r>
              <a:rPr spc="-25" dirty="0"/>
              <a:t>g</a:t>
            </a:r>
            <a:r>
              <a:rPr dirty="0"/>
              <a:t>e</a:t>
            </a:r>
            <a:r>
              <a:rPr spc="-90" dirty="0"/>
              <a:t> </a:t>
            </a:r>
            <a:r>
              <a:rPr spc="25" dirty="0"/>
              <a:t>o</a:t>
            </a:r>
            <a:r>
              <a:rPr dirty="0"/>
              <a:t>f</a:t>
            </a:r>
            <a:r>
              <a:rPr spc="-100" dirty="0"/>
              <a:t> </a:t>
            </a:r>
            <a:r>
              <a:rPr spc="15" dirty="0"/>
              <a:t>t</a:t>
            </a:r>
            <a:r>
              <a:rPr spc="25" dirty="0"/>
              <a:t>h</a:t>
            </a:r>
            <a:r>
              <a:rPr dirty="0"/>
              <a:t>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M</a:t>
            </a:r>
            <a:r>
              <a:rPr spc="20" dirty="0"/>
              <a:t>i</a:t>
            </a:r>
            <a:r>
              <a:rPr spc="25" dirty="0"/>
              <a:t>dd</a:t>
            </a:r>
            <a:r>
              <a:rPr spc="20" dirty="0"/>
              <a:t>l</a:t>
            </a:r>
            <a:r>
              <a:rPr dirty="0"/>
              <a:t>e</a:t>
            </a:r>
            <a:r>
              <a:rPr spc="-90" dirty="0"/>
              <a:t> </a:t>
            </a:r>
            <a:r>
              <a:rPr spc="10" dirty="0"/>
              <a:t>E</a:t>
            </a:r>
            <a:r>
              <a:rPr spc="20" dirty="0"/>
              <a:t>a</a:t>
            </a:r>
            <a:r>
              <a:rPr spc="5" dirty="0"/>
              <a:t>s</a:t>
            </a:r>
            <a:r>
              <a:rPr spc="15" dirty="0"/>
              <a:t>t</a:t>
            </a:r>
            <a:r>
              <a:rPr dirty="0"/>
              <a:t>.</a:t>
            </a:r>
            <a:r>
              <a:rPr spc="-80" dirty="0"/>
              <a:t> </a:t>
            </a:r>
            <a:r>
              <a:rPr spc="-10" dirty="0"/>
              <a:t>2020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0600" y="207899"/>
            <a:ext cx="463169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b="0" spc="-5" dirty="0">
                <a:solidFill>
                  <a:srgbClr val="404040"/>
                </a:solidFill>
                <a:latin typeface="Verdana"/>
                <a:cs typeface="Verdana"/>
              </a:rPr>
              <a:t>ENGINE</a:t>
            </a:r>
            <a:r>
              <a:rPr sz="3000" b="0" spc="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0" spc="-10" dirty="0">
                <a:solidFill>
                  <a:srgbClr val="404040"/>
                </a:solidFill>
                <a:latin typeface="Verdana"/>
                <a:cs typeface="Verdana"/>
              </a:rPr>
              <a:t>CONTROL</a:t>
            </a:r>
            <a:r>
              <a:rPr sz="3000" b="0" spc="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0" dirty="0">
                <a:solidFill>
                  <a:srgbClr val="404040"/>
                </a:solidFill>
                <a:latin typeface="Verdana"/>
                <a:cs typeface="Verdana"/>
              </a:rPr>
              <a:t>UNIT</a:t>
            </a:r>
            <a:endParaRPr sz="30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3919" y="693419"/>
            <a:ext cx="7376159" cy="43205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1968" y="117093"/>
            <a:ext cx="8241031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b="0" spc="5" dirty="0">
                <a:solidFill>
                  <a:srgbClr val="014EA0"/>
                </a:solidFill>
                <a:latin typeface="Verdana"/>
                <a:cs typeface="Verdana"/>
              </a:rPr>
              <a:t>ARCHITECTURE</a:t>
            </a:r>
            <a:r>
              <a:rPr sz="3000" b="0" spc="-15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b="0" spc="-10" dirty="0">
                <a:solidFill>
                  <a:srgbClr val="014EA0"/>
                </a:solidFill>
                <a:latin typeface="Verdana"/>
                <a:cs typeface="Verdana"/>
              </a:rPr>
              <a:t>OF</a:t>
            </a:r>
            <a:r>
              <a:rPr sz="3000" b="0" spc="2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b="0" dirty="0">
                <a:solidFill>
                  <a:srgbClr val="014EA0"/>
                </a:solidFill>
                <a:latin typeface="Verdana"/>
                <a:cs typeface="Verdana"/>
              </a:rPr>
              <a:t>A</a:t>
            </a:r>
            <a:r>
              <a:rPr sz="3000" b="0" spc="-5" dirty="0">
                <a:solidFill>
                  <a:srgbClr val="014EA0"/>
                </a:solidFill>
                <a:latin typeface="Verdana"/>
                <a:cs typeface="Verdana"/>
              </a:rPr>
              <a:t> MICROCONTROLLER</a:t>
            </a:r>
            <a:endParaRPr sz="3000" dirty="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3980" y="632458"/>
            <a:ext cx="655320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57" y="1048448"/>
            <a:ext cx="7583170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0" dirty="0">
                <a:latin typeface="Verdana"/>
                <a:cs typeface="Verdana"/>
              </a:rPr>
              <a:t>in</a:t>
            </a:r>
            <a:r>
              <a:rPr b="0" spc="-15" dirty="0">
                <a:latin typeface="Verdana"/>
                <a:cs typeface="Verdana"/>
              </a:rPr>
              <a:t> </a:t>
            </a:r>
            <a:r>
              <a:rPr b="0" spc="20" dirty="0">
                <a:latin typeface="Verdana"/>
                <a:cs typeface="Verdana"/>
              </a:rPr>
              <a:t>order</a:t>
            </a:r>
            <a:r>
              <a:rPr b="0" spc="-135" dirty="0">
                <a:latin typeface="Verdana"/>
                <a:cs typeface="Verdana"/>
              </a:rPr>
              <a:t> </a:t>
            </a:r>
            <a:r>
              <a:rPr b="0" dirty="0">
                <a:latin typeface="Verdana"/>
                <a:cs typeface="Verdana"/>
              </a:rPr>
              <a:t>to</a:t>
            </a:r>
            <a:r>
              <a:rPr b="0" spc="25" dirty="0">
                <a:latin typeface="Verdana"/>
                <a:cs typeface="Verdana"/>
              </a:rPr>
              <a:t> work,</a:t>
            </a:r>
            <a:r>
              <a:rPr b="0" spc="-180" dirty="0">
                <a:latin typeface="Verdana"/>
                <a:cs typeface="Verdana"/>
              </a:rPr>
              <a:t> </a:t>
            </a:r>
            <a:r>
              <a:rPr b="0" spc="5" dirty="0">
                <a:latin typeface="Verdana"/>
                <a:cs typeface="Verdana"/>
              </a:rPr>
              <a:t>MCUs</a:t>
            </a:r>
            <a:r>
              <a:rPr b="0" spc="-25" dirty="0">
                <a:latin typeface="Verdana"/>
                <a:cs typeface="Verdana"/>
              </a:rPr>
              <a:t> </a:t>
            </a:r>
            <a:r>
              <a:rPr b="0" spc="10" dirty="0">
                <a:latin typeface="Verdana"/>
                <a:cs typeface="Verdana"/>
              </a:rPr>
              <a:t>need: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57" y="2206155"/>
            <a:ext cx="7925434" cy="163576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561340" indent="-549275">
              <a:lnSpc>
                <a:spcPct val="100000"/>
              </a:lnSpc>
              <a:spcBef>
                <a:spcPts val="515"/>
              </a:spcBef>
              <a:buAutoNum type="arabicPeriod"/>
              <a:tabLst>
                <a:tab pos="561975" algn="l"/>
              </a:tabLst>
            </a:pPr>
            <a:r>
              <a:rPr sz="3150" spc="5" dirty="0">
                <a:solidFill>
                  <a:srgbClr val="404040"/>
                </a:solidFill>
                <a:latin typeface="Verdana"/>
                <a:cs typeface="Verdana"/>
              </a:rPr>
              <a:t>Power</a:t>
            </a:r>
            <a:endParaRPr sz="3150">
              <a:latin typeface="Verdana"/>
              <a:cs typeface="Verdana"/>
            </a:endParaRPr>
          </a:p>
          <a:p>
            <a:pPr marL="1019175" indent="-549275">
              <a:lnSpc>
                <a:spcPct val="100000"/>
              </a:lnSpc>
              <a:spcBef>
                <a:spcPts val="425"/>
              </a:spcBef>
              <a:buAutoNum type="arabicPeriod"/>
              <a:tabLst>
                <a:tab pos="1019810" algn="l"/>
              </a:tabLst>
            </a:pP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15" dirty="0">
                <a:solidFill>
                  <a:srgbClr val="404040"/>
                </a:solidFill>
                <a:latin typeface="Verdana"/>
                <a:cs typeface="Verdana"/>
              </a:rPr>
              <a:t>program</a:t>
            </a:r>
            <a:r>
              <a:rPr sz="3150" spc="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(code)</a:t>
            </a:r>
            <a:r>
              <a:rPr sz="3150" spc="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15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315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follow</a:t>
            </a:r>
            <a:endParaRPr sz="3150">
              <a:latin typeface="Verdana"/>
              <a:cs typeface="Verdana"/>
            </a:endParaRPr>
          </a:p>
          <a:p>
            <a:pPr marL="1476375" indent="-549275">
              <a:lnSpc>
                <a:spcPct val="100000"/>
              </a:lnSpc>
              <a:spcBef>
                <a:spcPts val="484"/>
              </a:spcBef>
              <a:buAutoNum type="arabicPeriod"/>
              <a:tabLst>
                <a:tab pos="1477010" algn="l"/>
              </a:tabLst>
            </a:pP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Inputs</a:t>
            </a:r>
            <a:r>
              <a:rPr sz="315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 Outputs</a:t>
            </a:r>
            <a:r>
              <a:rPr sz="315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(HW</a:t>
            </a:r>
            <a:r>
              <a:rPr sz="3150" spc="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&amp;</a:t>
            </a:r>
            <a:r>
              <a:rPr sz="315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5" dirty="0">
                <a:solidFill>
                  <a:srgbClr val="404040"/>
                </a:solidFill>
                <a:latin typeface="Verdana"/>
                <a:cs typeface="Verdana"/>
              </a:rPr>
              <a:t>SW)</a:t>
            </a:r>
            <a:endParaRPr sz="3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57" y="1048448"/>
            <a:ext cx="7583170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0" dirty="0">
                <a:latin typeface="Verdana"/>
                <a:cs typeface="Verdana"/>
              </a:rPr>
              <a:t>in</a:t>
            </a:r>
            <a:r>
              <a:rPr b="0" spc="-15" dirty="0">
                <a:latin typeface="Verdana"/>
                <a:cs typeface="Verdana"/>
              </a:rPr>
              <a:t> </a:t>
            </a:r>
            <a:r>
              <a:rPr b="0" spc="20" dirty="0">
                <a:latin typeface="Verdana"/>
                <a:cs typeface="Verdana"/>
              </a:rPr>
              <a:t>order</a:t>
            </a:r>
            <a:r>
              <a:rPr b="0" spc="-135" dirty="0">
                <a:latin typeface="Verdana"/>
                <a:cs typeface="Verdana"/>
              </a:rPr>
              <a:t> </a:t>
            </a:r>
            <a:r>
              <a:rPr b="0" dirty="0">
                <a:latin typeface="Verdana"/>
                <a:cs typeface="Verdana"/>
              </a:rPr>
              <a:t>to</a:t>
            </a:r>
            <a:r>
              <a:rPr b="0" spc="25" dirty="0">
                <a:latin typeface="Verdana"/>
                <a:cs typeface="Verdana"/>
              </a:rPr>
              <a:t> work,</a:t>
            </a:r>
            <a:r>
              <a:rPr b="0" spc="-180" dirty="0">
                <a:latin typeface="Verdana"/>
                <a:cs typeface="Verdana"/>
              </a:rPr>
              <a:t> </a:t>
            </a:r>
            <a:r>
              <a:rPr b="0" spc="5" dirty="0">
                <a:latin typeface="Verdana"/>
                <a:cs typeface="Verdana"/>
              </a:rPr>
              <a:t>MCUs</a:t>
            </a:r>
            <a:r>
              <a:rPr b="0" spc="-25" dirty="0">
                <a:latin typeface="Verdana"/>
                <a:cs typeface="Verdana"/>
              </a:rPr>
              <a:t> </a:t>
            </a:r>
            <a:r>
              <a:rPr b="0" spc="10" dirty="0">
                <a:latin typeface="Verdana"/>
                <a:cs typeface="Verdana"/>
              </a:rPr>
              <a:t>need: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2255520"/>
            <a:ext cx="525780" cy="525780"/>
          </a:xfrm>
          <a:prstGeom prst="rect">
            <a:avLst/>
          </a:prstGeom>
          <a:ln w="60960">
            <a:solidFill>
              <a:srgbClr val="014EA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25"/>
              </a:spcBef>
            </a:pP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1.</a:t>
            </a:r>
            <a:endParaRPr sz="31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5450" y="2254821"/>
            <a:ext cx="1250950" cy="5105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150" spc="-4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150" spc="15" dirty="0">
                <a:solidFill>
                  <a:srgbClr val="404040"/>
                </a:solidFill>
                <a:latin typeface="Verdana"/>
                <a:cs typeface="Verdana"/>
              </a:rPr>
              <a:t>o</a:t>
            </a:r>
            <a:r>
              <a:rPr sz="3150" spc="-5" dirty="0">
                <a:solidFill>
                  <a:srgbClr val="404040"/>
                </a:solidFill>
                <a:latin typeface="Verdana"/>
                <a:cs typeface="Verdana"/>
              </a:rPr>
              <a:t>w</a:t>
            </a:r>
            <a:r>
              <a:rPr sz="3150" spc="35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3150" spc="10" dirty="0">
                <a:solidFill>
                  <a:srgbClr val="404040"/>
                </a:solidFill>
                <a:latin typeface="Verdana"/>
                <a:cs typeface="Verdana"/>
              </a:rPr>
              <a:t>r</a:t>
            </a:r>
            <a:endParaRPr sz="31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4092" y="2788538"/>
            <a:ext cx="6083935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2.</a:t>
            </a:r>
            <a:r>
              <a:rPr sz="3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15" dirty="0">
                <a:solidFill>
                  <a:srgbClr val="404040"/>
                </a:solidFill>
                <a:latin typeface="Verdana"/>
                <a:cs typeface="Verdana"/>
              </a:rPr>
              <a:t>program</a:t>
            </a:r>
            <a:r>
              <a:rPr sz="3150" spc="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(code)</a:t>
            </a:r>
            <a:r>
              <a:rPr sz="3150" spc="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15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315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follow</a:t>
            </a:r>
            <a:endParaRPr sz="31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4460" y="3322320"/>
            <a:ext cx="518159" cy="518159"/>
          </a:xfrm>
          <a:prstGeom prst="rect">
            <a:avLst/>
          </a:prstGeom>
          <a:ln w="60960">
            <a:solidFill>
              <a:srgbClr val="014EA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200"/>
              </a:spcBef>
            </a:pP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3.</a:t>
            </a:r>
            <a:endParaRPr sz="31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00284" y="3330575"/>
            <a:ext cx="6461125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Inputs</a:t>
            </a:r>
            <a:r>
              <a:rPr sz="315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 Outputs</a:t>
            </a:r>
            <a:r>
              <a:rPr sz="315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(HW</a:t>
            </a:r>
            <a:r>
              <a:rPr sz="3150" spc="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&amp;</a:t>
            </a:r>
            <a:r>
              <a:rPr sz="315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5" dirty="0">
                <a:solidFill>
                  <a:srgbClr val="404040"/>
                </a:solidFill>
                <a:latin typeface="Verdana"/>
                <a:cs typeface="Verdana"/>
              </a:rPr>
              <a:t>SW)</a:t>
            </a:r>
            <a:endParaRPr sz="31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70100" y="4295775"/>
            <a:ext cx="499745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b="1" spc="-5" dirty="0">
                <a:solidFill>
                  <a:srgbClr val="014EA0"/>
                </a:solidFill>
                <a:latin typeface="Verdana"/>
                <a:cs typeface="Verdana"/>
              </a:rPr>
              <a:t>DIGITAL</a:t>
            </a:r>
            <a:r>
              <a:rPr sz="3000" b="1" spc="-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b="1" spc="-5" dirty="0">
                <a:solidFill>
                  <a:srgbClr val="014EA0"/>
                </a:solidFill>
                <a:latin typeface="Verdana"/>
                <a:cs typeface="Verdana"/>
              </a:rPr>
              <a:t>COMPONENTS</a:t>
            </a:r>
            <a:endParaRPr sz="300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379" y="2194560"/>
            <a:ext cx="693420" cy="69341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0639" y="3261359"/>
            <a:ext cx="685799" cy="68579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57" y="1048448"/>
            <a:ext cx="7583170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0" dirty="0">
                <a:latin typeface="Verdana"/>
                <a:cs typeface="Verdana"/>
              </a:rPr>
              <a:t>in</a:t>
            </a:r>
            <a:r>
              <a:rPr b="0" spc="-15" dirty="0">
                <a:latin typeface="Verdana"/>
                <a:cs typeface="Verdana"/>
              </a:rPr>
              <a:t> </a:t>
            </a:r>
            <a:r>
              <a:rPr b="0" spc="20" dirty="0">
                <a:latin typeface="Verdana"/>
                <a:cs typeface="Verdana"/>
              </a:rPr>
              <a:t>order</a:t>
            </a:r>
            <a:r>
              <a:rPr b="0" spc="-135" dirty="0">
                <a:latin typeface="Verdana"/>
                <a:cs typeface="Verdana"/>
              </a:rPr>
              <a:t> </a:t>
            </a:r>
            <a:r>
              <a:rPr b="0" dirty="0">
                <a:latin typeface="Verdana"/>
                <a:cs typeface="Verdana"/>
              </a:rPr>
              <a:t>to</a:t>
            </a:r>
            <a:r>
              <a:rPr b="0" spc="25" dirty="0">
                <a:latin typeface="Verdana"/>
                <a:cs typeface="Verdana"/>
              </a:rPr>
              <a:t> work,</a:t>
            </a:r>
            <a:r>
              <a:rPr b="0" spc="-180" dirty="0">
                <a:latin typeface="Verdana"/>
                <a:cs typeface="Verdana"/>
              </a:rPr>
              <a:t> </a:t>
            </a:r>
            <a:r>
              <a:rPr b="0" spc="5" dirty="0">
                <a:latin typeface="Verdana"/>
                <a:cs typeface="Verdana"/>
              </a:rPr>
              <a:t>MCUs</a:t>
            </a:r>
            <a:r>
              <a:rPr b="0" spc="-25" dirty="0">
                <a:latin typeface="Verdana"/>
                <a:cs typeface="Verdana"/>
              </a:rPr>
              <a:t> </a:t>
            </a:r>
            <a:r>
              <a:rPr b="0" spc="10" dirty="0">
                <a:latin typeface="Verdana"/>
                <a:cs typeface="Verdana"/>
              </a:rPr>
              <a:t>need: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57" y="2254821"/>
            <a:ext cx="1800225" cy="5105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1.</a:t>
            </a:r>
            <a:r>
              <a:rPr sz="315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5" dirty="0">
                <a:solidFill>
                  <a:srgbClr val="404040"/>
                </a:solidFill>
                <a:latin typeface="Verdana"/>
                <a:cs typeface="Verdana"/>
              </a:rPr>
              <a:t>Power</a:t>
            </a:r>
            <a:endParaRPr sz="31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2766060"/>
            <a:ext cx="525780" cy="525780"/>
          </a:xfrm>
          <a:prstGeom prst="rect">
            <a:avLst/>
          </a:prstGeom>
          <a:ln w="60960">
            <a:solidFill>
              <a:srgbClr val="E82728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2.</a:t>
            </a:r>
            <a:endParaRPr sz="31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3195" y="2788538"/>
            <a:ext cx="5534660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15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15" dirty="0">
                <a:solidFill>
                  <a:srgbClr val="404040"/>
                </a:solidFill>
                <a:latin typeface="Verdana"/>
                <a:cs typeface="Verdana"/>
              </a:rPr>
              <a:t>program</a:t>
            </a:r>
            <a:r>
              <a:rPr sz="3150" spc="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(code)</a:t>
            </a:r>
            <a:r>
              <a:rPr sz="3150" spc="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15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315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follow</a:t>
            </a:r>
            <a:endParaRPr sz="31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1610" y="3330575"/>
            <a:ext cx="7009765" cy="14490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3.</a:t>
            </a:r>
            <a:r>
              <a:rPr sz="315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Inputs</a:t>
            </a:r>
            <a:r>
              <a:rPr sz="315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3150" spc="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Outputs</a:t>
            </a:r>
            <a:r>
              <a:rPr sz="315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(HW</a:t>
            </a:r>
            <a:r>
              <a:rPr sz="3150" spc="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&amp;</a:t>
            </a:r>
            <a:r>
              <a:rPr sz="315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5" dirty="0">
                <a:solidFill>
                  <a:srgbClr val="404040"/>
                </a:solidFill>
                <a:latin typeface="Verdana"/>
                <a:cs typeface="Verdana"/>
              </a:rPr>
              <a:t>SW)</a:t>
            </a:r>
            <a:endParaRPr sz="31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100">
              <a:latin typeface="Verdana"/>
              <a:cs typeface="Verdana"/>
            </a:endParaRPr>
          </a:p>
          <a:p>
            <a:pPr marL="516255">
              <a:lnSpc>
                <a:spcPct val="100000"/>
              </a:lnSpc>
            </a:pPr>
            <a:r>
              <a:rPr sz="3000" b="1" spc="10" dirty="0">
                <a:solidFill>
                  <a:srgbClr val="E82728"/>
                </a:solidFill>
                <a:latin typeface="Verdana"/>
                <a:cs typeface="Verdana"/>
              </a:rPr>
              <a:t>DATA</a:t>
            </a:r>
            <a:r>
              <a:rPr sz="3000" b="1" spc="-11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b="1" dirty="0">
                <a:solidFill>
                  <a:srgbClr val="E82728"/>
                </a:solidFill>
                <a:latin typeface="Verdana"/>
                <a:cs typeface="Verdana"/>
              </a:rPr>
              <a:t>REPRESENTATION</a:t>
            </a:r>
            <a:endParaRPr sz="300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0580" y="2705100"/>
            <a:ext cx="693419" cy="69341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1" y="349250"/>
            <a:ext cx="6994206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0" dirty="0">
                <a:solidFill>
                  <a:srgbClr val="014EA0"/>
                </a:solidFill>
              </a:rPr>
              <a:t>DIGITAL</a:t>
            </a:r>
            <a:r>
              <a:rPr spc="-220" dirty="0">
                <a:solidFill>
                  <a:srgbClr val="014EA0"/>
                </a:solidFill>
              </a:rPr>
              <a:t> </a:t>
            </a:r>
            <a:r>
              <a:rPr spc="15" dirty="0">
                <a:solidFill>
                  <a:srgbClr val="014EA0"/>
                </a:solidFill>
              </a:rPr>
              <a:t>COMPONENTS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0825" y="1467738"/>
            <a:ext cx="6108065" cy="3311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3000" b="1" spc="-5" dirty="0">
                <a:solidFill>
                  <a:srgbClr val="404040"/>
                </a:solidFill>
                <a:latin typeface="Verdana"/>
                <a:cs typeface="Verdana"/>
              </a:rPr>
              <a:t>basic</a:t>
            </a:r>
            <a:r>
              <a:rPr sz="3000" b="1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1" spc="-5" dirty="0">
                <a:solidFill>
                  <a:srgbClr val="404040"/>
                </a:solidFill>
                <a:latin typeface="Verdana"/>
                <a:cs typeface="Verdana"/>
              </a:rPr>
              <a:t>electronic components</a:t>
            </a:r>
            <a:endParaRPr sz="3000">
              <a:latin typeface="Verdana"/>
              <a:cs typeface="Verdana"/>
            </a:endParaRPr>
          </a:p>
          <a:p>
            <a:pPr marL="1621155" marR="1614170" indent="-5715" algn="ctr">
              <a:lnSpc>
                <a:spcPct val="200300"/>
              </a:lnSpc>
            </a:pPr>
            <a:r>
              <a:rPr sz="3000" b="1" spc="10" dirty="0">
                <a:solidFill>
                  <a:srgbClr val="404040"/>
                </a:solidFill>
                <a:latin typeface="Verdana"/>
                <a:cs typeface="Verdana"/>
              </a:rPr>
              <a:t>Ohm’s </a:t>
            </a:r>
            <a:r>
              <a:rPr sz="3000" b="1" spc="-10" dirty="0">
                <a:solidFill>
                  <a:srgbClr val="404040"/>
                </a:solidFill>
                <a:latin typeface="Verdana"/>
                <a:cs typeface="Verdana"/>
              </a:rPr>
              <a:t>law </a:t>
            </a:r>
            <a:r>
              <a:rPr sz="3000" b="1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1" spc="-15" dirty="0">
                <a:solidFill>
                  <a:srgbClr val="404040"/>
                </a:solidFill>
                <a:latin typeface="Verdana"/>
                <a:cs typeface="Verdana"/>
              </a:rPr>
              <a:t>Boolean</a:t>
            </a:r>
            <a:r>
              <a:rPr sz="3000" b="1" spc="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1" spc="-10" dirty="0">
                <a:solidFill>
                  <a:srgbClr val="404040"/>
                </a:solidFill>
                <a:latin typeface="Verdana"/>
                <a:cs typeface="Verdana"/>
              </a:rPr>
              <a:t>logic</a:t>
            </a:r>
            <a:endParaRPr sz="3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4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3000" b="1" spc="5" dirty="0">
                <a:solidFill>
                  <a:srgbClr val="E82728"/>
                </a:solidFill>
                <a:latin typeface="Verdana"/>
                <a:cs typeface="Verdana"/>
              </a:rPr>
              <a:t>understand</a:t>
            </a:r>
            <a:r>
              <a:rPr sz="3000" b="1" spc="-17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b="1" spc="-5" dirty="0">
                <a:solidFill>
                  <a:srgbClr val="E82728"/>
                </a:solidFill>
                <a:latin typeface="Verdana"/>
                <a:cs typeface="Verdana"/>
              </a:rPr>
              <a:t>variables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61335" y="234568"/>
            <a:ext cx="302831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spc="-5" dirty="0">
                <a:solidFill>
                  <a:srgbClr val="E82728"/>
                </a:solidFill>
                <a:latin typeface="Verdana"/>
                <a:cs typeface="Verdana"/>
              </a:rPr>
              <a:t>OHM’S</a:t>
            </a:r>
            <a:r>
              <a:rPr sz="3600" b="1" spc="-6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600" b="1" dirty="0">
                <a:solidFill>
                  <a:srgbClr val="E82728"/>
                </a:solidFill>
                <a:latin typeface="Verdana"/>
                <a:cs typeface="Verdana"/>
              </a:rPr>
              <a:t>LAW</a:t>
            </a:r>
            <a:endParaRPr sz="36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140" y="952500"/>
            <a:ext cx="4785360" cy="40005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865495" y="2629916"/>
            <a:ext cx="256667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b="1" spc="15" dirty="0">
                <a:solidFill>
                  <a:srgbClr val="404040"/>
                </a:solidFill>
                <a:latin typeface="Verdana"/>
                <a:cs typeface="Verdana"/>
              </a:rPr>
              <a:t>V</a:t>
            </a:r>
            <a:r>
              <a:rPr sz="4000" b="1" spc="-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b="1" spc="20" dirty="0">
                <a:solidFill>
                  <a:srgbClr val="404040"/>
                </a:solidFill>
                <a:latin typeface="Verdana"/>
                <a:cs typeface="Verdana"/>
              </a:rPr>
              <a:t>=</a:t>
            </a:r>
            <a:r>
              <a:rPr sz="4000" b="1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b="1" spc="10" dirty="0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4000" b="1" spc="-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b="1" spc="15" dirty="0">
                <a:solidFill>
                  <a:srgbClr val="404040"/>
                </a:solidFill>
                <a:latin typeface="Verdana"/>
                <a:cs typeface="Verdana"/>
              </a:rPr>
              <a:t>x</a:t>
            </a:r>
            <a:r>
              <a:rPr sz="4000" b="1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b="1" spc="15" dirty="0">
                <a:solidFill>
                  <a:srgbClr val="404040"/>
                </a:solidFill>
                <a:latin typeface="Verdana"/>
                <a:cs typeface="Verdana"/>
              </a:rPr>
              <a:t>R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8239" y="234568"/>
            <a:ext cx="429133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dirty="0"/>
              <a:t>BOOLEAN</a:t>
            </a:r>
            <a:r>
              <a:rPr sz="3600" spc="-80" dirty="0"/>
              <a:t> </a:t>
            </a:r>
            <a:r>
              <a:rPr sz="3600" dirty="0"/>
              <a:t>LOGIC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1074419" y="822960"/>
            <a:ext cx="6995159" cy="4229100"/>
            <a:chOff x="1074419" y="822960"/>
            <a:chExt cx="6995159" cy="42291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4419" y="822960"/>
              <a:ext cx="6995159" cy="42291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002280" y="1744992"/>
              <a:ext cx="3901440" cy="3284220"/>
            </a:xfrm>
            <a:custGeom>
              <a:avLst/>
              <a:gdLst/>
              <a:ahLst/>
              <a:cxnLst/>
              <a:rect l="l" t="t" r="r" b="b"/>
              <a:pathLst>
                <a:path w="3901440" h="3284220">
                  <a:moveTo>
                    <a:pt x="152400" y="1645907"/>
                  </a:moveTo>
                  <a:lnTo>
                    <a:pt x="0" y="1645907"/>
                  </a:lnTo>
                  <a:lnTo>
                    <a:pt x="0" y="1859267"/>
                  </a:lnTo>
                  <a:lnTo>
                    <a:pt x="152400" y="1859267"/>
                  </a:lnTo>
                  <a:lnTo>
                    <a:pt x="152400" y="1645907"/>
                  </a:lnTo>
                  <a:close/>
                </a:path>
                <a:path w="3901440" h="3284220">
                  <a:moveTo>
                    <a:pt x="228600" y="3070847"/>
                  </a:moveTo>
                  <a:lnTo>
                    <a:pt x="76200" y="3070847"/>
                  </a:lnTo>
                  <a:lnTo>
                    <a:pt x="76200" y="3284207"/>
                  </a:lnTo>
                  <a:lnTo>
                    <a:pt x="228600" y="3284207"/>
                  </a:lnTo>
                  <a:lnTo>
                    <a:pt x="228600" y="3070847"/>
                  </a:lnTo>
                  <a:close/>
                </a:path>
                <a:path w="3901440" h="3284220">
                  <a:moveTo>
                    <a:pt x="228600" y="7607"/>
                  </a:moveTo>
                  <a:lnTo>
                    <a:pt x="76200" y="7607"/>
                  </a:lnTo>
                  <a:lnTo>
                    <a:pt x="76200" y="220967"/>
                  </a:lnTo>
                  <a:lnTo>
                    <a:pt x="228600" y="220967"/>
                  </a:lnTo>
                  <a:lnTo>
                    <a:pt x="228600" y="7607"/>
                  </a:lnTo>
                  <a:close/>
                </a:path>
                <a:path w="3901440" h="3284220">
                  <a:moveTo>
                    <a:pt x="3825240" y="1645907"/>
                  </a:moveTo>
                  <a:lnTo>
                    <a:pt x="3672840" y="1645907"/>
                  </a:lnTo>
                  <a:lnTo>
                    <a:pt x="3672840" y="1859267"/>
                  </a:lnTo>
                  <a:lnTo>
                    <a:pt x="3825240" y="1859267"/>
                  </a:lnTo>
                  <a:lnTo>
                    <a:pt x="3825240" y="1645907"/>
                  </a:lnTo>
                  <a:close/>
                </a:path>
                <a:path w="3901440" h="3284220">
                  <a:moveTo>
                    <a:pt x="3901440" y="3070847"/>
                  </a:moveTo>
                  <a:lnTo>
                    <a:pt x="3749040" y="3070847"/>
                  </a:lnTo>
                  <a:lnTo>
                    <a:pt x="3749040" y="3284207"/>
                  </a:lnTo>
                  <a:lnTo>
                    <a:pt x="3901440" y="3284207"/>
                  </a:lnTo>
                  <a:lnTo>
                    <a:pt x="3901440" y="3070847"/>
                  </a:lnTo>
                  <a:close/>
                </a:path>
                <a:path w="3901440" h="3284220">
                  <a:moveTo>
                    <a:pt x="3901440" y="0"/>
                  </a:moveTo>
                  <a:lnTo>
                    <a:pt x="3749040" y="0"/>
                  </a:lnTo>
                  <a:lnTo>
                    <a:pt x="3749040" y="220967"/>
                  </a:lnTo>
                  <a:lnTo>
                    <a:pt x="3901440" y="220967"/>
                  </a:lnTo>
                  <a:lnTo>
                    <a:pt x="39014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195" y="234568"/>
            <a:ext cx="882015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10" dirty="0"/>
              <a:t>BASIC</a:t>
            </a:r>
            <a:r>
              <a:rPr sz="3600" spc="-135" dirty="0"/>
              <a:t> </a:t>
            </a:r>
            <a:r>
              <a:rPr sz="3600" dirty="0"/>
              <a:t>ELECTRONIC</a:t>
            </a:r>
            <a:r>
              <a:rPr sz="3600" spc="-15" dirty="0"/>
              <a:t> </a:t>
            </a:r>
            <a:r>
              <a:rPr sz="3600" spc="-5" dirty="0"/>
              <a:t>COMPONENTS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5439" y="1104900"/>
            <a:ext cx="5913120" cy="384047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spc="15" dirty="0"/>
              <a:t>C</a:t>
            </a:r>
            <a:r>
              <a:rPr spc="20" dirty="0"/>
              <a:t>o</a:t>
            </a:r>
            <a:r>
              <a:rPr spc="25" dirty="0"/>
              <a:t>p</a:t>
            </a:r>
            <a:r>
              <a:rPr spc="-5" dirty="0"/>
              <a:t>y</a:t>
            </a:r>
            <a:r>
              <a:rPr dirty="0"/>
              <a:t>r</a:t>
            </a:r>
            <a:r>
              <a:rPr spc="20" dirty="0"/>
              <a:t>i</a:t>
            </a:r>
            <a:r>
              <a:rPr spc="-30" dirty="0"/>
              <a:t>g</a:t>
            </a:r>
            <a:r>
              <a:rPr spc="25" dirty="0"/>
              <a:t>h</a:t>
            </a:r>
            <a:r>
              <a:rPr dirty="0"/>
              <a:t>t</a:t>
            </a:r>
            <a:r>
              <a:rPr spc="-65" dirty="0"/>
              <a:t> </a:t>
            </a:r>
            <a:r>
              <a:rPr spc="-600" dirty="0"/>
              <a:t>©️</a:t>
            </a:r>
            <a:r>
              <a:rPr spc="45" dirty="0"/>
              <a:t> </a:t>
            </a:r>
            <a:r>
              <a:rPr spc="25" dirty="0"/>
              <a:t>A</a:t>
            </a:r>
            <a:r>
              <a:rPr dirty="0"/>
              <a:t>mer</a:t>
            </a:r>
            <a:r>
              <a:rPr spc="20" dirty="0"/>
              <a:t>i</a:t>
            </a:r>
            <a:r>
              <a:rPr spc="-30" dirty="0"/>
              <a:t>c</a:t>
            </a:r>
            <a:r>
              <a:rPr spc="25" dirty="0"/>
              <a:t>a</a:t>
            </a:r>
            <a:r>
              <a:rPr dirty="0"/>
              <a:t>n</a:t>
            </a:r>
            <a:r>
              <a:rPr spc="-65" dirty="0"/>
              <a:t> </a:t>
            </a:r>
            <a:r>
              <a:rPr spc="20" dirty="0"/>
              <a:t>C</a:t>
            </a:r>
            <a:r>
              <a:rPr spc="25" dirty="0"/>
              <a:t>o</a:t>
            </a:r>
            <a:r>
              <a:rPr spc="20" dirty="0"/>
              <a:t>ll</a:t>
            </a:r>
            <a:r>
              <a:rPr dirty="0"/>
              <a:t>e</a:t>
            </a:r>
            <a:r>
              <a:rPr spc="-25" dirty="0"/>
              <a:t>g</a:t>
            </a:r>
            <a:r>
              <a:rPr dirty="0"/>
              <a:t>e</a:t>
            </a:r>
            <a:r>
              <a:rPr spc="-90" dirty="0"/>
              <a:t> </a:t>
            </a:r>
            <a:r>
              <a:rPr spc="25" dirty="0"/>
              <a:t>o</a:t>
            </a:r>
            <a:r>
              <a:rPr dirty="0"/>
              <a:t>f</a:t>
            </a:r>
            <a:r>
              <a:rPr spc="-100" dirty="0"/>
              <a:t> </a:t>
            </a:r>
            <a:r>
              <a:rPr spc="15" dirty="0"/>
              <a:t>t</a:t>
            </a:r>
            <a:r>
              <a:rPr spc="25" dirty="0"/>
              <a:t>h</a:t>
            </a:r>
            <a:r>
              <a:rPr dirty="0"/>
              <a:t>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M</a:t>
            </a:r>
            <a:r>
              <a:rPr spc="20" dirty="0"/>
              <a:t>i</a:t>
            </a:r>
            <a:r>
              <a:rPr spc="25" dirty="0"/>
              <a:t>dd</a:t>
            </a:r>
            <a:r>
              <a:rPr spc="20" dirty="0"/>
              <a:t>l</a:t>
            </a:r>
            <a:r>
              <a:rPr dirty="0"/>
              <a:t>e</a:t>
            </a:r>
            <a:r>
              <a:rPr spc="-90" dirty="0"/>
              <a:t> </a:t>
            </a:r>
            <a:r>
              <a:rPr spc="10" dirty="0"/>
              <a:t>E</a:t>
            </a:r>
            <a:r>
              <a:rPr spc="20" dirty="0"/>
              <a:t>a</a:t>
            </a:r>
            <a:r>
              <a:rPr spc="5" dirty="0"/>
              <a:t>s</a:t>
            </a:r>
            <a:r>
              <a:rPr spc="15" dirty="0"/>
              <a:t>t</a:t>
            </a:r>
            <a:r>
              <a:rPr dirty="0"/>
              <a:t>.</a:t>
            </a:r>
            <a:r>
              <a:rPr spc="-80" dirty="0"/>
              <a:t> </a:t>
            </a:r>
            <a:r>
              <a:rPr spc="-10" dirty="0"/>
              <a:t>2020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0927" y="349250"/>
            <a:ext cx="700278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0" dirty="0"/>
              <a:t>DATA</a:t>
            </a:r>
            <a:r>
              <a:rPr spc="-130" dirty="0"/>
              <a:t> </a:t>
            </a:r>
            <a:r>
              <a:rPr spc="5" dirty="0"/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7607" y="1467738"/>
            <a:ext cx="6790690" cy="3311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3000" b="1" spc="-5" dirty="0">
                <a:solidFill>
                  <a:srgbClr val="014EA0"/>
                </a:solidFill>
                <a:latin typeface="Verdana"/>
                <a:cs typeface="Verdana"/>
              </a:rPr>
              <a:t>binary</a:t>
            </a:r>
            <a:r>
              <a:rPr sz="3000" b="1" spc="-7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b="1" spc="10" dirty="0">
                <a:solidFill>
                  <a:srgbClr val="014EA0"/>
                </a:solidFill>
                <a:latin typeface="Verdana"/>
                <a:cs typeface="Verdana"/>
              </a:rPr>
              <a:t>system</a:t>
            </a:r>
            <a:endParaRPr sz="3000">
              <a:latin typeface="Verdana"/>
              <a:cs typeface="Verdana"/>
            </a:endParaRPr>
          </a:p>
          <a:p>
            <a:pPr marL="1209675" marR="1202055" algn="ctr">
              <a:lnSpc>
                <a:spcPct val="200300"/>
              </a:lnSpc>
            </a:pPr>
            <a:r>
              <a:rPr sz="3000" b="1" spc="-10" dirty="0">
                <a:solidFill>
                  <a:srgbClr val="014EA0"/>
                </a:solidFill>
                <a:latin typeface="Verdana"/>
                <a:cs typeface="Verdana"/>
              </a:rPr>
              <a:t>hexadecimal</a:t>
            </a:r>
            <a:r>
              <a:rPr sz="3000" b="1" spc="2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b="1" spc="10" dirty="0">
                <a:solidFill>
                  <a:srgbClr val="014EA0"/>
                </a:solidFill>
                <a:latin typeface="Verdana"/>
                <a:cs typeface="Verdana"/>
              </a:rPr>
              <a:t>system </a:t>
            </a:r>
            <a:r>
              <a:rPr sz="3000" b="1" spc="-10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b="1" spc="-10" dirty="0">
                <a:solidFill>
                  <a:srgbClr val="014EA0"/>
                </a:solidFill>
                <a:latin typeface="Verdana"/>
                <a:cs typeface="Verdana"/>
              </a:rPr>
              <a:t>decimal</a:t>
            </a:r>
            <a:r>
              <a:rPr sz="3000" b="1" spc="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b="1" spc="5" dirty="0">
                <a:solidFill>
                  <a:srgbClr val="014EA0"/>
                </a:solidFill>
                <a:latin typeface="Verdana"/>
                <a:cs typeface="Verdana"/>
              </a:rPr>
              <a:t>system</a:t>
            </a:r>
            <a:endParaRPr sz="3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4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3000" b="1" dirty="0">
                <a:solidFill>
                  <a:srgbClr val="404040"/>
                </a:solidFill>
                <a:latin typeface="Verdana"/>
                <a:cs typeface="Verdana"/>
              </a:rPr>
              <a:t>how</a:t>
            </a:r>
            <a:r>
              <a:rPr sz="3000" b="1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1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3000" b="1" spc="-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1" spc="-5" dirty="0">
                <a:solidFill>
                  <a:srgbClr val="404040"/>
                </a:solidFill>
                <a:latin typeface="Verdana"/>
                <a:cs typeface="Verdana"/>
              </a:rPr>
              <a:t>alternate</a:t>
            </a:r>
            <a:r>
              <a:rPr sz="3000" b="1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1" spc="-5" dirty="0">
                <a:solidFill>
                  <a:srgbClr val="404040"/>
                </a:solidFill>
                <a:latin typeface="Verdana"/>
                <a:cs typeface="Verdana"/>
              </a:rPr>
              <a:t>between</a:t>
            </a:r>
            <a:r>
              <a:rPr sz="3000" b="1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1" spc="5" dirty="0">
                <a:solidFill>
                  <a:srgbClr val="404040"/>
                </a:solidFill>
                <a:latin typeface="Verdana"/>
                <a:cs typeface="Verdana"/>
              </a:rPr>
              <a:t>them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7720" y="349250"/>
            <a:ext cx="499300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5" dirty="0"/>
              <a:t>binary</a:t>
            </a:r>
            <a:r>
              <a:rPr spc="-125" dirty="0"/>
              <a:t> </a:t>
            </a:r>
            <a:r>
              <a:rPr spc="20" dirty="0"/>
              <a:t>to</a:t>
            </a:r>
            <a:r>
              <a:rPr spc="-80" dirty="0"/>
              <a:t> </a:t>
            </a:r>
            <a:r>
              <a:rPr spc="5" dirty="0"/>
              <a:t>decimal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819" y="1798320"/>
            <a:ext cx="7452359" cy="217169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7720" y="349250"/>
            <a:ext cx="592328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5" dirty="0"/>
              <a:t>binary</a:t>
            </a:r>
            <a:r>
              <a:rPr spc="-125" dirty="0"/>
              <a:t> </a:t>
            </a:r>
            <a:r>
              <a:rPr spc="20" dirty="0"/>
              <a:t>to</a:t>
            </a:r>
            <a:r>
              <a:rPr spc="-80" dirty="0"/>
              <a:t> </a:t>
            </a:r>
            <a:r>
              <a:rPr spc="5" dirty="0"/>
              <a:t>decimal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4919" y="1203960"/>
            <a:ext cx="6614159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425450"/>
            <a:ext cx="5394324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25"/>
              </a:spcBef>
            </a:pPr>
            <a:r>
              <a:rPr spc="15" dirty="0"/>
              <a:t>binary</a:t>
            </a:r>
            <a:r>
              <a:rPr spc="-125" dirty="0"/>
              <a:t> </a:t>
            </a:r>
            <a:r>
              <a:rPr spc="20" dirty="0"/>
              <a:t>to</a:t>
            </a:r>
            <a:r>
              <a:rPr spc="-80" dirty="0"/>
              <a:t> </a:t>
            </a:r>
            <a:r>
              <a:rPr spc="5" dirty="0"/>
              <a:t>decimal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459" y="1958339"/>
            <a:ext cx="7879080" cy="172212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spc="15" dirty="0"/>
              <a:t>C</a:t>
            </a:r>
            <a:r>
              <a:rPr spc="20" dirty="0"/>
              <a:t>o</a:t>
            </a:r>
            <a:r>
              <a:rPr spc="25" dirty="0"/>
              <a:t>p</a:t>
            </a:r>
            <a:r>
              <a:rPr spc="-5" dirty="0"/>
              <a:t>y</a:t>
            </a:r>
            <a:r>
              <a:rPr dirty="0"/>
              <a:t>r</a:t>
            </a:r>
            <a:r>
              <a:rPr spc="20" dirty="0"/>
              <a:t>i</a:t>
            </a:r>
            <a:r>
              <a:rPr spc="-30" dirty="0"/>
              <a:t>g</a:t>
            </a:r>
            <a:r>
              <a:rPr spc="25" dirty="0"/>
              <a:t>h</a:t>
            </a:r>
            <a:r>
              <a:rPr dirty="0"/>
              <a:t>t</a:t>
            </a:r>
            <a:r>
              <a:rPr spc="-65" dirty="0"/>
              <a:t> </a:t>
            </a:r>
            <a:r>
              <a:rPr spc="-600" dirty="0"/>
              <a:t>©️</a:t>
            </a:r>
            <a:r>
              <a:rPr spc="45" dirty="0"/>
              <a:t> </a:t>
            </a:r>
            <a:r>
              <a:rPr spc="25" dirty="0"/>
              <a:t>A</a:t>
            </a:r>
            <a:r>
              <a:rPr dirty="0"/>
              <a:t>mer</a:t>
            </a:r>
            <a:r>
              <a:rPr spc="20" dirty="0"/>
              <a:t>i</a:t>
            </a:r>
            <a:r>
              <a:rPr spc="-30" dirty="0"/>
              <a:t>c</a:t>
            </a:r>
            <a:r>
              <a:rPr spc="25" dirty="0"/>
              <a:t>a</a:t>
            </a:r>
            <a:r>
              <a:rPr dirty="0"/>
              <a:t>n</a:t>
            </a:r>
            <a:r>
              <a:rPr spc="-65" dirty="0"/>
              <a:t> </a:t>
            </a:r>
            <a:r>
              <a:rPr spc="20" dirty="0"/>
              <a:t>C</a:t>
            </a:r>
            <a:r>
              <a:rPr spc="25" dirty="0"/>
              <a:t>o</a:t>
            </a:r>
            <a:r>
              <a:rPr spc="20" dirty="0"/>
              <a:t>ll</a:t>
            </a:r>
            <a:r>
              <a:rPr dirty="0"/>
              <a:t>e</a:t>
            </a:r>
            <a:r>
              <a:rPr spc="-25" dirty="0"/>
              <a:t>g</a:t>
            </a:r>
            <a:r>
              <a:rPr dirty="0"/>
              <a:t>e</a:t>
            </a:r>
            <a:r>
              <a:rPr spc="-90" dirty="0"/>
              <a:t> </a:t>
            </a:r>
            <a:r>
              <a:rPr spc="25" dirty="0"/>
              <a:t>o</a:t>
            </a:r>
            <a:r>
              <a:rPr dirty="0"/>
              <a:t>f</a:t>
            </a:r>
            <a:r>
              <a:rPr spc="-100" dirty="0"/>
              <a:t> </a:t>
            </a:r>
            <a:r>
              <a:rPr spc="15" dirty="0"/>
              <a:t>t</a:t>
            </a:r>
            <a:r>
              <a:rPr spc="25" dirty="0"/>
              <a:t>h</a:t>
            </a:r>
            <a:r>
              <a:rPr dirty="0"/>
              <a:t>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M</a:t>
            </a:r>
            <a:r>
              <a:rPr spc="20" dirty="0"/>
              <a:t>i</a:t>
            </a:r>
            <a:r>
              <a:rPr spc="25" dirty="0"/>
              <a:t>dd</a:t>
            </a:r>
            <a:r>
              <a:rPr spc="20" dirty="0"/>
              <a:t>l</a:t>
            </a:r>
            <a:r>
              <a:rPr dirty="0"/>
              <a:t>e</a:t>
            </a:r>
            <a:r>
              <a:rPr spc="-90" dirty="0"/>
              <a:t> </a:t>
            </a:r>
            <a:r>
              <a:rPr spc="10" dirty="0"/>
              <a:t>E</a:t>
            </a:r>
            <a:r>
              <a:rPr spc="20" dirty="0"/>
              <a:t>a</a:t>
            </a:r>
            <a:r>
              <a:rPr spc="5" dirty="0"/>
              <a:t>s</a:t>
            </a:r>
            <a:r>
              <a:rPr spc="15" dirty="0"/>
              <a:t>t</a:t>
            </a:r>
            <a:r>
              <a:rPr dirty="0"/>
              <a:t>.</a:t>
            </a:r>
            <a:r>
              <a:rPr spc="-80" dirty="0"/>
              <a:t> </a:t>
            </a:r>
            <a:r>
              <a:rPr spc="-10" dirty="0"/>
              <a:t>2020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432" y="1522983"/>
            <a:ext cx="8820150" cy="26603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0" marR="130810" indent="38100">
              <a:lnSpc>
                <a:spcPct val="100000"/>
              </a:lnSpc>
              <a:spcBef>
                <a:spcPts val="105"/>
              </a:spcBef>
            </a:pPr>
            <a:r>
              <a:rPr sz="2800" spc="-10" dirty="0">
                <a:solidFill>
                  <a:srgbClr val="414042"/>
                </a:solidFill>
                <a:latin typeface="Verdana"/>
                <a:cs typeface="Verdana"/>
              </a:rPr>
              <a:t>By </a:t>
            </a:r>
            <a:r>
              <a:rPr sz="2800" spc="10" dirty="0">
                <a:solidFill>
                  <a:srgbClr val="414042"/>
                </a:solidFill>
                <a:latin typeface="Verdana"/>
                <a:cs typeface="Verdana"/>
              </a:rPr>
              <a:t>adding </a:t>
            </a:r>
            <a:r>
              <a:rPr sz="2800" dirty="0">
                <a:solidFill>
                  <a:srgbClr val="414042"/>
                </a:solidFill>
                <a:latin typeface="Verdana"/>
                <a:cs typeface="Verdana"/>
              </a:rPr>
              <a:t>together </a:t>
            </a:r>
            <a:r>
              <a:rPr sz="2800" spc="-5" dirty="0">
                <a:solidFill>
                  <a:srgbClr val="414042"/>
                </a:solidFill>
                <a:latin typeface="Verdana"/>
                <a:cs typeface="Verdana"/>
              </a:rPr>
              <a:t>ALL </a:t>
            </a:r>
            <a:r>
              <a:rPr sz="2800" spc="10" dirty="0">
                <a:solidFill>
                  <a:srgbClr val="414042"/>
                </a:solidFill>
                <a:latin typeface="Verdana"/>
                <a:cs typeface="Verdana"/>
              </a:rPr>
              <a:t>the decimal </a:t>
            </a:r>
            <a:r>
              <a:rPr sz="2800" spc="5" dirty="0">
                <a:solidFill>
                  <a:srgbClr val="414042"/>
                </a:solidFill>
                <a:latin typeface="Verdana"/>
                <a:cs typeface="Verdana"/>
              </a:rPr>
              <a:t>number </a:t>
            </a:r>
            <a:r>
              <a:rPr sz="2800" spc="-104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414042"/>
                </a:solidFill>
                <a:latin typeface="Verdana"/>
                <a:cs typeface="Verdana"/>
              </a:rPr>
              <a:t>values</a:t>
            </a:r>
            <a:r>
              <a:rPr sz="2800" spc="-16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414042"/>
                </a:solidFill>
                <a:latin typeface="Verdana"/>
                <a:cs typeface="Verdana"/>
              </a:rPr>
              <a:t>from</a:t>
            </a:r>
            <a:r>
              <a:rPr sz="2800" spc="4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414042"/>
                </a:solidFill>
                <a:latin typeface="Verdana"/>
                <a:cs typeface="Verdana"/>
              </a:rPr>
              <a:t>right</a:t>
            </a:r>
            <a:r>
              <a:rPr sz="2800" spc="-8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414042"/>
                </a:solidFill>
                <a:latin typeface="Verdana"/>
                <a:cs typeface="Verdana"/>
              </a:rPr>
              <a:t>to</a:t>
            </a:r>
            <a:r>
              <a:rPr sz="2800" spc="-5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800" spc="20" dirty="0">
                <a:solidFill>
                  <a:srgbClr val="414042"/>
                </a:solidFill>
                <a:latin typeface="Verdana"/>
                <a:cs typeface="Verdana"/>
              </a:rPr>
              <a:t>left</a:t>
            </a:r>
            <a:r>
              <a:rPr sz="2800" spc="-7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414042"/>
                </a:solidFill>
                <a:latin typeface="Verdana"/>
                <a:cs typeface="Verdana"/>
              </a:rPr>
              <a:t>at</a:t>
            </a:r>
            <a:r>
              <a:rPr sz="2800" spc="-2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414042"/>
                </a:solidFill>
                <a:latin typeface="Verdana"/>
                <a:cs typeface="Verdana"/>
              </a:rPr>
              <a:t>the</a:t>
            </a:r>
            <a:r>
              <a:rPr sz="2800" spc="-2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414042"/>
                </a:solidFill>
                <a:latin typeface="Verdana"/>
                <a:cs typeface="Verdana"/>
              </a:rPr>
              <a:t>positions</a:t>
            </a:r>
            <a:r>
              <a:rPr sz="2800" spc="-16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414042"/>
                </a:solidFill>
                <a:latin typeface="Verdana"/>
                <a:cs typeface="Verdana"/>
              </a:rPr>
              <a:t>that</a:t>
            </a:r>
            <a:endParaRPr sz="2800" dirty="0">
              <a:latin typeface="Verdana"/>
              <a:cs typeface="Verdana"/>
            </a:endParaRPr>
          </a:p>
          <a:p>
            <a:pPr marL="414020" marR="535305" indent="563880">
              <a:lnSpc>
                <a:spcPct val="100000"/>
              </a:lnSpc>
              <a:spcBef>
                <a:spcPts val="10"/>
              </a:spcBef>
            </a:pPr>
            <a:r>
              <a:rPr sz="2800" spc="-10" dirty="0">
                <a:solidFill>
                  <a:srgbClr val="414042"/>
                </a:solidFill>
                <a:latin typeface="Verdana"/>
                <a:cs typeface="Verdana"/>
              </a:rPr>
              <a:t>are </a:t>
            </a:r>
            <a:r>
              <a:rPr sz="2800" dirty="0">
                <a:solidFill>
                  <a:srgbClr val="414042"/>
                </a:solidFill>
                <a:latin typeface="Verdana"/>
                <a:cs typeface="Verdana"/>
              </a:rPr>
              <a:t>represented </a:t>
            </a:r>
            <a:r>
              <a:rPr sz="2800" spc="-5" dirty="0">
                <a:solidFill>
                  <a:srgbClr val="414042"/>
                </a:solidFill>
                <a:latin typeface="Verdana"/>
                <a:cs typeface="Verdana"/>
              </a:rPr>
              <a:t>by </a:t>
            </a:r>
            <a:r>
              <a:rPr sz="2800" dirty="0">
                <a:solidFill>
                  <a:srgbClr val="414042"/>
                </a:solidFill>
                <a:latin typeface="Verdana"/>
                <a:cs typeface="Verdana"/>
              </a:rPr>
              <a:t>a </a:t>
            </a:r>
            <a:r>
              <a:rPr sz="2800" spc="10" dirty="0">
                <a:solidFill>
                  <a:srgbClr val="414042"/>
                </a:solidFill>
                <a:latin typeface="Verdana"/>
                <a:cs typeface="Verdana"/>
              </a:rPr>
              <a:t>“</a:t>
            </a:r>
            <a:r>
              <a:rPr sz="2800" spc="10" dirty="0">
                <a:solidFill>
                  <a:srgbClr val="414143"/>
                </a:solidFill>
                <a:latin typeface="Verdana"/>
                <a:cs typeface="Verdana"/>
              </a:rPr>
              <a:t>1</a:t>
            </a:r>
            <a:r>
              <a:rPr sz="2800" spc="10" dirty="0">
                <a:solidFill>
                  <a:srgbClr val="414042"/>
                </a:solidFill>
                <a:latin typeface="Verdana"/>
                <a:cs typeface="Verdana"/>
              </a:rPr>
              <a:t>” </a:t>
            </a:r>
            <a:r>
              <a:rPr sz="2800" spc="15" dirty="0">
                <a:solidFill>
                  <a:srgbClr val="414042"/>
                </a:solidFill>
                <a:latin typeface="Verdana"/>
                <a:cs typeface="Verdana"/>
              </a:rPr>
              <a:t>gives </a:t>
            </a:r>
            <a:r>
              <a:rPr sz="2800" spc="5" dirty="0">
                <a:solidFill>
                  <a:srgbClr val="414042"/>
                </a:solidFill>
                <a:latin typeface="Verdana"/>
                <a:cs typeface="Verdana"/>
              </a:rPr>
              <a:t>us: </a:t>
            </a:r>
            <a:r>
              <a:rPr sz="2800" spc="10" dirty="0">
                <a:solidFill>
                  <a:srgbClr val="414042"/>
                </a:solidFill>
                <a:latin typeface="Verdana"/>
                <a:cs typeface="Verdana"/>
              </a:rPr>
              <a:t> (256)</a:t>
            </a:r>
            <a:r>
              <a:rPr sz="2800" spc="-2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414042"/>
                </a:solidFill>
                <a:latin typeface="Verdana"/>
                <a:cs typeface="Verdana"/>
              </a:rPr>
              <a:t>+</a:t>
            </a:r>
            <a:r>
              <a:rPr sz="2800" spc="-3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414042"/>
                </a:solidFill>
                <a:latin typeface="Verdana"/>
                <a:cs typeface="Verdana"/>
              </a:rPr>
              <a:t>(64)</a:t>
            </a:r>
            <a:r>
              <a:rPr sz="2800" spc="-2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414042"/>
                </a:solidFill>
                <a:latin typeface="Verdana"/>
                <a:cs typeface="Verdana"/>
              </a:rPr>
              <a:t>+</a:t>
            </a:r>
            <a:r>
              <a:rPr sz="2800" spc="-3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414042"/>
                </a:solidFill>
                <a:latin typeface="Verdana"/>
                <a:cs typeface="Verdana"/>
              </a:rPr>
              <a:t>(32)</a:t>
            </a:r>
            <a:r>
              <a:rPr sz="2800" spc="-2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414042"/>
                </a:solidFill>
                <a:latin typeface="Verdana"/>
                <a:cs typeface="Verdana"/>
              </a:rPr>
              <a:t>+</a:t>
            </a:r>
            <a:r>
              <a:rPr sz="2800" spc="-3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414042"/>
                </a:solidFill>
                <a:latin typeface="Verdana"/>
                <a:cs typeface="Verdana"/>
              </a:rPr>
              <a:t>(4)</a:t>
            </a:r>
            <a:r>
              <a:rPr sz="2800" spc="-2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414042"/>
                </a:solidFill>
                <a:latin typeface="Verdana"/>
                <a:cs typeface="Verdana"/>
              </a:rPr>
              <a:t>+</a:t>
            </a:r>
            <a:r>
              <a:rPr sz="2800" spc="-3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414042"/>
                </a:solidFill>
                <a:latin typeface="Verdana"/>
                <a:cs typeface="Verdana"/>
              </a:rPr>
              <a:t>(1)</a:t>
            </a:r>
            <a:r>
              <a:rPr sz="2800" spc="-2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414042"/>
                </a:solidFill>
                <a:latin typeface="Verdana"/>
                <a:cs typeface="Verdana"/>
              </a:rPr>
              <a:t>=</a:t>
            </a:r>
            <a:r>
              <a:rPr sz="2800" spc="-3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414143"/>
                </a:solidFill>
                <a:latin typeface="Verdana"/>
                <a:cs typeface="Verdana"/>
              </a:rPr>
              <a:t>357</a:t>
            </a:r>
            <a:r>
              <a:rPr sz="2800" spc="15" baseline="-19943" dirty="0">
                <a:solidFill>
                  <a:srgbClr val="414143"/>
                </a:solidFill>
                <a:latin typeface="Verdana"/>
                <a:cs typeface="Verdana"/>
              </a:rPr>
              <a:t>10</a:t>
            </a:r>
            <a:endParaRPr sz="2800" baseline="-19943" dirty="0">
              <a:latin typeface="Verdana"/>
              <a:cs typeface="Verdana"/>
            </a:endParaRPr>
          </a:p>
          <a:p>
            <a:pPr marL="3632200" marR="17780" indent="-3607435">
              <a:lnSpc>
                <a:spcPct val="100000"/>
              </a:lnSpc>
              <a:spcBef>
                <a:spcPts val="10"/>
              </a:spcBef>
            </a:pPr>
            <a:r>
              <a:rPr sz="2800" spc="-10" dirty="0">
                <a:solidFill>
                  <a:srgbClr val="414042"/>
                </a:solidFill>
                <a:latin typeface="Verdana"/>
                <a:cs typeface="Verdana"/>
              </a:rPr>
              <a:t>or</a:t>
            </a:r>
            <a:r>
              <a:rPr sz="2800" spc="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414042"/>
                </a:solidFill>
                <a:latin typeface="Verdana"/>
                <a:cs typeface="Verdana"/>
              </a:rPr>
              <a:t>three</a:t>
            </a:r>
            <a:r>
              <a:rPr sz="2800" spc="-3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414042"/>
                </a:solidFill>
                <a:latin typeface="Verdana"/>
                <a:cs typeface="Verdana"/>
              </a:rPr>
              <a:t>hundred</a:t>
            </a:r>
            <a:r>
              <a:rPr sz="2800" spc="-5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414042"/>
                </a:solidFill>
                <a:latin typeface="Verdana"/>
                <a:cs typeface="Verdana"/>
              </a:rPr>
              <a:t>and</a:t>
            </a:r>
            <a:r>
              <a:rPr sz="2800" spc="-5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800" spc="20" dirty="0">
                <a:solidFill>
                  <a:srgbClr val="414042"/>
                </a:solidFill>
                <a:latin typeface="Verdana"/>
                <a:cs typeface="Verdana"/>
              </a:rPr>
              <a:t>fifty</a:t>
            </a:r>
            <a:r>
              <a:rPr sz="2800" spc="-13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414042"/>
                </a:solidFill>
                <a:latin typeface="Verdana"/>
                <a:cs typeface="Verdana"/>
              </a:rPr>
              <a:t>seven</a:t>
            </a:r>
            <a:r>
              <a:rPr sz="2800" spc="-8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414042"/>
                </a:solidFill>
                <a:latin typeface="Verdana"/>
                <a:cs typeface="Verdana"/>
              </a:rPr>
              <a:t>as</a:t>
            </a:r>
            <a:r>
              <a:rPr sz="2800" spc="-4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414042"/>
                </a:solidFill>
                <a:latin typeface="Verdana"/>
                <a:cs typeface="Verdana"/>
              </a:rPr>
              <a:t>a</a:t>
            </a:r>
            <a:r>
              <a:rPr sz="2800" spc="2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414042"/>
                </a:solidFill>
                <a:latin typeface="Verdana"/>
                <a:cs typeface="Verdana"/>
              </a:rPr>
              <a:t>decimal </a:t>
            </a:r>
            <a:r>
              <a:rPr sz="2800" spc="-104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800" spc="-55" dirty="0">
                <a:solidFill>
                  <a:srgbClr val="414042"/>
                </a:solidFill>
                <a:latin typeface="Verdana"/>
                <a:cs typeface="Verdana"/>
              </a:rPr>
              <a:t>number.</a:t>
            </a:r>
            <a:endParaRPr sz="28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425450"/>
            <a:ext cx="5622924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25"/>
              </a:spcBef>
            </a:pPr>
            <a:r>
              <a:rPr spc="15" dirty="0"/>
              <a:t>binary</a:t>
            </a:r>
            <a:r>
              <a:rPr spc="-125" dirty="0"/>
              <a:t> </a:t>
            </a:r>
            <a:r>
              <a:rPr spc="20" dirty="0"/>
              <a:t>to</a:t>
            </a:r>
            <a:r>
              <a:rPr spc="-80" dirty="0"/>
              <a:t> </a:t>
            </a:r>
            <a:r>
              <a:rPr spc="5" dirty="0"/>
              <a:t>decimal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600" y="234696"/>
            <a:ext cx="531812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5" dirty="0"/>
              <a:t>binary</a:t>
            </a:r>
            <a:r>
              <a:rPr spc="-125" dirty="0"/>
              <a:t> </a:t>
            </a:r>
            <a:r>
              <a:rPr spc="20" dirty="0"/>
              <a:t>to</a:t>
            </a:r>
            <a:r>
              <a:rPr spc="-80" dirty="0"/>
              <a:t> </a:t>
            </a:r>
            <a:r>
              <a:rPr spc="5" dirty="0"/>
              <a:t>decimal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2459" y="1234439"/>
            <a:ext cx="7879080" cy="1722120"/>
            <a:chOff x="632459" y="1234439"/>
            <a:chExt cx="7879080" cy="17221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2459" y="1234439"/>
              <a:ext cx="7879080" cy="172211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977640" y="2301252"/>
              <a:ext cx="4366260" cy="518159"/>
            </a:xfrm>
            <a:custGeom>
              <a:avLst/>
              <a:gdLst/>
              <a:ahLst/>
              <a:cxnLst/>
              <a:rect l="l" t="t" r="r" b="b"/>
              <a:pathLst>
                <a:path w="4366259" h="518160">
                  <a:moveTo>
                    <a:pt x="403860" y="0"/>
                  </a:moveTo>
                  <a:lnTo>
                    <a:pt x="0" y="0"/>
                  </a:lnTo>
                  <a:lnTo>
                    <a:pt x="0" y="464807"/>
                  </a:lnTo>
                  <a:lnTo>
                    <a:pt x="403860" y="464807"/>
                  </a:lnTo>
                  <a:lnTo>
                    <a:pt x="403860" y="0"/>
                  </a:lnTo>
                  <a:close/>
                </a:path>
                <a:path w="4366259" h="518160">
                  <a:moveTo>
                    <a:pt x="1028700" y="45707"/>
                  </a:moveTo>
                  <a:lnTo>
                    <a:pt x="617220" y="45707"/>
                  </a:lnTo>
                  <a:lnTo>
                    <a:pt x="617220" y="518147"/>
                  </a:lnTo>
                  <a:lnTo>
                    <a:pt x="1028700" y="518147"/>
                  </a:lnTo>
                  <a:lnTo>
                    <a:pt x="1028700" y="45707"/>
                  </a:lnTo>
                  <a:close/>
                </a:path>
                <a:path w="4366259" h="518160">
                  <a:moveTo>
                    <a:pt x="1470660" y="7607"/>
                  </a:moveTo>
                  <a:lnTo>
                    <a:pt x="1264920" y="7607"/>
                  </a:lnTo>
                  <a:lnTo>
                    <a:pt x="1264920" y="480047"/>
                  </a:lnTo>
                  <a:lnTo>
                    <a:pt x="1470660" y="480047"/>
                  </a:lnTo>
                  <a:lnTo>
                    <a:pt x="1470660" y="7607"/>
                  </a:lnTo>
                  <a:close/>
                </a:path>
                <a:path w="4366259" h="518160">
                  <a:moveTo>
                    <a:pt x="1988820" y="7607"/>
                  </a:moveTo>
                  <a:lnTo>
                    <a:pt x="1783080" y="7607"/>
                  </a:lnTo>
                  <a:lnTo>
                    <a:pt x="1783080" y="480047"/>
                  </a:lnTo>
                  <a:lnTo>
                    <a:pt x="1988820" y="480047"/>
                  </a:lnTo>
                  <a:lnTo>
                    <a:pt x="1988820" y="7607"/>
                  </a:lnTo>
                  <a:close/>
                </a:path>
                <a:path w="4366259" h="518160">
                  <a:moveTo>
                    <a:pt x="2468867" y="45707"/>
                  </a:moveTo>
                  <a:lnTo>
                    <a:pt x="2263140" y="45707"/>
                  </a:lnTo>
                  <a:lnTo>
                    <a:pt x="2263140" y="518147"/>
                  </a:lnTo>
                  <a:lnTo>
                    <a:pt x="2468867" y="518147"/>
                  </a:lnTo>
                  <a:lnTo>
                    <a:pt x="2468867" y="45707"/>
                  </a:lnTo>
                  <a:close/>
                </a:path>
                <a:path w="4366259" h="518160">
                  <a:moveTo>
                    <a:pt x="3467100" y="7607"/>
                  </a:moveTo>
                  <a:lnTo>
                    <a:pt x="3261360" y="7607"/>
                  </a:lnTo>
                  <a:lnTo>
                    <a:pt x="3261360" y="480047"/>
                  </a:lnTo>
                  <a:lnTo>
                    <a:pt x="3467100" y="480047"/>
                  </a:lnTo>
                  <a:lnTo>
                    <a:pt x="3467100" y="7607"/>
                  </a:lnTo>
                  <a:close/>
                </a:path>
                <a:path w="4366259" h="518160">
                  <a:moveTo>
                    <a:pt x="3916680" y="45707"/>
                  </a:moveTo>
                  <a:lnTo>
                    <a:pt x="3710940" y="45707"/>
                  </a:lnTo>
                  <a:lnTo>
                    <a:pt x="3710940" y="518147"/>
                  </a:lnTo>
                  <a:lnTo>
                    <a:pt x="3916680" y="518147"/>
                  </a:lnTo>
                  <a:lnTo>
                    <a:pt x="3916680" y="45707"/>
                  </a:lnTo>
                  <a:close/>
                </a:path>
                <a:path w="4366259" h="518160">
                  <a:moveTo>
                    <a:pt x="4366260" y="0"/>
                  </a:moveTo>
                  <a:lnTo>
                    <a:pt x="4160520" y="0"/>
                  </a:lnTo>
                  <a:lnTo>
                    <a:pt x="4160520" y="464807"/>
                  </a:lnTo>
                  <a:lnTo>
                    <a:pt x="4366260" y="464807"/>
                  </a:lnTo>
                  <a:lnTo>
                    <a:pt x="43662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800" y="234696"/>
            <a:ext cx="5954776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0" dirty="0"/>
              <a:t>binary</a:t>
            </a:r>
            <a:r>
              <a:rPr spc="-120" dirty="0"/>
              <a:t> </a:t>
            </a:r>
            <a:r>
              <a:rPr spc="20" dirty="0"/>
              <a:t>system</a:t>
            </a:r>
            <a:r>
              <a:rPr spc="-190" dirty="0"/>
              <a:t> </a:t>
            </a:r>
            <a:r>
              <a:rPr spc="20" dirty="0"/>
              <a:t>units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7860" y="990600"/>
            <a:ext cx="5288280" cy="390906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7089" y="1406524"/>
            <a:ext cx="7449820" cy="2315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350" algn="ctr">
              <a:lnSpc>
                <a:spcPct val="100000"/>
              </a:lnSpc>
              <a:spcBef>
                <a:spcPts val="105"/>
              </a:spcBef>
            </a:pPr>
            <a:r>
              <a:rPr sz="3000" b="0" spc="-100" dirty="0">
                <a:solidFill>
                  <a:srgbClr val="404040"/>
                </a:solidFill>
                <a:latin typeface="Verdana"/>
                <a:cs typeface="Verdana"/>
              </a:rPr>
              <a:t>Today, </a:t>
            </a:r>
            <a:r>
              <a:rPr sz="3000" b="0" dirty="0">
                <a:solidFill>
                  <a:srgbClr val="404040"/>
                </a:solidFill>
                <a:latin typeface="Verdana"/>
                <a:cs typeface="Verdana"/>
              </a:rPr>
              <a:t>as </a:t>
            </a:r>
            <a:r>
              <a:rPr sz="3000" b="0" spc="5" dirty="0">
                <a:solidFill>
                  <a:srgbClr val="404040"/>
                </a:solidFill>
                <a:latin typeface="Verdana"/>
                <a:cs typeface="Verdana"/>
              </a:rPr>
              <a:t>micro-controller </a:t>
            </a:r>
            <a:r>
              <a:rPr sz="3000" b="0" spc="-10" dirty="0">
                <a:solidFill>
                  <a:srgbClr val="404040"/>
                </a:solidFill>
                <a:latin typeface="Verdana"/>
                <a:cs typeface="Verdana"/>
              </a:rPr>
              <a:t>or </a:t>
            </a:r>
            <a:r>
              <a:rPr sz="3000" b="0" spc="-5" dirty="0">
                <a:solidFill>
                  <a:srgbClr val="404040"/>
                </a:solidFill>
                <a:latin typeface="Verdana"/>
                <a:cs typeface="Verdana"/>
              </a:rPr>
              <a:t> microprocessor </a:t>
            </a:r>
            <a:r>
              <a:rPr sz="3000" b="0" spc="5" dirty="0">
                <a:solidFill>
                  <a:srgbClr val="404040"/>
                </a:solidFill>
                <a:latin typeface="Verdana"/>
                <a:cs typeface="Verdana"/>
              </a:rPr>
              <a:t>systems </a:t>
            </a:r>
            <a:r>
              <a:rPr sz="3000" b="0" spc="-5" dirty="0">
                <a:solidFill>
                  <a:srgbClr val="404040"/>
                </a:solidFill>
                <a:latin typeface="Verdana"/>
                <a:cs typeface="Verdana"/>
              </a:rPr>
              <a:t>become </a:t>
            </a:r>
            <a:r>
              <a:rPr sz="3000" b="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0" spc="10" dirty="0">
                <a:solidFill>
                  <a:srgbClr val="404040"/>
                </a:solidFill>
                <a:latin typeface="Verdana"/>
                <a:cs typeface="Verdana"/>
              </a:rPr>
              <a:t>increasingly </a:t>
            </a:r>
            <a:r>
              <a:rPr sz="3000" b="0" spc="-60" dirty="0">
                <a:solidFill>
                  <a:srgbClr val="404040"/>
                </a:solidFill>
                <a:latin typeface="Verdana"/>
                <a:cs typeface="Verdana"/>
              </a:rPr>
              <a:t>larger, </a:t>
            </a:r>
            <a:r>
              <a:rPr sz="3000" b="0" spc="10" dirty="0">
                <a:solidFill>
                  <a:srgbClr val="404040"/>
                </a:solidFill>
                <a:latin typeface="Verdana"/>
                <a:cs typeface="Verdana"/>
              </a:rPr>
              <a:t>the individual </a:t>
            </a:r>
            <a:r>
              <a:rPr sz="3000" b="0" spc="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0" spc="10" dirty="0">
                <a:solidFill>
                  <a:srgbClr val="404040"/>
                </a:solidFill>
                <a:latin typeface="Verdana"/>
                <a:cs typeface="Verdana"/>
              </a:rPr>
              <a:t>binary </a:t>
            </a:r>
            <a:r>
              <a:rPr sz="3000" b="0" spc="20" dirty="0">
                <a:solidFill>
                  <a:srgbClr val="404040"/>
                </a:solidFill>
                <a:latin typeface="Verdana"/>
                <a:cs typeface="Verdana"/>
              </a:rPr>
              <a:t>digits </a:t>
            </a:r>
            <a:r>
              <a:rPr sz="3000" b="0" spc="15" dirty="0">
                <a:solidFill>
                  <a:srgbClr val="404040"/>
                </a:solidFill>
                <a:latin typeface="Verdana"/>
                <a:cs typeface="Verdana"/>
              </a:rPr>
              <a:t>(bits) </a:t>
            </a:r>
            <a:r>
              <a:rPr sz="3000" b="0" spc="-10" dirty="0">
                <a:solidFill>
                  <a:srgbClr val="404040"/>
                </a:solidFill>
                <a:latin typeface="Verdana"/>
                <a:cs typeface="Verdana"/>
              </a:rPr>
              <a:t>are </a:t>
            </a:r>
            <a:r>
              <a:rPr sz="3000" b="0" dirty="0">
                <a:solidFill>
                  <a:srgbClr val="404040"/>
                </a:solidFill>
                <a:latin typeface="Verdana"/>
                <a:cs typeface="Verdana"/>
              </a:rPr>
              <a:t>now </a:t>
            </a:r>
            <a:r>
              <a:rPr sz="3000" b="0" spc="-5" dirty="0">
                <a:solidFill>
                  <a:srgbClr val="404040"/>
                </a:solidFill>
                <a:latin typeface="Verdana"/>
                <a:cs typeface="Verdana"/>
              </a:rPr>
              <a:t>grouped </a:t>
            </a:r>
            <a:r>
              <a:rPr sz="3000" b="0" dirty="0">
                <a:solidFill>
                  <a:srgbClr val="404040"/>
                </a:solidFill>
                <a:latin typeface="Verdana"/>
                <a:cs typeface="Verdana"/>
              </a:rPr>
              <a:t> together</a:t>
            </a:r>
            <a:r>
              <a:rPr sz="3000" b="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0" spc="25" dirty="0">
                <a:solidFill>
                  <a:srgbClr val="404040"/>
                </a:solidFill>
                <a:latin typeface="Verdana"/>
                <a:cs typeface="Verdana"/>
              </a:rPr>
              <a:t>into</a:t>
            </a:r>
            <a:r>
              <a:rPr sz="3000" b="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0" spc="-50" dirty="0">
                <a:solidFill>
                  <a:srgbClr val="404040"/>
                </a:solidFill>
                <a:latin typeface="Verdana"/>
                <a:cs typeface="Verdana"/>
              </a:rPr>
              <a:t>8’s</a:t>
            </a:r>
            <a:r>
              <a:rPr sz="3000" b="0" spc="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0" spc="5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3000" b="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0" spc="-10" dirty="0">
                <a:solidFill>
                  <a:srgbClr val="404040"/>
                </a:solidFill>
                <a:latin typeface="Verdana"/>
                <a:cs typeface="Verdana"/>
              </a:rPr>
              <a:t>form</a:t>
            </a:r>
            <a:r>
              <a:rPr sz="3000" b="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b="0" spc="20" dirty="0">
                <a:solidFill>
                  <a:srgbClr val="404040"/>
                </a:solidFill>
                <a:latin typeface="Verdana"/>
                <a:cs typeface="Verdana"/>
              </a:rPr>
              <a:t> single</a:t>
            </a:r>
            <a:r>
              <a:rPr sz="3000" b="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0" dirty="0">
                <a:solidFill>
                  <a:srgbClr val="404040"/>
                </a:solidFill>
                <a:latin typeface="Verdana"/>
                <a:cs typeface="Verdana"/>
              </a:rPr>
              <a:t>BYTE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2020" y="234696"/>
            <a:ext cx="475678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" dirty="0"/>
              <a:t>file</a:t>
            </a:r>
            <a:r>
              <a:rPr spc="-50" dirty="0"/>
              <a:t> </a:t>
            </a:r>
            <a:r>
              <a:rPr spc="20" dirty="0"/>
              <a:t>system</a:t>
            </a:r>
            <a:r>
              <a:rPr spc="-190" dirty="0"/>
              <a:t> </a:t>
            </a:r>
            <a:r>
              <a:rPr spc="20" dirty="0"/>
              <a:t>units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6819" y="1082039"/>
            <a:ext cx="6690359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237109"/>
            <a:ext cx="6702425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spc="15" dirty="0">
                <a:solidFill>
                  <a:srgbClr val="014EA0"/>
                </a:solidFill>
              </a:rPr>
              <a:t>BINARY</a:t>
            </a:r>
            <a:r>
              <a:rPr sz="2800" spc="-120" dirty="0">
                <a:solidFill>
                  <a:srgbClr val="014EA0"/>
                </a:solidFill>
              </a:rPr>
              <a:t> </a:t>
            </a:r>
            <a:r>
              <a:rPr sz="2800" spc="15" dirty="0">
                <a:solidFill>
                  <a:srgbClr val="014EA0"/>
                </a:solidFill>
              </a:rPr>
              <a:t>TO</a:t>
            </a:r>
            <a:r>
              <a:rPr sz="2800" spc="-75" dirty="0">
                <a:solidFill>
                  <a:srgbClr val="014EA0"/>
                </a:solidFill>
              </a:rPr>
              <a:t> </a:t>
            </a:r>
            <a:r>
              <a:rPr sz="2800" spc="10" dirty="0">
                <a:solidFill>
                  <a:srgbClr val="014EA0"/>
                </a:solidFill>
              </a:rPr>
              <a:t>DECIMAL</a:t>
            </a:r>
            <a:r>
              <a:rPr sz="2800" spc="-135" dirty="0">
                <a:solidFill>
                  <a:srgbClr val="014EA0"/>
                </a:solidFill>
              </a:rPr>
              <a:t> </a:t>
            </a:r>
            <a:r>
              <a:rPr sz="2800" spc="15" dirty="0">
                <a:solidFill>
                  <a:srgbClr val="014EA0"/>
                </a:solidFill>
              </a:rPr>
              <a:t>SUMMARY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672147"/>
            <a:ext cx="8990965" cy="3872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060"/>
              </a:lnSpc>
              <a:spcBef>
                <a:spcPts val="100"/>
              </a:spcBef>
            </a:pPr>
            <a:r>
              <a:rPr sz="800" b="1" dirty="0">
                <a:solidFill>
                  <a:srgbClr val="014EA0"/>
                </a:solidFill>
                <a:latin typeface="Verdana"/>
                <a:cs typeface="Verdana"/>
              </a:rPr>
              <a:t>_</a:t>
            </a:r>
            <a:endParaRPr sz="800" dirty="0">
              <a:latin typeface="Verdana"/>
              <a:cs typeface="Verdana"/>
            </a:endParaRPr>
          </a:p>
          <a:p>
            <a:pPr marL="355600" indent="-343535">
              <a:lnSpc>
                <a:spcPts val="2620"/>
              </a:lnSpc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2000" spc="15" dirty="0">
                <a:solidFill>
                  <a:srgbClr val="414042"/>
                </a:solidFill>
                <a:latin typeface="Verdana"/>
                <a:cs typeface="Verdana"/>
              </a:rPr>
              <a:t>A</a:t>
            </a:r>
            <a:r>
              <a:rPr sz="2000" spc="-1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414042"/>
                </a:solidFill>
                <a:latin typeface="Verdana"/>
                <a:cs typeface="Verdana"/>
              </a:rPr>
              <a:t>“</a:t>
            </a:r>
            <a:r>
              <a:rPr sz="2000" spc="10" dirty="0">
                <a:solidFill>
                  <a:srgbClr val="414143"/>
                </a:solidFill>
                <a:latin typeface="Verdana"/>
                <a:cs typeface="Verdana"/>
              </a:rPr>
              <a:t>BIT</a:t>
            </a:r>
            <a:r>
              <a:rPr sz="2000" spc="10" dirty="0">
                <a:solidFill>
                  <a:srgbClr val="414042"/>
                </a:solidFill>
                <a:latin typeface="Verdana"/>
                <a:cs typeface="Verdana"/>
              </a:rPr>
              <a:t>”</a:t>
            </a:r>
            <a:r>
              <a:rPr sz="2000" spc="-5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14042"/>
                </a:solidFill>
                <a:latin typeface="Verdana"/>
                <a:cs typeface="Verdana"/>
              </a:rPr>
              <a:t>is</a:t>
            </a:r>
            <a:r>
              <a:rPr sz="2000" spc="-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414042"/>
                </a:solidFill>
                <a:latin typeface="Verdana"/>
                <a:cs typeface="Verdana"/>
              </a:rPr>
              <a:t>the</a:t>
            </a:r>
            <a:r>
              <a:rPr sz="2000" spc="-5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414042"/>
                </a:solidFill>
                <a:latin typeface="Verdana"/>
                <a:cs typeface="Verdana"/>
              </a:rPr>
              <a:t>abbreviated</a:t>
            </a:r>
            <a:r>
              <a:rPr sz="2000" spc="-12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414042"/>
                </a:solidFill>
                <a:latin typeface="Verdana"/>
                <a:cs typeface="Verdana"/>
              </a:rPr>
              <a:t>term</a:t>
            </a:r>
            <a:r>
              <a:rPr sz="2000" spc="-4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414042"/>
                </a:solidFill>
                <a:latin typeface="Verdana"/>
                <a:cs typeface="Verdana"/>
              </a:rPr>
              <a:t>derived</a:t>
            </a:r>
            <a:r>
              <a:rPr sz="2000" spc="-114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414042"/>
                </a:solidFill>
                <a:latin typeface="Verdana"/>
                <a:cs typeface="Verdana"/>
              </a:rPr>
              <a:t>from</a:t>
            </a:r>
            <a:r>
              <a:rPr sz="2000" spc="4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414143"/>
                </a:solidFill>
                <a:latin typeface="Verdana"/>
                <a:cs typeface="Verdana"/>
              </a:rPr>
              <a:t>BI</a:t>
            </a:r>
            <a:r>
              <a:rPr sz="2000" spc="5" dirty="0">
                <a:solidFill>
                  <a:srgbClr val="414042"/>
                </a:solidFill>
                <a:latin typeface="Verdana"/>
                <a:cs typeface="Verdana"/>
              </a:rPr>
              <a:t>nary</a:t>
            </a:r>
            <a:r>
              <a:rPr sz="2000" spc="-4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14042"/>
                </a:solidFill>
                <a:latin typeface="Verdana"/>
                <a:cs typeface="Verdana"/>
              </a:rPr>
              <a:t>digi</a:t>
            </a:r>
            <a:r>
              <a:rPr sz="2000" dirty="0">
                <a:solidFill>
                  <a:srgbClr val="414143"/>
                </a:solidFill>
                <a:latin typeface="Verdana"/>
                <a:cs typeface="Verdana"/>
              </a:rPr>
              <a:t>T</a:t>
            </a:r>
            <a:endParaRPr sz="2000" dirty="0">
              <a:latin typeface="Verdana"/>
              <a:cs typeface="Verdana"/>
            </a:endParaRPr>
          </a:p>
          <a:p>
            <a:pPr marL="355600" indent="-34353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2000" spc="15" dirty="0">
                <a:solidFill>
                  <a:srgbClr val="414042"/>
                </a:solidFill>
                <a:latin typeface="Verdana"/>
                <a:cs typeface="Verdana"/>
              </a:rPr>
              <a:t>A</a:t>
            </a:r>
            <a:r>
              <a:rPr sz="2000" spc="-1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14042"/>
                </a:solidFill>
                <a:latin typeface="Verdana"/>
                <a:cs typeface="Verdana"/>
              </a:rPr>
              <a:t>Binary</a:t>
            </a:r>
            <a:r>
              <a:rPr sz="2000" spc="10" dirty="0">
                <a:solidFill>
                  <a:srgbClr val="414042"/>
                </a:solidFill>
                <a:latin typeface="Verdana"/>
                <a:cs typeface="Verdana"/>
              </a:rPr>
              <a:t> system</a:t>
            </a:r>
            <a:r>
              <a:rPr sz="2000" spc="-12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414042"/>
                </a:solidFill>
                <a:latin typeface="Verdana"/>
                <a:cs typeface="Verdana"/>
              </a:rPr>
              <a:t>has</a:t>
            </a:r>
            <a:r>
              <a:rPr sz="2000" spc="4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414042"/>
                </a:solidFill>
                <a:latin typeface="Verdana"/>
                <a:cs typeface="Verdana"/>
              </a:rPr>
              <a:t>only</a:t>
            </a:r>
            <a:r>
              <a:rPr sz="2000" spc="1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414042"/>
                </a:solidFill>
                <a:latin typeface="Verdana"/>
                <a:cs typeface="Verdana"/>
              </a:rPr>
              <a:t>two</a:t>
            </a:r>
            <a:r>
              <a:rPr sz="2000" spc="-8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414042"/>
                </a:solidFill>
                <a:latin typeface="Verdana"/>
                <a:cs typeface="Verdana"/>
              </a:rPr>
              <a:t>states,</a:t>
            </a:r>
            <a:r>
              <a:rPr sz="2000" spc="-8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414042"/>
                </a:solidFill>
                <a:latin typeface="Verdana"/>
                <a:cs typeface="Verdana"/>
              </a:rPr>
              <a:t>Logic</a:t>
            </a:r>
            <a:r>
              <a:rPr sz="2000" spc="-1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414042"/>
                </a:solidFill>
                <a:latin typeface="Verdana"/>
                <a:cs typeface="Verdana"/>
              </a:rPr>
              <a:t>“0”</a:t>
            </a:r>
            <a:r>
              <a:rPr sz="2000" spc="-5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14042"/>
                </a:solidFill>
                <a:latin typeface="Verdana"/>
                <a:cs typeface="Verdana"/>
              </a:rPr>
              <a:t>and </a:t>
            </a:r>
            <a:r>
              <a:rPr sz="2000" spc="5" dirty="0">
                <a:solidFill>
                  <a:srgbClr val="414042"/>
                </a:solidFill>
                <a:latin typeface="Verdana"/>
                <a:cs typeface="Verdana"/>
              </a:rPr>
              <a:t>Logic</a:t>
            </a:r>
            <a:r>
              <a:rPr sz="2000" spc="-1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414042"/>
                </a:solidFill>
                <a:latin typeface="Verdana"/>
                <a:cs typeface="Verdana"/>
              </a:rPr>
              <a:t>“1”</a:t>
            </a:r>
            <a:endParaRPr sz="2000" dirty="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414042"/>
                </a:solidFill>
                <a:latin typeface="Verdana"/>
                <a:cs typeface="Verdana"/>
              </a:rPr>
              <a:t>giving</a:t>
            </a:r>
            <a:r>
              <a:rPr sz="2000" spc="-1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41404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14042"/>
                </a:solidFill>
                <a:latin typeface="Verdana"/>
                <a:cs typeface="Verdana"/>
              </a:rPr>
              <a:t>base</a:t>
            </a:r>
            <a:r>
              <a:rPr sz="2000" spc="-7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414042"/>
                </a:solidFill>
                <a:latin typeface="Verdana"/>
                <a:cs typeface="Verdana"/>
              </a:rPr>
              <a:t>of</a:t>
            </a:r>
            <a:r>
              <a:rPr sz="2000" spc="4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414042"/>
                </a:solidFill>
                <a:latin typeface="Verdana"/>
                <a:cs typeface="Verdana"/>
              </a:rPr>
              <a:t>2</a:t>
            </a:r>
            <a:endParaRPr sz="2000" dirty="0">
              <a:latin typeface="Verdana"/>
              <a:cs typeface="Verdana"/>
            </a:endParaRPr>
          </a:p>
          <a:p>
            <a:pPr marL="355600" indent="-343535">
              <a:lnSpc>
                <a:spcPct val="100000"/>
              </a:lnSpc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2000" spc="15" dirty="0">
                <a:solidFill>
                  <a:srgbClr val="414042"/>
                </a:solidFill>
                <a:latin typeface="Verdana"/>
                <a:cs typeface="Verdana"/>
              </a:rPr>
              <a:t>A</a:t>
            </a:r>
            <a:r>
              <a:rPr sz="2000" spc="-1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414042"/>
                </a:solidFill>
                <a:latin typeface="Verdana"/>
                <a:cs typeface="Verdana"/>
              </a:rPr>
              <a:t>Decimal</a:t>
            </a:r>
            <a:r>
              <a:rPr sz="2000" spc="-7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414042"/>
                </a:solidFill>
                <a:latin typeface="Verdana"/>
                <a:cs typeface="Verdana"/>
              </a:rPr>
              <a:t>system</a:t>
            </a:r>
            <a:r>
              <a:rPr sz="2000" spc="-6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14042"/>
                </a:solidFill>
                <a:latin typeface="Verdana"/>
                <a:cs typeface="Verdana"/>
              </a:rPr>
              <a:t>uses</a:t>
            </a:r>
            <a:r>
              <a:rPr sz="2000" spc="-3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25" dirty="0">
                <a:solidFill>
                  <a:srgbClr val="414042"/>
                </a:solidFill>
                <a:latin typeface="Verdana"/>
                <a:cs typeface="Verdana"/>
              </a:rPr>
              <a:t>10</a:t>
            </a:r>
            <a:r>
              <a:rPr sz="2000" spc="-3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414042"/>
                </a:solidFill>
                <a:latin typeface="Verdana"/>
                <a:cs typeface="Verdana"/>
              </a:rPr>
              <a:t>different</a:t>
            </a:r>
            <a:r>
              <a:rPr sz="2000" spc="-9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414042"/>
                </a:solidFill>
                <a:latin typeface="Verdana"/>
                <a:cs typeface="Verdana"/>
              </a:rPr>
              <a:t>digits,</a:t>
            </a:r>
            <a:r>
              <a:rPr sz="2000" spc="-4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414042"/>
                </a:solidFill>
                <a:latin typeface="Verdana"/>
                <a:cs typeface="Verdana"/>
              </a:rPr>
              <a:t>0</a:t>
            </a:r>
            <a:r>
              <a:rPr sz="2000" spc="-3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20" dirty="0">
                <a:solidFill>
                  <a:srgbClr val="414042"/>
                </a:solidFill>
                <a:latin typeface="Verdana"/>
                <a:cs typeface="Verdana"/>
              </a:rPr>
              <a:t>to</a:t>
            </a:r>
            <a:r>
              <a:rPr sz="2000" spc="-2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414042"/>
                </a:solidFill>
                <a:latin typeface="Verdana"/>
                <a:cs typeface="Verdana"/>
              </a:rPr>
              <a:t>9</a:t>
            </a:r>
            <a:r>
              <a:rPr sz="2000" spc="-3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14042"/>
                </a:solidFill>
                <a:latin typeface="Verdana"/>
                <a:cs typeface="Verdana"/>
              </a:rPr>
              <a:t>giving</a:t>
            </a:r>
            <a:r>
              <a:rPr sz="2000" spc="-6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14042"/>
                </a:solidFill>
                <a:latin typeface="Verdana"/>
                <a:cs typeface="Verdana"/>
              </a:rPr>
              <a:t>it</a:t>
            </a:r>
            <a:r>
              <a:rPr sz="2000" spc="2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414042"/>
                </a:solidFill>
                <a:latin typeface="Verdana"/>
                <a:cs typeface="Verdana"/>
              </a:rPr>
              <a:t>a</a:t>
            </a:r>
            <a:endParaRPr sz="2000" dirty="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414042"/>
                </a:solidFill>
                <a:latin typeface="Verdana"/>
                <a:cs typeface="Verdana"/>
              </a:rPr>
              <a:t>base</a:t>
            </a:r>
            <a:r>
              <a:rPr sz="2000" spc="-2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414042"/>
                </a:solidFill>
                <a:latin typeface="Verdana"/>
                <a:cs typeface="Verdana"/>
              </a:rPr>
              <a:t>of</a:t>
            </a:r>
            <a:r>
              <a:rPr sz="2000" spc="-2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35" dirty="0">
                <a:solidFill>
                  <a:srgbClr val="414042"/>
                </a:solidFill>
                <a:latin typeface="Verdana"/>
                <a:cs typeface="Verdana"/>
              </a:rPr>
              <a:t>10</a:t>
            </a:r>
            <a:endParaRPr sz="2000" dirty="0">
              <a:latin typeface="Verdana"/>
              <a:cs typeface="Verdana"/>
            </a:endParaRPr>
          </a:p>
          <a:p>
            <a:pPr marL="355600" marR="5080" indent="-34353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2000" spc="15" dirty="0">
                <a:solidFill>
                  <a:srgbClr val="414042"/>
                </a:solidFill>
                <a:latin typeface="Verdana"/>
                <a:cs typeface="Verdana"/>
              </a:rPr>
              <a:t>A</a:t>
            </a:r>
            <a:r>
              <a:rPr sz="2000" spc="-1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14042"/>
                </a:solidFill>
                <a:latin typeface="Verdana"/>
                <a:cs typeface="Verdana"/>
              </a:rPr>
              <a:t>Binary</a:t>
            </a:r>
            <a:r>
              <a:rPr sz="2000" spc="5" dirty="0">
                <a:solidFill>
                  <a:srgbClr val="414042"/>
                </a:solidFill>
                <a:latin typeface="Verdana"/>
                <a:cs typeface="Verdana"/>
              </a:rPr>
              <a:t> number</a:t>
            </a:r>
            <a:r>
              <a:rPr sz="2000" spc="-5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14042"/>
                </a:solidFill>
                <a:latin typeface="Verdana"/>
                <a:cs typeface="Verdana"/>
              </a:rPr>
              <a:t>is</a:t>
            </a:r>
            <a:r>
              <a:rPr sz="2000" spc="-1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414042"/>
                </a:solidFill>
                <a:latin typeface="Verdana"/>
                <a:cs typeface="Verdana"/>
              </a:rPr>
              <a:t>a</a:t>
            </a:r>
            <a:r>
              <a:rPr sz="2000" spc="-1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414042"/>
                </a:solidFill>
                <a:latin typeface="Verdana"/>
                <a:cs typeface="Verdana"/>
              </a:rPr>
              <a:t>weighted</a:t>
            </a:r>
            <a:r>
              <a:rPr sz="2000" spc="-6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414042"/>
                </a:solidFill>
                <a:latin typeface="Verdana"/>
                <a:cs typeface="Verdana"/>
              </a:rPr>
              <a:t>number</a:t>
            </a:r>
            <a:r>
              <a:rPr sz="2000" spc="-5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414042"/>
                </a:solidFill>
                <a:latin typeface="Verdana"/>
                <a:cs typeface="Verdana"/>
              </a:rPr>
              <a:t>who’s </a:t>
            </a:r>
            <a:r>
              <a:rPr sz="2000" spc="5" dirty="0">
                <a:solidFill>
                  <a:srgbClr val="414042"/>
                </a:solidFill>
                <a:latin typeface="Verdana"/>
                <a:cs typeface="Verdana"/>
              </a:rPr>
              <a:t>weighted</a:t>
            </a:r>
            <a:r>
              <a:rPr sz="2000" spc="-6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414042"/>
                </a:solidFill>
                <a:latin typeface="Verdana"/>
                <a:cs typeface="Verdana"/>
              </a:rPr>
              <a:t>value </a:t>
            </a:r>
            <a:r>
              <a:rPr sz="2000" spc="-75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14042"/>
                </a:solidFill>
                <a:latin typeface="Verdana"/>
                <a:cs typeface="Verdana"/>
              </a:rPr>
              <a:t>increases</a:t>
            </a:r>
            <a:r>
              <a:rPr sz="2000" spc="-1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414042"/>
                </a:solidFill>
                <a:latin typeface="Verdana"/>
                <a:cs typeface="Verdana"/>
              </a:rPr>
              <a:t>from</a:t>
            </a:r>
            <a:r>
              <a:rPr sz="2000" spc="-5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14042"/>
                </a:solidFill>
                <a:latin typeface="Verdana"/>
                <a:cs typeface="Verdana"/>
              </a:rPr>
              <a:t>right</a:t>
            </a:r>
            <a:r>
              <a:rPr sz="2000" spc="-3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20" dirty="0">
                <a:solidFill>
                  <a:srgbClr val="414042"/>
                </a:solidFill>
                <a:latin typeface="Verdana"/>
                <a:cs typeface="Verdana"/>
              </a:rPr>
              <a:t>to</a:t>
            </a:r>
            <a:r>
              <a:rPr sz="2000" spc="-2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414042"/>
                </a:solidFill>
                <a:latin typeface="Verdana"/>
                <a:cs typeface="Verdana"/>
              </a:rPr>
              <a:t>left</a:t>
            </a:r>
            <a:endParaRPr sz="2000" dirty="0">
              <a:latin typeface="Verdana"/>
              <a:cs typeface="Verdana"/>
            </a:endParaRPr>
          </a:p>
          <a:p>
            <a:pPr marL="355600" indent="-343535">
              <a:lnSpc>
                <a:spcPct val="100000"/>
              </a:lnSpc>
              <a:spcBef>
                <a:spcPts val="1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2000" spc="5" dirty="0">
                <a:solidFill>
                  <a:srgbClr val="414042"/>
                </a:solidFill>
                <a:latin typeface="Verdana"/>
                <a:cs typeface="Verdana"/>
              </a:rPr>
              <a:t>The</a:t>
            </a:r>
            <a:r>
              <a:rPr sz="2000" spc="-6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14042"/>
                </a:solidFill>
                <a:latin typeface="Verdana"/>
                <a:cs typeface="Verdana"/>
              </a:rPr>
              <a:t>weight</a:t>
            </a:r>
            <a:r>
              <a:rPr sz="2000" spc="3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414042"/>
                </a:solidFill>
                <a:latin typeface="Verdana"/>
                <a:cs typeface="Verdana"/>
              </a:rPr>
              <a:t>of</a:t>
            </a:r>
            <a:r>
              <a:rPr sz="2000" spc="10" dirty="0">
                <a:solidFill>
                  <a:srgbClr val="414042"/>
                </a:solidFill>
                <a:latin typeface="Verdana"/>
                <a:cs typeface="Verdana"/>
              </a:rPr>
              <a:t> a</a:t>
            </a:r>
            <a:r>
              <a:rPr sz="2000" spc="-1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14042"/>
                </a:solidFill>
                <a:latin typeface="Verdana"/>
                <a:cs typeface="Verdana"/>
              </a:rPr>
              <a:t>binary</a:t>
            </a:r>
            <a:r>
              <a:rPr sz="2000" spc="-5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14042"/>
                </a:solidFill>
                <a:latin typeface="Verdana"/>
                <a:cs typeface="Verdana"/>
              </a:rPr>
              <a:t>digit</a:t>
            </a:r>
            <a:r>
              <a:rPr sz="2000" spc="-3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14042"/>
                </a:solidFill>
                <a:latin typeface="Verdana"/>
                <a:cs typeface="Verdana"/>
              </a:rPr>
              <a:t>doubles</a:t>
            </a:r>
            <a:r>
              <a:rPr sz="2000" spc="-1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414042"/>
                </a:solidFill>
                <a:latin typeface="Verdana"/>
                <a:cs typeface="Verdana"/>
              </a:rPr>
              <a:t>from</a:t>
            </a:r>
            <a:r>
              <a:rPr sz="2000" spc="1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14042"/>
                </a:solidFill>
                <a:latin typeface="Verdana"/>
                <a:cs typeface="Verdana"/>
              </a:rPr>
              <a:t>right</a:t>
            </a:r>
            <a:r>
              <a:rPr sz="2000" spc="-3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20" dirty="0">
                <a:solidFill>
                  <a:srgbClr val="414042"/>
                </a:solidFill>
                <a:latin typeface="Verdana"/>
                <a:cs typeface="Verdana"/>
              </a:rPr>
              <a:t>to</a:t>
            </a:r>
            <a:r>
              <a:rPr sz="2000" spc="-8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414042"/>
                </a:solidFill>
                <a:latin typeface="Verdana"/>
                <a:cs typeface="Verdana"/>
              </a:rPr>
              <a:t>left</a:t>
            </a:r>
            <a:endParaRPr sz="2000" dirty="0">
              <a:latin typeface="Verdana"/>
              <a:cs typeface="Verdana"/>
            </a:endParaRPr>
          </a:p>
          <a:p>
            <a:pPr marL="355600" indent="-343535">
              <a:lnSpc>
                <a:spcPct val="100000"/>
              </a:lnSpc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2000" spc="15" dirty="0">
                <a:solidFill>
                  <a:srgbClr val="414042"/>
                </a:solidFill>
                <a:latin typeface="Verdana"/>
                <a:cs typeface="Verdana"/>
              </a:rPr>
              <a:t>A</a:t>
            </a:r>
            <a:r>
              <a:rPr sz="2000" spc="-1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414042"/>
                </a:solidFill>
                <a:latin typeface="Verdana"/>
                <a:cs typeface="Verdana"/>
              </a:rPr>
              <a:t>decimal</a:t>
            </a:r>
            <a:r>
              <a:rPr sz="2000" spc="-6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14042"/>
                </a:solidFill>
                <a:latin typeface="Verdana"/>
                <a:cs typeface="Verdana"/>
              </a:rPr>
              <a:t>number</a:t>
            </a:r>
            <a:r>
              <a:rPr sz="2000" spc="1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14042"/>
                </a:solidFill>
                <a:latin typeface="Verdana"/>
                <a:cs typeface="Verdana"/>
              </a:rPr>
              <a:t>can</a:t>
            </a:r>
            <a:r>
              <a:rPr sz="2000" spc="-2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414042"/>
                </a:solidFill>
                <a:latin typeface="Verdana"/>
                <a:cs typeface="Verdana"/>
              </a:rPr>
              <a:t>be</a:t>
            </a:r>
            <a:r>
              <a:rPr sz="200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414042"/>
                </a:solidFill>
                <a:latin typeface="Verdana"/>
                <a:cs typeface="Verdana"/>
              </a:rPr>
              <a:t>converted</a:t>
            </a:r>
            <a:r>
              <a:rPr sz="2000" spc="-12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20" dirty="0">
                <a:solidFill>
                  <a:srgbClr val="414042"/>
                </a:solidFill>
                <a:latin typeface="Verdana"/>
                <a:cs typeface="Verdana"/>
              </a:rPr>
              <a:t>to</a:t>
            </a:r>
            <a:r>
              <a:rPr sz="2000" spc="-8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41404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14042"/>
                </a:solidFill>
                <a:latin typeface="Verdana"/>
                <a:cs typeface="Verdana"/>
              </a:rPr>
              <a:t>binary</a:t>
            </a:r>
            <a:r>
              <a:rPr sz="2000" spc="5" dirty="0">
                <a:solidFill>
                  <a:srgbClr val="414042"/>
                </a:solidFill>
                <a:latin typeface="Verdana"/>
                <a:cs typeface="Verdana"/>
              </a:rPr>
              <a:t> number</a:t>
            </a:r>
            <a:r>
              <a:rPr sz="2000" spc="-5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414042"/>
                </a:solidFill>
                <a:latin typeface="Verdana"/>
                <a:cs typeface="Verdana"/>
              </a:rPr>
              <a:t>by</a:t>
            </a:r>
            <a:endParaRPr sz="2000" dirty="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solidFill>
                  <a:srgbClr val="414042"/>
                </a:solidFill>
                <a:latin typeface="Verdana"/>
                <a:cs typeface="Verdana"/>
              </a:rPr>
              <a:t>using</a:t>
            </a:r>
            <a:r>
              <a:rPr sz="200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414042"/>
                </a:solidFill>
                <a:latin typeface="Verdana"/>
                <a:cs typeface="Verdana"/>
              </a:rPr>
              <a:t>the </a:t>
            </a:r>
            <a:r>
              <a:rPr sz="2000" spc="-5" dirty="0">
                <a:solidFill>
                  <a:srgbClr val="414042"/>
                </a:solidFill>
                <a:latin typeface="Verdana"/>
                <a:cs typeface="Verdana"/>
              </a:rPr>
              <a:t>sum-of-weights</a:t>
            </a:r>
            <a:r>
              <a:rPr sz="2000" spc="-13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414042"/>
                </a:solidFill>
                <a:latin typeface="Verdana"/>
                <a:cs typeface="Verdana"/>
              </a:rPr>
              <a:t>method</a:t>
            </a:r>
            <a:endParaRPr lang="en-US" sz="2000" dirty="0">
              <a:latin typeface="Verdana"/>
              <a:cs typeface="Verdana"/>
            </a:endParaRPr>
          </a:p>
          <a:p>
            <a:pPr marL="342900" marR="1083945" indent="-342900" algn="r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53975" algn="l"/>
              </a:tabLst>
            </a:pPr>
            <a:r>
              <a:rPr lang="en-US" sz="2000" spc="15" dirty="0">
                <a:solidFill>
                  <a:srgbClr val="414042"/>
                </a:solidFill>
                <a:latin typeface="Verdana"/>
                <a:cs typeface="Verdana"/>
              </a:rPr>
              <a:t>When</a:t>
            </a:r>
            <a:r>
              <a:rPr lang="en-US" sz="2000" spc="-9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lang="en-US" sz="2000" spc="5" dirty="0">
                <a:solidFill>
                  <a:srgbClr val="414042"/>
                </a:solidFill>
                <a:latin typeface="Verdana"/>
                <a:cs typeface="Verdana"/>
              </a:rPr>
              <a:t>we</a:t>
            </a:r>
            <a:r>
              <a:rPr lang="en-US" sz="2000" spc="-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lang="en-US" sz="2000" dirty="0">
                <a:solidFill>
                  <a:srgbClr val="414042"/>
                </a:solidFill>
                <a:latin typeface="Verdana"/>
                <a:cs typeface="Verdana"/>
              </a:rPr>
              <a:t>convert</a:t>
            </a:r>
            <a:r>
              <a:rPr lang="en-US" sz="2000" spc="-9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lang="en-US" sz="2000" spc="5" dirty="0">
                <a:solidFill>
                  <a:srgbClr val="414042"/>
                </a:solidFill>
                <a:latin typeface="Verdana"/>
                <a:cs typeface="Verdana"/>
              </a:rPr>
              <a:t>numbers</a:t>
            </a:r>
            <a:r>
              <a:rPr lang="en-US" sz="2000" spc="-1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lang="en-US" sz="2000" spc="5" dirty="0">
                <a:solidFill>
                  <a:srgbClr val="414042"/>
                </a:solidFill>
                <a:latin typeface="Verdana"/>
                <a:cs typeface="Verdana"/>
              </a:rPr>
              <a:t>from</a:t>
            </a:r>
            <a:r>
              <a:rPr lang="en-US" sz="2000" spc="-7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lang="en-US" sz="2000" dirty="0">
                <a:solidFill>
                  <a:srgbClr val="414042"/>
                </a:solidFill>
                <a:latin typeface="Verdana"/>
                <a:cs typeface="Verdana"/>
              </a:rPr>
              <a:t>binary</a:t>
            </a:r>
            <a:r>
              <a:rPr lang="en-US" sz="2000" spc="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lang="en-US" sz="2000" spc="20" dirty="0">
                <a:solidFill>
                  <a:srgbClr val="414042"/>
                </a:solidFill>
                <a:latin typeface="Verdana"/>
                <a:cs typeface="Verdana"/>
              </a:rPr>
              <a:t>to</a:t>
            </a:r>
            <a:r>
              <a:rPr lang="en-US" sz="2000" spc="-9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lang="en-US" sz="2000" dirty="0">
                <a:solidFill>
                  <a:srgbClr val="414042"/>
                </a:solidFill>
                <a:latin typeface="Verdana"/>
                <a:cs typeface="Verdana"/>
              </a:rPr>
              <a:t>decimal,</a:t>
            </a:r>
            <a:r>
              <a:rPr lang="en-US" sz="2000" spc="-2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lang="en-US" sz="2000" spc="-5" dirty="0">
                <a:solidFill>
                  <a:srgbClr val="414042"/>
                </a:solidFill>
                <a:latin typeface="Verdana"/>
                <a:cs typeface="Verdana"/>
              </a:rPr>
              <a:t>or</a:t>
            </a:r>
            <a:endParaRPr lang="en-US" sz="2000" dirty="0">
              <a:latin typeface="Verdana"/>
              <a:cs typeface="Verdana"/>
            </a:endParaRPr>
          </a:p>
          <a:p>
            <a:pPr marR="1111885" algn="r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414042"/>
                </a:solidFill>
                <a:latin typeface="Verdana"/>
                <a:cs typeface="Verdana"/>
              </a:rPr>
              <a:t>decimal </a:t>
            </a:r>
            <a:r>
              <a:rPr sz="2000" spc="15" dirty="0">
                <a:solidFill>
                  <a:srgbClr val="414042"/>
                </a:solidFill>
                <a:latin typeface="Verdana"/>
                <a:cs typeface="Verdana"/>
              </a:rPr>
              <a:t>to</a:t>
            </a:r>
            <a:r>
              <a:rPr sz="2000" spc="-8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414042"/>
                </a:solidFill>
                <a:latin typeface="Verdana"/>
                <a:cs typeface="Verdana"/>
              </a:rPr>
              <a:t>binary,</a:t>
            </a:r>
            <a:r>
              <a:rPr sz="2000" spc="-8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14042"/>
                </a:solidFill>
                <a:latin typeface="Verdana"/>
                <a:cs typeface="Verdana"/>
              </a:rPr>
              <a:t>subscripts</a:t>
            </a:r>
            <a:r>
              <a:rPr sz="2000" spc="-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414042"/>
                </a:solidFill>
                <a:latin typeface="Verdana"/>
                <a:cs typeface="Verdana"/>
              </a:rPr>
              <a:t>are</a:t>
            </a:r>
            <a:r>
              <a:rPr sz="2000" spc="-50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14042"/>
                </a:solidFill>
                <a:latin typeface="Verdana"/>
                <a:cs typeface="Verdana"/>
              </a:rPr>
              <a:t>used</a:t>
            </a:r>
            <a:r>
              <a:rPr sz="2000" spc="15" dirty="0">
                <a:solidFill>
                  <a:srgbClr val="414042"/>
                </a:solidFill>
                <a:latin typeface="Verdana"/>
                <a:cs typeface="Verdana"/>
              </a:rPr>
              <a:t> to</a:t>
            </a:r>
            <a:r>
              <a:rPr sz="2000" spc="-1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14042"/>
                </a:solidFill>
                <a:latin typeface="Verdana"/>
                <a:cs typeface="Verdana"/>
              </a:rPr>
              <a:t>avoid</a:t>
            </a:r>
            <a:r>
              <a:rPr sz="2000" spc="-55" dirty="0">
                <a:solidFill>
                  <a:srgbClr val="414042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414042"/>
                </a:solidFill>
                <a:latin typeface="Verdana"/>
                <a:cs typeface="Verdana"/>
              </a:rPr>
              <a:t>errors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5227" y="349250"/>
            <a:ext cx="678053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0" dirty="0"/>
              <a:t>hexadecimal</a:t>
            </a:r>
            <a:r>
              <a:rPr spc="-130" dirty="0"/>
              <a:t> </a:t>
            </a:r>
            <a:r>
              <a:rPr spc="25" dirty="0"/>
              <a:t>to</a:t>
            </a:r>
            <a:r>
              <a:rPr spc="-70" dirty="0"/>
              <a:t> </a:t>
            </a:r>
            <a:r>
              <a:rPr spc="5" dirty="0"/>
              <a:t>decimal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" y="1104899"/>
            <a:ext cx="7696200" cy="4038599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7979" y="1779523"/>
            <a:ext cx="306197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0" spc="5" dirty="0">
                <a:latin typeface="Verdana"/>
                <a:cs typeface="Verdana"/>
              </a:rPr>
              <a:t>THANK</a:t>
            </a:r>
            <a:r>
              <a:rPr b="0" spc="-125" dirty="0">
                <a:latin typeface="Verdana"/>
                <a:cs typeface="Verdana"/>
              </a:rPr>
              <a:t> </a:t>
            </a:r>
            <a:r>
              <a:rPr b="0" spc="-5" dirty="0">
                <a:latin typeface="Verdana"/>
                <a:cs typeface="Verdana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0404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698</Words>
  <Application>Microsoft Office PowerPoint</Application>
  <PresentationFormat>On-screen Show (16:9)</PresentationFormat>
  <Paragraphs>101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Calibri</vt:lpstr>
      <vt:lpstr>Verdana</vt:lpstr>
      <vt:lpstr>Wingdings</vt:lpstr>
      <vt:lpstr>Office Theme</vt:lpstr>
      <vt:lpstr>WELCOME TO CLASS!</vt:lpstr>
      <vt:lpstr>let’s introduce ourselves</vt:lpstr>
      <vt:lpstr>what is a “Microprocessor”?</vt:lpstr>
      <vt:lpstr>CLASS 1</vt:lpstr>
      <vt:lpstr>what is a microprocessor?</vt:lpstr>
      <vt:lpstr>What is a microprocessor?</vt:lpstr>
      <vt:lpstr>MPU ARCHITECTURE</vt:lpstr>
      <vt:lpstr>INTEL 8085 MPU  ARCHITECTURE</vt:lpstr>
      <vt:lpstr>PowerPoint Presentation</vt:lpstr>
      <vt:lpstr>PowerPoint Presentation</vt:lpstr>
      <vt:lpstr>HISTORY</vt:lpstr>
      <vt:lpstr>1946</vt:lpstr>
      <vt:lpstr>HISTORY</vt:lpstr>
      <vt:lpstr>INTEL 4004</vt:lpstr>
      <vt:lpstr>PowerPoint Presentation</vt:lpstr>
      <vt:lpstr>2019</vt:lpstr>
      <vt:lpstr>Intel Core i9-9900KS Processor  18 Billion Transistors</vt:lpstr>
      <vt:lpstr>PowerPoint Presentation</vt:lpstr>
      <vt:lpstr>microprocessor vs CPU</vt:lpstr>
      <vt:lpstr>PowerPoint Presentation</vt:lpstr>
      <vt:lpstr>microprocessor vs CPU</vt:lpstr>
      <vt:lpstr>MPU vs MCU</vt:lpstr>
      <vt:lpstr>what is a microcontroller?</vt:lpstr>
      <vt:lpstr>PowerPoint Presentation</vt:lpstr>
      <vt:lpstr>what is a microcontroller?</vt:lpstr>
      <vt:lpstr>PowerPoint Presentation</vt:lpstr>
      <vt:lpstr>MICROCONTROLLERS  CONTROL CIRCUITS</vt:lpstr>
      <vt:lpstr>PowerPoint Presentation</vt:lpstr>
      <vt:lpstr>PowerPoint Presentation</vt:lpstr>
      <vt:lpstr>IN-EAR PULSE BIODATA ACQUISITION</vt:lpstr>
      <vt:lpstr>PASSWORD BASED DOOR LOCK SYSTEM</vt:lpstr>
      <vt:lpstr>ENGINE CONTROL UNIT</vt:lpstr>
      <vt:lpstr>ARCHITECTURE OF A MICROCONTROLLER</vt:lpstr>
      <vt:lpstr>in order to work, MCUs need:</vt:lpstr>
      <vt:lpstr>in order to work, MCUs need:</vt:lpstr>
      <vt:lpstr>in order to work, MCUs need:</vt:lpstr>
      <vt:lpstr>DIGITAL COMPONENTS</vt:lpstr>
      <vt:lpstr>PowerPoint Presentation</vt:lpstr>
      <vt:lpstr>BOOLEAN LOGIC</vt:lpstr>
      <vt:lpstr>BASIC ELECTRONIC COMPONENTS</vt:lpstr>
      <vt:lpstr>DATA REPRESENTATION</vt:lpstr>
      <vt:lpstr>binary to decimal</vt:lpstr>
      <vt:lpstr>binary to decimal</vt:lpstr>
      <vt:lpstr>binary to decimal</vt:lpstr>
      <vt:lpstr>binary to decimal</vt:lpstr>
      <vt:lpstr>binary to decimal</vt:lpstr>
      <vt:lpstr>binary system units</vt:lpstr>
      <vt:lpstr>Today, as micro-controller or  microprocessor systems become  increasingly larger, the individual  binary digits (bits) are now grouped  together into 8’s to form a single BYTE</vt:lpstr>
      <vt:lpstr>file system units</vt:lpstr>
      <vt:lpstr>BINARY TO DECIMAL SUMMARY</vt:lpstr>
      <vt:lpstr>hexadecimal to decimal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hiba-hassan 123456</dc:creator>
  <cp:lastModifiedBy>Ahmed Donkol</cp:lastModifiedBy>
  <cp:revision>8</cp:revision>
  <dcterms:created xsi:type="dcterms:W3CDTF">2022-02-22T05:41:51Z</dcterms:created>
  <dcterms:modified xsi:type="dcterms:W3CDTF">2023-10-11T13:01:33Z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2020-10-27T00:00:00Z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2022-02-22T00:00:00Z</vt:filetime>
  </property>
</Properties>
</file>