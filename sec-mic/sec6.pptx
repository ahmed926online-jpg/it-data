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9262" y="1227531"/>
            <a:ext cx="814547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5" dirty="0"/>
              <a:t>Copyright</a:t>
            </a:r>
            <a:r>
              <a:rPr spc="-20" dirty="0"/>
              <a:t> </a:t>
            </a:r>
            <a:r>
              <a:rPr dirty="0"/>
              <a:t>©</a:t>
            </a:r>
            <a:r>
              <a:rPr spc="-5" dirty="0"/>
              <a:t> American College</a:t>
            </a:r>
            <a:r>
              <a:rPr dirty="0"/>
              <a:t> </a:t>
            </a:r>
            <a:r>
              <a:rPr spc="-5" dirty="0"/>
              <a:t>of </a:t>
            </a:r>
            <a:r>
              <a:rPr dirty="0"/>
              <a:t>the</a:t>
            </a:r>
          </a:p>
          <a:p>
            <a:pPr marL="3175" algn="ctr">
              <a:lnSpc>
                <a:spcPct val="100000"/>
              </a:lnSpc>
            </a:pPr>
            <a:r>
              <a:rPr dirty="0"/>
              <a:t>Middle</a:t>
            </a:r>
            <a:r>
              <a:rPr spc="-55" dirty="0"/>
              <a:t> </a:t>
            </a:r>
            <a:r>
              <a:rPr spc="-5" dirty="0"/>
              <a:t>East.</a:t>
            </a:r>
            <a:r>
              <a:rPr spc="-20" dirty="0"/>
              <a:t> </a:t>
            </a:r>
            <a:r>
              <a:rPr dirty="0"/>
              <a:t>2020.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5" dirty="0"/>
              <a:t>Copyright</a:t>
            </a:r>
            <a:r>
              <a:rPr spc="-20" dirty="0"/>
              <a:t> </a:t>
            </a:r>
            <a:r>
              <a:rPr dirty="0"/>
              <a:t>©</a:t>
            </a:r>
            <a:r>
              <a:rPr spc="-5" dirty="0"/>
              <a:t> American College</a:t>
            </a:r>
            <a:r>
              <a:rPr dirty="0"/>
              <a:t> </a:t>
            </a:r>
            <a:r>
              <a:rPr spc="-5" dirty="0"/>
              <a:t>of </a:t>
            </a:r>
            <a:r>
              <a:rPr dirty="0"/>
              <a:t>the</a:t>
            </a:r>
          </a:p>
          <a:p>
            <a:pPr marL="3175" algn="ctr">
              <a:lnSpc>
                <a:spcPct val="100000"/>
              </a:lnSpc>
            </a:pPr>
            <a:r>
              <a:rPr dirty="0"/>
              <a:t>Middle</a:t>
            </a:r>
            <a:r>
              <a:rPr spc="-55" dirty="0"/>
              <a:t> </a:t>
            </a:r>
            <a:r>
              <a:rPr spc="-5" dirty="0"/>
              <a:t>East.</a:t>
            </a:r>
            <a:r>
              <a:rPr spc="-20" dirty="0"/>
              <a:t> </a:t>
            </a:r>
            <a:r>
              <a:rPr dirty="0"/>
              <a:t>2020.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5" dirty="0"/>
              <a:t>Copyright</a:t>
            </a:r>
            <a:r>
              <a:rPr spc="-20" dirty="0"/>
              <a:t> </a:t>
            </a:r>
            <a:r>
              <a:rPr dirty="0"/>
              <a:t>©</a:t>
            </a:r>
            <a:r>
              <a:rPr spc="-5" dirty="0"/>
              <a:t> American College</a:t>
            </a:r>
            <a:r>
              <a:rPr dirty="0"/>
              <a:t> </a:t>
            </a:r>
            <a:r>
              <a:rPr spc="-5" dirty="0"/>
              <a:t>of </a:t>
            </a:r>
            <a:r>
              <a:rPr dirty="0"/>
              <a:t>the</a:t>
            </a:r>
          </a:p>
          <a:p>
            <a:pPr marL="3175" algn="ctr">
              <a:lnSpc>
                <a:spcPct val="100000"/>
              </a:lnSpc>
            </a:pPr>
            <a:r>
              <a:rPr dirty="0"/>
              <a:t>Middle</a:t>
            </a:r>
            <a:r>
              <a:rPr spc="-55" dirty="0"/>
              <a:t> </a:t>
            </a:r>
            <a:r>
              <a:rPr spc="-5" dirty="0"/>
              <a:t>East.</a:t>
            </a:r>
            <a:r>
              <a:rPr spc="-20" dirty="0"/>
              <a:t> </a:t>
            </a:r>
            <a:r>
              <a:rPr dirty="0"/>
              <a:t>2020.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5" dirty="0"/>
              <a:t>Copyright</a:t>
            </a:r>
            <a:r>
              <a:rPr spc="-20" dirty="0"/>
              <a:t> </a:t>
            </a:r>
            <a:r>
              <a:rPr dirty="0"/>
              <a:t>©</a:t>
            </a:r>
            <a:r>
              <a:rPr spc="-5" dirty="0"/>
              <a:t> American College</a:t>
            </a:r>
            <a:r>
              <a:rPr dirty="0"/>
              <a:t> </a:t>
            </a:r>
            <a:r>
              <a:rPr spc="-5" dirty="0"/>
              <a:t>of </a:t>
            </a:r>
            <a:r>
              <a:rPr dirty="0"/>
              <a:t>the</a:t>
            </a:r>
          </a:p>
          <a:p>
            <a:pPr marL="3175" algn="ctr">
              <a:lnSpc>
                <a:spcPct val="100000"/>
              </a:lnSpc>
            </a:pPr>
            <a:r>
              <a:rPr dirty="0"/>
              <a:t>Middle</a:t>
            </a:r>
            <a:r>
              <a:rPr spc="-55" dirty="0"/>
              <a:t> </a:t>
            </a:r>
            <a:r>
              <a:rPr spc="-5" dirty="0"/>
              <a:t>East.</a:t>
            </a:r>
            <a:r>
              <a:rPr spc="-20" dirty="0"/>
              <a:t> </a:t>
            </a:r>
            <a:r>
              <a:rPr dirty="0"/>
              <a:t>2020.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5" dirty="0"/>
              <a:t>Copyright</a:t>
            </a:r>
            <a:r>
              <a:rPr spc="-20" dirty="0"/>
              <a:t> </a:t>
            </a:r>
            <a:r>
              <a:rPr dirty="0"/>
              <a:t>©</a:t>
            </a:r>
            <a:r>
              <a:rPr spc="-5" dirty="0"/>
              <a:t> American College</a:t>
            </a:r>
            <a:r>
              <a:rPr dirty="0"/>
              <a:t> </a:t>
            </a:r>
            <a:r>
              <a:rPr spc="-5" dirty="0"/>
              <a:t>of </a:t>
            </a:r>
            <a:r>
              <a:rPr dirty="0"/>
              <a:t>the</a:t>
            </a:r>
          </a:p>
          <a:p>
            <a:pPr marL="3175" algn="ctr">
              <a:lnSpc>
                <a:spcPct val="100000"/>
              </a:lnSpc>
            </a:pPr>
            <a:r>
              <a:rPr dirty="0"/>
              <a:t>Middle</a:t>
            </a:r>
            <a:r>
              <a:rPr spc="-55" dirty="0"/>
              <a:t> </a:t>
            </a:r>
            <a:r>
              <a:rPr spc="-5" dirty="0"/>
              <a:t>East.</a:t>
            </a:r>
            <a:r>
              <a:rPr spc="-20" dirty="0"/>
              <a:t> </a:t>
            </a:r>
            <a:r>
              <a:rPr dirty="0"/>
              <a:t>2020.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17572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2440" y="217373"/>
            <a:ext cx="4119118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9547" y="1261109"/>
            <a:ext cx="6724904" cy="3226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7570" y="4738827"/>
            <a:ext cx="2306954" cy="361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5" dirty="0"/>
              <a:t>Copyright</a:t>
            </a:r>
            <a:r>
              <a:rPr spc="-20" dirty="0"/>
              <a:t> </a:t>
            </a:r>
            <a:r>
              <a:rPr dirty="0"/>
              <a:t>©</a:t>
            </a:r>
            <a:r>
              <a:rPr spc="-5" dirty="0"/>
              <a:t> American College</a:t>
            </a:r>
            <a:r>
              <a:rPr dirty="0"/>
              <a:t> </a:t>
            </a:r>
            <a:r>
              <a:rPr spc="-5" dirty="0"/>
              <a:t>of </a:t>
            </a:r>
            <a:r>
              <a:rPr dirty="0"/>
              <a:t>the</a:t>
            </a:r>
          </a:p>
          <a:p>
            <a:pPr marL="3175" algn="ctr">
              <a:lnSpc>
                <a:spcPct val="100000"/>
              </a:lnSpc>
            </a:pPr>
            <a:r>
              <a:rPr dirty="0"/>
              <a:t>Middle</a:t>
            </a:r>
            <a:r>
              <a:rPr spc="-55" dirty="0"/>
              <a:t> </a:t>
            </a:r>
            <a:r>
              <a:rPr spc="-5" dirty="0"/>
              <a:t>East.</a:t>
            </a:r>
            <a:r>
              <a:rPr spc="-20" dirty="0"/>
              <a:t> </a:t>
            </a:r>
            <a:r>
              <a:rPr dirty="0"/>
              <a:t>2020.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07552" y="4406271"/>
            <a:ext cx="367665" cy="581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7861" y="2248661"/>
            <a:ext cx="2207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E82728"/>
                </a:solidFill>
              </a:rPr>
              <a:t>CLASS</a:t>
            </a:r>
            <a:r>
              <a:rPr sz="4000" spc="-45" dirty="0">
                <a:solidFill>
                  <a:srgbClr val="E82728"/>
                </a:solidFill>
              </a:rPr>
              <a:t> </a:t>
            </a:r>
            <a:r>
              <a:rPr sz="4000" spc="-5" dirty="0">
                <a:solidFill>
                  <a:srgbClr val="E82728"/>
                </a:solidFill>
              </a:rPr>
              <a:t>6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8864" y="2248661"/>
            <a:ext cx="4445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CLASS</a:t>
            </a:r>
            <a:r>
              <a:rPr sz="4000" dirty="0"/>
              <a:t> </a:t>
            </a:r>
            <a:r>
              <a:rPr sz="4000" spc="-5" dirty="0"/>
              <a:t>5</a:t>
            </a:r>
            <a:r>
              <a:rPr sz="4000" spc="-30" dirty="0"/>
              <a:t> </a:t>
            </a:r>
            <a:r>
              <a:rPr sz="4000" spc="-5" dirty="0"/>
              <a:t>REVIEW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4005" y="2277872"/>
            <a:ext cx="60198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E82728"/>
                </a:solidFill>
              </a:rPr>
              <a:t>7-SEGMENT</a:t>
            </a:r>
            <a:r>
              <a:rPr sz="4400" spc="-35" dirty="0">
                <a:solidFill>
                  <a:srgbClr val="E82728"/>
                </a:solidFill>
              </a:rPr>
              <a:t> </a:t>
            </a:r>
            <a:r>
              <a:rPr sz="4400" dirty="0">
                <a:solidFill>
                  <a:srgbClr val="E82728"/>
                </a:solidFill>
              </a:rPr>
              <a:t>DISPLAY</a:t>
            </a:r>
            <a:endParaRPr sz="4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780" y="217373"/>
            <a:ext cx="65551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solidFill>
                  <a:srgbClr val="404040"/>
                </a:solidFill>
                <a:latin typeface="Verdana"/>
                <a:cs typeface="Verdana"/>
              </a:rPr>
              <a:t>7-SEGMENT</a:t>
            </a:r>
            <a:r>
              <a:rPr sz="48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-5" dirty="0">
                <a:solidFill>
                  <a:srgbClr val="404040"/>
                </a:solidFill>
                <a:latin typeface="Verdana"/>
                <a:cs typeface="Verdana"/>
              </a:rPr>
              <a:t>DISPLAY</a:t>
            </a:r>
            <a:endParaRPr sz="4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1864" y="1242060"/>
            <a:ext cx="3700272" cy="27127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53029" y="4160316"/>
            <a:ext cx="3834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COMMON</a:t>
            </a:r>
            <a:r>
              <a:rPr sz="3000" spc="-9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CATHODE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780" y="217373"/>
            <a:ext cx="65551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7-SEGMENT</a:t>
            </a:r>
            <a:r>
              <a:rPr spc="-30" dirty="0"/>
              <a:t> </a:t>
            </a:r>
            <a:r>
              <a:rPr spc="-5" dirty="0"/>
              <a:t>DISPLAY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2229" y="2254122"/>
            <a:ext cx="8623935" cy="8616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295"/>
              </a:lnSpc>
              <a:spcBef>
                <a:spcPts val="95"/>
              </a:spcBef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SHOW</a:t>
            </a:r>
            <a:r>
              <a:rPr sz="28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CHARACTER</a:t>
            </a:r>
            <a:r>
              <a:rPr sz="280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“C”</a:t>
            </a:r>
            <a:endParaRPr sz="2800">
              <a:latin typeface="Verdana"/>
              <a:cs typeface="Verdana"/>
            </a:endParaRPr>
          </a:p>
          <a:p>
            <a:pPr algn="ctr">
              <a:lnSpc>
                <a:spcPts val="3295"/>
              </a:lnSpc>
            </a:pP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IN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 THE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FOURTH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AND</a:t>
            </a:r>
            <a:r>
              <a:rPr sz="2800" spc="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SECOND</a:t>
            </a:r>
            <a:r>
              <a:rPr sz="2800" spc="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7-SEG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DISPLAYS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780" y="217373"/>
            <a:ext cx="65551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7-SEGMENT</a:t>
            </a:r>
            <a:r>
              <a:rPr spc="-30" dirty="0"/>
              <a:t> </a:t>
            </a:r>
            <a:r>
              <a:rPr spc="-5" dirty="0"/>
              <a:t>DISPLAY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8641" y="2254122"/>
            <a:ext cx="6505575" cy="861694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90170" marR="5080" indent="-78105">
              <a:lnSpc>
                <a:spcPts val="3229"/>
              </a:lnSpc>
              <a:spcBef>
                <a:spcPts val="310"/>
              </a:spcBef>
            </a:pP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SHOW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THE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7-SEG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DISPLAY OUTPUT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 PORTA=0x09</a:t>
            </a:r>
            <a:r>
              <a:rPr sz="280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AND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PORTD=0x6B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2952" y="4408728"/>
            <a:ext cx="3168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14EA0"/>
                </a:solidFill>
                <a:latin typeface="Verdana"/>
                <a:cs typeface="Verdana"/>
              </a:rPr>
              <a:t>4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9345" y="452754"/>
            <a:ext cx="43846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E82728"/>
                </a:solidFill>
              </a:rPr>
              <a:t>CLASS</a:t>
            </a:r>
            <a:r>
              <a:rPr sz="4000" spc="-15" dirty="0">
                <a:solidFill>
                  <a:srgbClr val="E82728"/>
                </a:solidFill>
              </a:rPr>
              <a:t> </a:t>
            </a:r>
            <a:r>
              <a:rPr sz="4000" spc="-5" dirty="0">
                <a:solidFill>
                  <a:srgbClr val="E82728"/>
                </a:solidFill>
              </a:rPr>
              <a:t>–</a:t>
            </a:r>
            <a:r>
              <a:rPr sz="4000" spc="-25" dirty="0">
                <a:solidFill>
                  <a:srgbClr val="E82728"/>
                </a:solidFill>
              </a:rPr>
              <a:t> </a:t>
            </a:r>
            <a:r>
              <a:rPr sz="4000" spc="-5" dirty="0">
                <a:solidFill>
                  <a:srgbClr val="E82728"/>
                </a:solidFill>
              </a:rPr>
              <a:t>WEEK</a:t>
            </a:r>
            <a:r>
              <a:rPr sz="4000" spc="-25" dirty="0">
                <a:solidFill>
                  <a:srgbClr val="E82728"/>
                </a:solidFill>
              </a:rPr>
              <a:t> </a:t>
            </a:r>
            <a:r>
              <a:rPr sz="4000" spc="-5" dirty="0">
                <a:solidFill>
                  <a:srgbClr val="E82728"/>
                </a:solidFill>
              </a:rPr>
              <a:t>6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45770" y="1605152"/>
            <a:ext cx="6582409" cy="231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171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ASSEMBLY</a:t>
            </a:r>
            <a:r>
              <a:rPr sz="30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LANGUAGE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3000" spc="-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STATEMENT</a:t>
            </a:r>
            <a:endParaRPr sz="30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READ</a:t>
            </a:r>
            <a:r>
              <a:rPr sz="30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INPUTS</a:t>
            </a:r>
            <a:endParaRPr sz="30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FUNCTIONS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5382" y="2248661"/>
            <a:ext cx="3793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IF</a:t>
            </a:r>
            <a:r>
              <a:rPr sz="4000" spc="-75" dirty="0"/>
              <a:t> </a:t>
            </a:r>
            <a:r>
              <a:rPr sz="4000" spc="-5" dirty="0"/>
              <a:t>STATEMENT</a:t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5060" y="614172"/>
            <a:ext cx="4373880" cy="42504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69734" y="31191"/>
            <a:ext cx="22910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14EA0"/>
                </a:solidFill>
              </a:rPr>
              <a:t>IF</a:t>
            </a:r>
            <a:r>
              <a:rPr sz="2400" spc="-50" dirty="0">
                <a:solidFill>
                  <a:srgbClr val="014EA0"/>
                </a:solidFill>
              </a:rPr>
              <a:t> </a:t>
            </a:r>
            <a:r>
              <a:rPr sz="2400" dirty="0">
                <a:solidFill>
                  <a:srgbClr val="014EA0"/>
                </a:solidFill>
              </a:rPr>
              <a:t>STATEMENT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4291" y="984503"/>
            <a:ext cx="5995416" cy="34853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69734" y="31191"/>
            <a:ext cx="22910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14EA0"/>
                </a:solidFill>
              </a:rPr>
              <a:t>IF</a:t>
            </a:r>
            <a:r>
              <a:rPr sz="2400" spc="-50" dirty="0">
                <a:solidFill>
                  <a:srgbClr val="014EA0"/>
                </a:solidFill>
              </a:rPr>
              <a:t> </a:t>
            </a:r>
            <a:r>
              <a:rPr sz="2400" dirty="0">
                <a:solidFill>
                  <a:srgbClr val="014EA0"/>
                </a:solidFill>
              </a:rPr>
              <a:t>STATEMENT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1536" y="630936"/>
            <a:ext cx="5900927" cy="40919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69734" y="31191"/>
            <a:ext cx="22910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14EA0"/>
                </a:solidFill>
              </a:rPr>
              <a:t>IF</a:t>
            </a:r>
            <a:r>
              <a:rPr sz="2400" spc="-50" dirty="0">
                <a:solidFill>
                  <a:srgbClr val="014EA0"/>
                </a:solidFill>
              </a:rPr>
              <a:t> </a:t>
            </a:r>
            <a:r>
              <a:rPr sz="2400" dirty="0">
                <a:solidFill>
                  <a:srgbClr val="014EA0"/>
                </a:solidFill>
              </a:rPr>
              <a:t>STATEMENT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8939" y="452627"/>
            <a:ext cx="3185160" cy="43845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69734" y="31191"/>
            <a:ext cx="22910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14EA0"/>
                </a:solidFill>
              </a:rPr>
              <a:t>IF</a:t>
            </a:r>
            <a:r>
              <a:rPr sz="2400" spc="-50" dirty="0">
                <a:solidFill>
                  <a:srgbClr val="014EA0"/>
                </a:solidFill>
              </a:rPr>
              <a:t> </a:t>
            </a:r>
            <a:r>
              <a:rPr sz="2400" dirty="0">
                <a:solidFill>
                  <a:srgbClr val="014EA0"/>
                </a:solidFill>
              </a:rPr>
              <a:t>STATEMENT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986" y="920877"/>
            <a:ext cx="7478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IF</a:t>
            </a:r>
            <a:r>
              <a:rPr sz="4000" spc="-20" dirty="0"/>
              <a:t> </a:t>
            </a:r>
            <a:r>
              <a:rPr sz="4000" spc="-5" dirty="0"/>
              <a:t>STATEMENT</a:t>
            </a:r>
            <a:r>
              <a:rPr sz="4000" spc="-15" dirty="0"/>
              <a:t> </a:t>
            </a:r>
            <a:r>
              <a:rPr sz="4000" spc="-5" dirty="0"/>
              <a:t>IN</a:t>
            </a:r>
            <a:r>
              <a:rPr sz="4000" spc="-25" dirty="0"/>
              <a:t> </a:t>
            </a:r>
            <a:r>
              <a:rPr sz="4000" spc="-5" dirty="0"/>
              <a:t>ASSEMBLY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0445" y="1940395"/>
            <a:ext cx="2380193" cy="23100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897" y="661873"/>
            <a:ext cx="8603615" cy="3161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014EA0"/>
                </a:solidFill>
                <a:latin typeface="Verdana"/>
                <a:cs typeface="Verdana"/>
              </a:rPr>
              <a:t>IF STATEMENT</a:t>
            </a:r>
            <a:r>
              <a:rPr sz="40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014EA0"/>
                </a:solidFill>
                <a:latin typeface="Verdana"/>
                <a:cs typeface="Verdana"/>
              </a:rPr>
              <a:t>IN ASSEMBLY</a:t>
            </a:r>
            <a:endParaRPr sz="4000">
              <a:latin typeface="Verdana"/>
              <a:cs typeface="Verdana"/>
            </a:endParaRPr>
          </a:p>
          <a:p>
            <a:pPr marL="12700" marR="5080" algn="ctr">
              <a:lnSpc>
                <a:spcPct val="200000"/>
              </a:lnSpc>
              <a:spcBef>
                <a:spcPts val="695"/>
              </a:spcBef>
            </a:pPr>
            <a:r>
              <a:rPr sz="4000" spc="-10" dirty="0">
                <a:solidFill>
                  <a:srgbClr val="404040"/>
                </a:solidFill>
                <a:latin typeface="Verdana"/>
                <a:cs typeface="Verdana"/>
              </a:rPr>
              <a:t>BTFSC</a:t>
            </a:r>
            <a:r>
              <a:rPr sz="4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Verdana"/>
                <a:cs typeface="Verdana"/>
              </a:rPr>
              <a:t>(Bit</a:t>
            </a:r>
            <a:r>
              <a:rPr sz="4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Verdana"/>
                <a:cs typeface="Verdana"/>
              </a:rPr>
              <a:t>Test</a:t>
            </a:r>
            <a:r>
              <a:rPr sz="40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File</a:t>
            </a:r>
            <a:r>
              <a:rPr sz="40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Skip</a:t>
            </a:r>
            <a:r>
              <a:rPr sz="4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if</a:t>
            </a:r>
            <a:r>
              <a:rPr sz="4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Verdana"/>
                <a:cs typeface="Verdana"/>
              </a:rPr>
              <a:t>Clear) </a:t>
            </a:r>
            <a:r>
              <a:rPr sz="4000" spc="-13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BTFSS</a:t>
            </a:r>
            <a:r>
              <a:rPr sz="4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Verdana"/>
                <a:cs typeface="Verdana"/>
              </a:rPr>
              <a:t>(Bit</a:t>
            </a:r>
            <a:r>
              <a:rPr sz="4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Verdana"/>
                <a:cs typeface="Verdana"/>
              </a:rPr>
              <a:t>Test</a:t>
            </a:r>
            <a:r>
              <a:rPr sz="40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File</a:t>
            </a:r>
            <a:r>
              <a:rPr sz="40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Skip if</a:t>
            </a:r>
            <a:r>
              <a:rPr sz="4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Verdana"/>
                <a:cs typeface="Verdana"/>
              </a:rPr>
              <a:t>Set)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897" y="1227531"/>
            <a:ext cx="86004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014EA0"/>
                </a:solidFill>
                <a:latin typeface="Verdana"/>
                <a:cs typeface="Verdana"/>
              </a:rPr>
              <a:t>BTFSC</a:t>
            </a:r>
            <a:r>
              <a:rPr sz="4000" spc="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014EA0"/>
                </a:solidFill>
                <a:latin typeface="Verdana"/>
                <a:cs typeface="Verdana"/>
              </a:rPr>
              <a:t>(Bit Test</a:t>
            </a:r>
            <a:r>
              <a:rPr sz="4000" spc="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014EA0"/>
                </a:solidFill>
                <a:latin typeface="Verdana"/>
                <a:cs typeface="Verdana"/>
              </a:rPr>
              <a:t>File</a:t>
            </a:r>
            <a:r>
              <a:rPr sz="4000" spc="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014EA0"/>
                </a:solidFill>
                <a:latin typeface="Verdana"/>
                <a:cs typeface="Verdana"/>
              </a:rPr>
              <a:t>Skip</a:t>
            </a:r>
            <a:r>
              <a:rPr sz="40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15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400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014EA0"/>
                </a:solidFill>
                <a:latin typeface="Verdana"/>
                <a:cs typeface="Verdana"/>
              </a:rPr>
              <a:t>Clear)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637" y="2446985"/>
            <a:ext cx="8948420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IF THE LOGIC AT LOCATION F </a:t>
            </a:r>
            <a:r>
              <a:rPr sz="3200" spc="-5" dirty="0">
                <a:solidFill>
                  <a:srgbClr val="404040"/>
                </a:solidFill>
                <a:latin typeface="Verdana"/>
                <a:cs typeface="Verdana"/>
              </a:rPr>
              <a:t>IS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HIGH </a:t>
            </a:r>
            <a:r>
              <a:rPr sz="3200" spc="-5" dirty="0">
                <a:solidFill>
                  <a:srgbClr val="404040"/>
                </a:solidFill>
                <a:latin typeface="Verdana"/>
                <a:cs typeface="Verdana"/>
              </a:rPr>
              <a:t>(1), </a:t>
            </a:r>
            <a:r>
              <a:rPr sz="3200" spc="-1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THEN THE BTFSC </a:t>
            </a:r>
            <a:r>
              <a:rPr sz="3200" spc="-5" dirty="0">
                <a:solidFill>
                  <a:srgbClr val="404040"/>
                </a:solidFill>
                <a:latin typeface="Verdana"/>
                <a:cs typeface="Verdana"/>
              </a:rPr>
              <a:t>FUNCTION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WILL </a:t>
            </a:r>
            <a:r>
              <a:rPr sz="3200" spc="-5" dirty="0">
                <a:solidFill>
                  <a:srgbClr val="404040"/>
                </a:solidFill>
                <a:latin typeface="Verdana"/>
                <a:cs typeface="Verdana"/>
              </a:rPr>
              <a:t>NOT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 SKIP</a:t>
            </a:r>
            <a:r>
              <a:rPr sz="32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2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NEXT</a:t>
            </a:r>
            <a:r>
              <a:rPr sz="32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LINE</a:t>
            </a:r>
            <a:r>
              <a:rPr sz="3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Verdana"/>
                <a:cs typeface="Verdana"/>
              </a:rPr>
              <a:t>CODING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BTFSS</a:t>
            </a:r>
            <a:r>
              <a:rPr spc="15" dirty="0"/>
              <a:t> </a:t>
            </a:r>
            <a:r>
              <a:rPr spc="-5" dirty="0"/>
              <a:t>(Bit</a:t>
            </a:r>
            <a:r>
              <a:rPr spc="15" dirty="0"/>
              <a:t> </a:t>
            </a:r>
            <a:r>
              <a:rPr spc="-5" dirty="0"/>
              <a:t>Test</a:t>
            </a:r>
            <a:r>
              <a:rPr spc="15" dirty="0"/>
              <a:t> </a:t>
            </a:r>
            <a:r>
              <a:rPr spc="-5" dirty="0"/>
              <a:t>File</a:t>
            </a:r>
            <a:r>
              <a:rPr spc="45" dirty="0"/>
              <a:t> </a:t>
            </a:r>
            <a:r>
              <a:rPr spc="-5" dirty="0"/>
              <a:t>Skip</a:t>
            </a:r>
            <a:r>
              <a:rPr spc="15" dirty="0"/>
              <a:t> </a:t>
            </a:r>
            <a:r>
              <a:rPr spc="-15" dirty="0"/>
              <a:t>if</a:t>
            </a:r>
            <a:r>
              <a:rPr dirty="0"/>
              <a:t> </a:t>
            </a:r>
            <a:r>
              <a:rPr spc="-5" dirty="0"/>
              <a:t>Set)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637" y="2446985"/>
            <a:ext cx="8948420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  <a:tabLst>
                <a:tab pos="4002404" algn="l"/>
              </a:tabLst>
            </a:pP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IF THE LOGIC AT LOCATION F </a:t>
            </a:r>
            <a:r>
              <a:rPr sz="3200" spc="-5" dirty="0">
                <a:solidFill>
                  <a:srgbClr val="404040"/>
                </a:solidFill>
                <a:latin typeface="Verdana"/>
                <a:cs typeface="Verdana"/>
              </a:rPr>
              <a:t>IS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HIGH </a:t>
            </a:r>
            <a:r>
              <a:rPr sz="3200" spc="-5" dirty="0">
                <a:solidFill>
                  <a:srgbClr val="404040"/>
                </a:solidFill>
                <a:latin typeface="Verdana"/>
                <a:cs typeface="Verdana"/>
              </a:rPr>
              <a:t>(1), </a:t>
            </a:r>
            <a:r>
              <a:rPr sz="3200" spc="-1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THEN THE BTFSS FUNCTION WILL SKIP </a:t>
            </a:r>
            <a:r>
              <a:rPr sz="3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2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NEXT</a:t>
            </a:r>
            <a:r>
              <a:rPr sz="32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LINE</a:t>
            </a:r>
            <a:r>
              <a:rPr sz="32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404040"/>
                </a:solidFill>
                <a:latin typeface="Verdana"/>
                <a:cs typeface="Verdana"/>
              </a:rPr>
              <a:t>OF	CODING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795" y="1246632"/>
            <a:ext cx="8598535" cy="3534410"/>
            <a:chOff x="272795" y="1246632"/>
            <a:chExt cx="8598535" cy="353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95" y="1246632"/>
              <a:ext cx="8598408" cy="35341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0644" y="3230879"/>
              <a:ext cx="7673340" cy="1394460"/>
            </a:xfrm>
            <a:custGeom>
              <a:avLst/>
              <a:gdLst/>
              <a:ahLst/>
              <a:cxnLst/>
              <a:rect l="l" t="t" r="r" b="b"/>
              <a:pathLst>
                <a:path w="7673340" h="1394460">
                  <a:moveTo>
                    <a:pt x="3104388" y="246888"/>
                  </a:moveTo>
                  <a:lnTo>
                    <a:pt x="2543556" y="246888"/>
                  </a:lnTo>
                  <a:lnTo>
                    <a:pt x="2543556" y="0"/>
                  </a:lnTo>
                  <a:lnTo>
                    <a:pt x="0" y="0"/>
                  </a:lnTo>
                  <a:lnTo>
                    <a:pt x="0" y="794004"/>
                  </a:lnTo>
                  <a:lnTo>
                    <a:pt x="2543556" y="794004"/>
                  </a:lnTo>
                  <a:lnTo>
                    <a:pt x="2543556" y="539496"/>
                  </a:lnTo>
                  <a:lnTo>
                    <a:pt x="3104388" y="539496"/>
                  </a:lnTo>
                  <a:lnTo>
                    <a:pt x="3104388" y="246888"/>
                  </a:lnTo>
                  <a:close/>
                </a:path>
                <a:path w="7673340" h="1394460">
                  <a:moveTo>
                    <a:pt x="7673340" y="728472"/>
                  </a:moveTo>
                  <a:lnTo>
                    <a:pt x="5119116" y="728472"/>
                  </a:lnTo>
                  <a:lnTo>
                    <a:pt x="5119116" y="1394460"/>
                  </a:lnTo>
                  <a:lnTo>
                    <a:pt x="7673340" y="1394460"/>
                  </a:lnTo>
                  <a:lnTo>
                    <a:pt x="7673340" y="7284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MCU</a:t>
            </a:r>
            <a:r>
              <a:rPr spc="-75" dirty="0"/>
              <a:t> </a:t>
            </a:r>
            <a:r>
              <a:rPr dirty="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6958" y="3287344"/>
            <a:ext cx="2252980" cy="86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05"/>
              </a:lnSpc>
              <a:spcBef>
                <a:spcPts val="10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PUSH</a:t>
            </a:r>
            <a:r>
              <a:rPr sz="24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BUTTON</a:t>
            </a:r>
            <a:endParaRPr sz="2400">
              <a:latin typeface="Verdana"/>
              <a:cs typeface="Verdana"/>
            </a:endParaRPr>
          </a:p>
          <a:p>
            <a:pPr marL="1270" algn="ctr">
              <a:lnSpc>
                <a:spcPts val="3765"/>
              </a:lnSpc>
            </a:pP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PB5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8779" y="1947672"/>
            <a:ext cx="3392804" cy="14160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7660" rIns="0" bIns="0" rtlCol="0">
            <a:spAutoFit/>
          </a:bodyPr>
          <a:lstStyle/>
          <a:p>
            <a:pPr marL="294005" algn="ctr">
              <a:lnSpc>
                <a:spcPts val="2805"/>
              </a:lnSpc>
              <a:spcBef>
                <a:spcPts val="2580"/>
              </a:spcBef>
            </a:pPr>
            <a:r>
              <a:rPr sz="2400" spc="-10" dirty="0">
                <a:solidFill>
                  <a:srgbClr val="E82728"/>
                </a:solidFill>
                <a:latin typeface="Verdana"/>
                <a:cs typeface="Verdana"/>
              </a:rPr>
              <a:t>LED</a:t>
            </a:r>
            <a:endParaRPr sz="2400">
              <a:latin typeface="Verdana"/>
              <a:cs typeface="Verdana"/>
            </a:endParaRPr>
          </a:p>
          <a:p>
            <a:pPr marL="293370" algn="ctr">
              <a:lnSpc>
                <a:spcPts val="3765"/>
              </a:lnSpc>
            </a:pP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PD5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027" y="530733"/>
            <a:ext cx="2995295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28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8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800">
              <a:latin typeface="Verdana"/>
              <a:cs typeface="Verdana"/>
            </a:endParaRPr>
          </a:p>
          <a:p>
            <a:pPr marL="12700" marR="573405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8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TRISB,</a:t>
            </a:r>
            <a:r>
              <a:rPr sz="28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CLRF TRISD 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BCF</a:t>
            </a:r>
            <a:r>
              <a:rPr sz="280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8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800">
              <a:latin typeface="Verdana"/>
              <a:cs typeface="Verdana"/>
            </a:endParaRPr>
          </a:p>
          <a:p>
            <a:pPr marL="263525" marR="5080" indent="-251460">
              <a:lnSpc>
                <a:spcPct val="100000"/>
              </a:lnSpc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BTFSC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PORTB,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8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LEDON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800" spc="-4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LEDOFF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3777" y="842848"/>
            <a:ext cx="2809240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LEDON</a:t>
            </a:r>
            <a:endParaRPr sz="2800">
              <a:latin typeface="Verdana"/>
              <a:cs typeface="Verdana"/>
            </a:endParaRPr>
          </a:p>
          <a:p>
            <a:pPr marL="12700" marR="5080" indent="25146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BSF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PORTD,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GOTO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MAIN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3777" y="2550667"/>
            <a:ext cx="281368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LEDOFF</a:t>
            </a:r>
            <a:endParaRPr sz="2800">
              <a:latin typeface="Verdana"/>
              <a:cs typeface="Verdana"/>
            </a:endParaRPr>
          </a:p>
          <a:p>
            <a:pPr marL="12700" marR="5080" indent="251460">
              <a:lnSpc>
                <a:spcPct val="100000"/>
              </a:lnSpc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BCF</a:t>
            </a:r>
            <a:r>
              <a:rPr sz="28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PORTD,</a:t>
            </a: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GOTO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MAIN 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67271" y="498348"/>
            <a:ext cx="387350" cy="288290"/>
          </a:xfrm>
          <a:custGeom>
            <a:avLst/>
            <a:gdLst/>
            <a:ahLst/>
            <a:cxnLst/>
            <a:rect l="l" t="t" r="r" b="b"/>
            <a:pathLst>
              <a:path w="387350" h="288290">
                <a:moveTo>
                  <a:pt x="290322" y="0"/>
                </a:moveTo>
                <a:lnTo>
                  <a:pt x="96774" y="0"/>
                </a:lnTo>
                <a:lnTo>
                  <a:pt x="96774" y="144017"/>
                </a:lnTo>
                <a:lnTo>
                  <a:pt x="0" y="144017"/>
                </a:lnTo>
                <a:lnTo>
                  <a:pt x="193548" y="288036"/>
                </a:lnTo>
                <a:lnTo>
                  <a:pt x="387096" y="144017"/>
                </a:lnTo>
                <a:lnTo>
                  <a:pt x="290322" y="144017"/>
                </a:lnTo>
                <a:lnTo>
                  <a:pt x="290322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027" y="530733"/>
            <a:ext cx="299085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28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8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800">
              <a:latin typeface="Verdana"/>
              <a:cs typeface="Verdana"/>
            </a:endParaRPr>
          </a:p>
          <a:p>
            <a:pPr marL="12700" marR="56896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8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TRISB,</a:t>
            </a:r>
            <a:r>
              <a:rPr sz="28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CLRF TRISD 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BCF</a:t>
            </a:r>
            <a:r>
              <a:rPr sz="280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8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800">
              <a:latin typeface="Verdana"/>
              <a:cs typeface="Verdana"/>
            </a:endParaRPr>
          </a:p>
          <a:p>
            <a:pPr marL="263525" marR="5080" indent="-251460">
              <a:lnSpc>
                <a:spcPct val="100000"/>
              </a:lnSpc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BTFSS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PORTB,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8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LEDOFF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80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LEDON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3777" y="842848"/>
            <a:ext cx="2809240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LEDON</a:t>
            </a:r>
            <a:endParaRPr sz="2800">
              <a:latin typeface="Verdana"/>
              <a:cs typeface="Verdana"/>
            </a:endParaRPr>
          </a:p>
          <a:p>
            <a:pPr marL="12700" marR="5080" indent="25146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BSF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PORTD,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GOTO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MAIN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3777" y="2550667"/>
            <a:ext cx="281368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LEDOFF</a:t>
            </a:r>
            <a:endParaRPr sz="2800">
              <a:latin typeface="Verdana"/>
              <a:cs typeface="Verdana"/>
            </a:endParaRPr>
          </a:p>
          <a:p>
            <a:pPr marL="12700" marR="5080" indent="251460">
              <a:lnSpc>
                <a:spcPct val="100000"/>
              </a:lnSpc>
            </a:pP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BCF</a:t>
            </a:r>
            <a:r>
              <a:rPr sz="28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PORTD,</a:t>
            </a: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014EA0"/>
                </a:solidFill>
                <a:latin typeface="Verdana"/>
                <a:cs typeface="Verdana"/>
              </a:rPr>
              <a:t>GOTO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MAIN 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67271" y="498348"/>
            <a:ext cx="387350" cy="288290"/>
          </a:xfrm>
          <a:custGeom>
            <a:avLst/>
            <a:gdLst/>
            <a:ahLst/>
            <a:cxnLst/>
            <a:rect l="l" t="t" r="r" b="b"/>
            <a:pathLst>
              <a:path w="387350" h="288290">
                <a:moveTo>
                  <a:pt x="290322" y="0"/>
                </a:moveTo>
                <a:lnTo>
                  <a:pt x="96774" y="0"/>
                </a:lnTo>
                <a:lnTo>
                  <a:pt x="96774" y="144017"/>
                </a:lnTo>
                <a:lnTo>
                  <a:pt x="0" y="144017"/>
                </a:lnTo>
                <a:lnTo>
                  <a:pt x="193548" y="288036"/>
                </a:lnTo>
                <a:lnTo>
                  <a:pt x="387096" y="144017"/>
                </a:lnTo>
                <a:lnTo>
                  <a:pt x="290322" y="144017"/>
                </a:lnTo>
                <a:lnTo>
                  <a:pt x="290322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795" y="1292352"/>
            <a:ext cx="8598535" cy="3534410"/>
            <a:chOff x="272795" y="1292352"/>
            <a:chExt cx="8598535" cy="353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95" y="1292352"/>
              <a:ext cx="8598408" cy="35341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0644" y="1994915"/>
              <a:ext cx="8290559" cy="2677795"/>
            </a:xfrm>
            <a:custGeom>
              <a:avLst/>
              <a:gdLst/>
              <a:ahLst/>
              <a:cxnLst/>
              <a:rect l="l" t="t" r="r" b="b"/>
              <a:pathLst>
                <a:path w="8290559" h="2677795">
                  <a:moveTo>
                    <a:pt x="3104388" y="1530096"/>
                  </a:moveTo>
                  <a:lnTo>
                    <a:pt x="2543556" y="1530096"/>
                  </a:lnTo>
                  <a:lnTo>
                    <a:pt x="2543556" y="1281684"/>
                  </a:lnTo>
                  <a:lnTo>
                    <a:pt x="0" y="1281684"/>
                  </a:lnTo>
                  <a:lnTo>
                    <a:pt x="0" y="2077212"/>
                  </a:lnTo>
                  <a:lnTo>
                    <a:pt x="2543556" y="2077212"/>
                  </a:lnTo>
                  <a:lnTo>
                    <a:pt x="2543556" y="1822704"/>
                  </a:lnTo>
                  <a:lnTo>
                    <a:pt x="3104388" y="1822704"/>
                  </a:lnTo>
                  <a:lnTo>
                    <a:pt x="3104388" y="1530096"/>
                  </a:lnTo>
                  <a:close/>
                </a:path>
                <a:path w="8290559" h="2677795">
                  <a:moveTo>
                    <a:pt x="7673340" y="2011680"/>
                  </a:moveTo>
                  <a:lnTo>
                    <a:pt x="5119116" y="2011680"/>
                  </a:lnTo>
                  <a:lnTo>
                    <a:pt x="5119116" y="2677668"/>
                  </a:lnTo>
                  <a:lnTo>
                    <a:pt x="7673340" y="2677668"/>
                  </a:lnTo>
                  <a:lnTo>
                    <a:pt x="7673340" y="2011680"/>
                  </a:lnTo>
                  <a:close/>
                </a:path>
                <a:path w="8290559" h="2677795">
                  <a:moveTo>
                    <a:pt x="8290560" y="0"/>
                  </a:moveTo>
                  <a:lnTo>
                    <a:pt x="4898136" y="0"/>
                  </a:lnTo>
                  <a:lnTo>
                    <a:pt x="4898136" y="1415796"/>
                  </a:lnTo>
                  <a:lnTo>
                    <a:pt x="8290560" y="1415796"/>
                  </a:lnTo>
                  <a:lnTo>
                    <a:pt x="8290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MCU</a:t>
            </a:r>
            <a:r>
              <a:rPr spc="-75" dirty="0"/>
              <a:t> </a:t>
            </a:r>
            <a:r>
              <a:rPr dirty="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6958" y="3334639"/>
            <a:ext cx="2251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PUSH</a:t>
            </a:r>
            <a:r>
              <a:rPr sz="2400" spc="-6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E82728"/>
                </a:solidFill>
                <a:latin typeface="Verdana"/>
                <a:cs typeface="Verdana"/>
              </a:rPr>
              <a:t>BUTTON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9689" y="3680256"/>
            <a:ext cx="8089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PB</a:t>
            </a: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7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8779" y="1994916"/>
            <a:ext cx="3392804" cy="2677795"/>
          </a:xfrm>
          <a:prstGeom prst="rect">
            <a:avLst/>
          </a:prstGeom>
        </p:spPr>
        <p:txBody>
          <a:bodyPr vert="horz" wrap="square" lIns="0" tIns="314960" rIns="0" bIns="0" rtlCol="0">
            <a:spAutoFit/>
          </a:bodyPr>
          <a:lstStyle/>
          <a:p>
            <a:pPr marL="1043940" marR="814069" indent="-311150">
              <a:lnSpc>
                <a:spcPts val="2770"/>
              </a:lnSpc>
              <a:spcBef>
                <a:spcPts val="248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7</a:t>
            </a:r>
            <a:r>
              <a:rPr sz="2400" dirty="0">
                <a:solidFill>
                  <a:srgbClr val="E82728"/>
                </a:solidFill>
                <a:latin typeface="Verdana"/>
                <a:cs typeface="Verdana"/>
              </a:rPr>
              <a:t>-SEGMENT  </a:t>
            </a: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DISPLAY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84391" y="3102864"/>
            <a:ext cx="2367280" cy="963294"/>
            <a:chOff x="6184391" y="3102864"/>
            <a:chExt cx="2367280" cy="963294"/>
          </a:xfrm>
        </p:grpSpPr>
        <p:sp>
          <p:nvSpPr>
            <p:cNvPr id="10" name="object 10"/>
            <p:cNvSpPr/>
            <p:nvPr/>
          </p:nvSpPr>
          <p:spPr>
            <a:xfrm>
              <a:off x="6184391" y="3102864"/>
              <a:ext cx="2367280" cy="963294"/>
            </a:xfrm>
            <a:custGeom>
              <a:avLst/>
              <a:gdLst/>
              <a:ahLst/>
              <a:cxnLst/>
              <a:rect l="l" t="t" r="r" b="b"/>
              <a:pathLst>
                <a:path w="2367279" h="963295">
                  <a:moveTo>
                    <a:pt x="2366771" y="0"/>
                  </a:moveTo>
                  <a:lnTo>
                    <a:pt x="0" y="0"/>
                  </a:lnTo>
                  <a:lnTo>
                    <a:pt x="0" y="963168"/>
                  </a:lnTo>
                  <a:lnTo>
                    <a:pt x="2366771" y="963168"/>
                  </a:lnTo>
                  <a:lnTo>
                    <a:pt x="2366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9171" y="3308604"/>
              <a:ext cx="339851" cy="6385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1235" y="3308604"/>
              <a:ext cx="339851" cy="6385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0063" y="3305556"/>
              <a:ext cx="339851" cy="6370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2127" y="3308604"/>
              <a:ext cx="339851" cy="6385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986" y="444754"/>
            <a:ext cx="7478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IF</a:t>
            </a:r>
            <a:r>
              <a:rPr sz="4000" spc="-20" dirty="0"/>
              <a:t> </a:t>
            </a:r>
            <a:r>
              <a:rPr sz="4000" spc="-5" dirty="0"/>
              <a:t>STATEMENT</a:t>
            </a:r>
            <a:r>
              <a:rPr sz="4000" spc="-15" dirty="0"/>
              <a:t> </a:t>
            </a:r>
            <a:r>
              <a:rPr sz="4000" spc="-5" dirty="0"/>
              <a:t>IN</a:t>
            </a:r>
            <a:r>
              <a:rPr sz="4000" spc="-25" dirty="0"/>
              <a:t> </a:t>
            </a:r>
            <a:r>
              <a:rPr sz="4000" spc="-5" dirty="0"/>
              <a:t>ASSEMBLY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2782823" y="1536191"/>
            <a:ext cx="3487420" cy="1676400"/>
          </a:xfrm>
          <a:custGeom>
            <a:avLst/>
            <a:gdLst/>
            <a:ahLst/>
            <a:cxnLst/>
            <a:rect l="l" t="t" r="r" b="b"/>
            <a:pathLst>
              <a:path w="3487420" h="1676400">
                <a:moveTo>
                  <a:pt x="0" y="838200"/>
                </a:moveTo>
                <a:lnTo>
                  <a:pt x="1743455" y="0"/>
                </a:lnTo>
                <a:lnTo>
                  <a:pt x="3486912" y="838200"/>
                </a:lnTo>
                <a:lnTo>
                  <a:pt x="1743455" y="1676400"/>
                </a:lnTo>
                <a:lnTo>
                  <a:pt x="0" y="838200"/>
                </a:lnTo>
                <a:close/>
              </a:path>
            </a:pathLst>
          </a:custGeom>
          <a:ln w="57150">
            <a:solidFill>
              <a:srgbClr val="014E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65296" y="2207514"/>
            <a:ext cx="1524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200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014EA0"/>
                </a:solidFill>
                <a:latin typeface="Verdana"/>
                <a:cs typeface="Verdana"/>
              </a:rPr>
              <a:t>PB7</a:t>
            </a:r>
            <a:r>
              <a:rPr sz="20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14EA0"/>
                </a:solidFill>
                <a:latin typeface="Verdana"/>
                <a:cs typeface="Verdana"/>
              </a:rPr>
              <a:t>==1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1488" y="3429000"/>
            <a:ext cx="2184400" cy="1066800"/>
          </a:xfrm>
          <a:prstGeom prst="rect">
            <a:avLst/>
          </a:prstGeom>
          <a:ln w="57150">
            <a:solidFill>
              <a:srgbClr val="40404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60020" marR="149225" indent="16256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SHOW “H”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 ALL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051" y="3425952"/>
            <a:ext cx="2185670" cy="1066800"/>
          </a:xfrm>
          <a:prstGeom prst="rect">
            <a:avLst/>
          </a:prstGeom>
          <a:ln w="57150">
            <a:solidFill>
              <a:srgbClr val="40404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SHOW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“0”</a:t>
            </a:r>
            <a:r>
              <a:rPr sz="18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23035" y="2345816"/>
            <a:ext cx="6327140" cy="1082675"/>
          </a:xfrm>
          <a:custGeom>
            <a:avLst/>
            <a:gdLst/>
            <a:ahLst/>
            <a:cxnLst/>
            <a:rect l="l" t="t" r="r" b="b"/>
            <a:pathLst>
              <a:path w="6327140" h="1082675">
                <a:moveTo>
                  <a:pt x="1360043" y="0"/>
                </a:moveTo>
                <a:lnTo>
                  <a:pt x="85725" y="0"/>
                </a:lnTo>
                <a:lnTo>
                  <a:pt x="74612" y="2260"/>
                </a:lnTo>
                <a:lnTo>
                  <a:pt x="65532" y="8382"/>
                </a:lnTo>
                <a:lnTo>
                  <a:pt x="59397" y="17475"/>
                </a:lnTo>
                <a:lnTo>
                  <a:pt x="57150" y="28575"/>
                </a:lnTo>
                <a:lnTo>
                  <a:pt x="57150" y="908431"/>
                </a:lnTo>
                <a:lnTo>
                  <a:pt x="0" y="908431"/>
                </a:lnTo>
                <a:lnTo>
                  <a:pt x="85725" y="1079881"/>
                </a:lnTo>
                <a:lnTo>
                  <a:pt x="157162" y="937006"/>
                </a:lnTo>
                <a:lnTo>
                  <a:pt x="171450" y="908431"/>
                </a:lnTo>
                <a:lnTo>
                  <a:pt x="114300" y="908431"/>
                </a:lnTo>
                <a:lnTo>
                  <a:pt x="114300" y="57150"/>
                </a:lnTo>
                <a:lnTo>
                  <a:pt x="1360043" y="57150"/>
                </a:lnTo>
                <a:lnTo>
                  <a:pt x="1360043" y="28575"/>
                </a:lnTo>
                <a:lnTo>
                  <a:pt x="1360043" y="0"/>
                </a:lnTo>
                <a:close/>
              </a:path>
              <a:path w="6327140" h="1082675">
                <a:moveTo>
                  <a:pt x="6327013" y="911225"/>
                </a:moveTo>
                <a:lnTo>
                  <a:pt x="6269863" y="911225"/>
                </a:lnTo>
                <a:lnTo>
                  <a:pt x="6269863" y="57150"/>
                </a:lnTo>
                <a:lnTo>
                  <a:pt x="6269863" y="28575"/>
                </a:lnTo>
                <a:lnTo>
                  <a:pt x="6267602" y="17475"/>
                </a:lnTo>
                <a:lnTo>
                  <a:pt x="6261481" y="8382"/>
                </a:lnTo>
                <a:lnTo>
                  <a:pt x="6252388" y="2260"/>
                </a:lnTo>
                <a:lnTo>
                  <a:pt x="6241288" y="0"/>
                </a:lnTo>
                <a:lnTo>
                  <a:pt x="4846701" y="0"/>
                </a:lnTo>
                <a:lnTo>
                  <a:pt x="4846701" y="57150"/>
                </a:lnTo>
                <a:lnTo>
                  <a:pt x="6212713" y="57150"/>
                </a:lnTo>
                <a:lnTo>
                  <a:pt x="6212713" y="911225"/>
                </a:lnTo>
                <a:lnTo>
                  <a:pt x="6155563" y="911225"/>
                </a:lnTo>
                <a:lnTo>
                  <a:pt x="6241288" y="1082675"/>
                </a:lnTo>
                <a:lnTo>
                  <a:pt x="6312725" y="939800"/>
                </a:lnTo>
                <a:lnTo>
                  <a:pt x="6327013" y="911225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93002" y="1926463"/>
            <a:ext cx="46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E82728"/>
                </a:solidFill>
                <a:latin typeface="Verdana"/>
                <a:cs typeface="Verdana"/>
              </a:rPr>
              <a:t>YES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9701" y="1927986"/>
            <a:ext cx="375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E82728"/>
                </a:solidFill>
                <a:latin typeface="Verdana"/>
                <a:cs typeface="Verdana"/>
              </a:rPr>
              <a:t>NO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1026" y="513969"/>
            <a:ext cx="257302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4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4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400">
              <a:latin typeface="Verdana"/>
              <a:cs typeface="Verdana"/>
            </a:endParaRPr>
          </a:p>
          <a:p>
            <a:pPr marL="12700" marR="492759">
              <a:lnSpc>
                <a:spcPct val="100000"/>
              </a:lnSpc>
            </a:pP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BSF</a:t>
            </a:r>
            <a:r>
              <a:rPr sz="2400" spc="-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TRISB,</a:t>
            </a:r>
            <a:r>
              <a:rPr sz="240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7 </a:t>
            </a:r>
            <a:r>
              <a:rPr sz="2400" spc="-8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CLRF </a:t>
            </a:r>
            <a:r>
              <a:rPr sz="2400" spc="-10" dirty="0">
                <a:solidFill>
                  <a:srgbClr val="014EA0"/>
                </a:solidFill>
                <a:latin typeface="Verdana"/>
                <a:cs typeface="Verdana"/>
              </a:rPr>
              <a:t>TRISA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 CLRF </a:t>
            </a:r>
            <a:r>
              <a:rPr sz="2400" spc="-10" dirty="0">
                <a:solidFill>
                  <a:srgbClr val="014EA0"/>
                </a:solidFill>
                <a:latin typeface="Verdana"/>
                <a:cs typeface="Verdana"/>
              </a:rPr>
              <a:t>TRISD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BCF</a:t>
            </a:r>
            <a:r>
              <a:rPr sz="24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2400">
              <a:latin typeface="Verdana"/>
              <a:cs typeface="Verdana"/>
            </a:endParaRPr>
          </a:p>
          <a:p>
            <a:pPr marL="228600" marR="5080" indent="-216535">
              <a:lnSpc>
                <a:spcPct val="100000"/>
              </a:lnSpc>
            </a:pP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BTFSC</a:t>
            </a:r>
            <a:r>
              <a:rPr sz="240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PORTB,</a:t>
            </a: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7 </a:t>
            </a:r>
            <a:r>
              <a:rPr sz="2400" spc="-8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4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SHOWH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4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SHOWZ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1778" y="197865"/>
            <a:ext cx="2830830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SHOWH</a:t>
            </a:r>
            <a:endParaRPr sz="2400">
              <a:latin typeface="Verdana"/>
              <a:cs typeface="Verdana"/>
            </a:endParaRPr>
          </a:p>
          <a:p>
            <a:pPr marL="469900" marR="5080">
              <a:lnSpc>
                <a:spcPct val="100000"/>
              </a:lnSpc>
            </a:pP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MOVLW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0x0F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 MOVWF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PORTA </a:t>
            </a:r>
            <a:r>
              <a:rPr sz="2400" spc="-8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MOVLW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0x76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 MOVWF</a:t>
            </a:r>
            <a:r>
              <a:rPr sz="2400" spc="-1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PORTD</a:t>
            </a:r>
            <a:endParaRPr sz="2400">
              <a:latin typeface="Verdana"/>
              <a:cs typeface="Verdana"/>
            </a:endParaRPr>
          </a:p>
          <a:p>
            <a:pPr marL="12700" marR="977265">
              <a:lnSpc>
                <a:spcPct val="100000"/>
              </a:lnSpc>
            </a:pP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400" spc="-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MAIN </a:t>
            </a:r>
            <a:r>
              <a:rPr sz="2400" spc="-8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SHOWZ</a:t>
            </a:r>
            <a:endParaRPr sz="2400">
              <a:latin typeface="Verdana"/>
              <a:cs typeface="Verdana"/>
            </a:endParaRPr>
          </a:p>
          <a:p>
            <a:pPr marL="4699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MOVLW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0x0F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 MOVWF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PORTA </a:t>
            </a:r>
            <a:r>
              <a:rPr sz="2400" spc="-8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MOVLW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0x3F </a:t>
            </a:r>
            <a:r>
              <a:rPr sz="2400" dirty="0">
                <a:solidFill>
                  <a:srgbClr val="014EA0"/>
                </a:solidFill>
                <a:latin typeface="Verdana"/>
                <a:cs typeface="Verdana"/>
              </a:rPr>
              <a:t> MOVWF</a:t>
            </a:r>
            <a:r>
              <a:rPr sz="2400" spc="-1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PORTD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2170" y="4222191"/>
            <a:ext cx="3573145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0">
              <a:lnSpc>
                <a:spcPts val="2725"/>
              </a:lnSpc>
              <a:spcBef>
                <a:spcPts val="100"/>
              </a:spcBef>
            </a:pP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GOTO</a:t>
            </a:r>
            <a:r>
              <a:rPr sz="2400" spc="-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014EA0"/>
                </a:solidFill>
                <a:latin typeface="Verdana"/>
                <a:cs typeface="Verdana"/>
              </a:rPr>
              <a:t>MAIN</a:t>
            </a:r>
            <a:endParaRPr lang="en-US" sz="2400" spc="-5" dirty="0">
              <a:solidFill>
                <a:srgbClr val="014EA0"/>
              </a:solidFill>
              <a:latin typeface="Verdana"/>
              <a:cs typeface="Verdana"/>
            </a:endParaRPr>
          </a:p>
          <a:p>
            <a:pPr marL="1701800">
              <a:lnSpc>
                <a:spcPts val="2725"/>
              </a:lnSpc>
              <a:spcBef>
                <a:spcPts val="100"/>
              </a:spcBef>
            </a:pPr>
            <a:r>
              <a:rPr lang="en-US" sz="2400" spc="-5" dirty="0">
                <a:latin typeface="Verdana"/>
                <a:cs typeface="Verdana"/>
              </a:rPr>
              <a:t>END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15183" y="4460747"/>
            <a:ext cx="387350" cy="288290"/>
          </a:xfrm>
          <a:custGeom>
            <a:avLst/>
            <a:gdLst/>
            <a:ahLst/>
            <a:cxnLst/>
            <a:rect l="l" t="t" r="r" b="b"/>
            <a:pathLst>
              <a:path w="387350" h="288289">
                <a:moveTo>
                  <a:pt x="290322" y="0"/>
                </a:moveTo>
                <a:lnTo>
                  <a:pt x="96774" y="0"/>
                </a:lnTo>
                <a:lnTo>
                  <a:pt x="96774" y="144017"/>
                </a:lnTo>
                <a:lnTo>
                  <a:pt x="0" y="144017"/>
                </a:lnTo>
                <a:lnTo>
                  <a:pt x="193548" y="288035"/>
                </a:lnTo>
                <a:lnTo>
                  <a:pt x="387096" y="144017"/>
                </a:lnTo>
                <a:lnTo>
                  <a:pt x="290322" y="144017"/>
                </a:lnTo>
                <a:lnTo>
                  <a:pt x="290322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2420" y="1246632"/>
            <a:ext cx="8598535" cy="3534410"/>
            <a:chOff x="312420" y="1246632"/>
            <a:chExt cx="8598535" cy="353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" y="1246632"/>
              <a:ext cx="8598408" cy="35341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20268" y="1947671"/>
              <a:ext cx="8290559" cy="2677795"/>
            </a:xfrm>
            <a:custGeom>
              <a:avLst/>
              <a:gdLst/>
              <a:ahLst/>
              <a:cxnLst/>
              <a:rect l="l" t="t" r="r" b="b"/>
              <a:pathLst>
                <a:path w="8290559" h="2677795">
                  <a:moveTo>
                    <a:pt x="3104388" y="1530096"/>
                  </a:moveTo>
                  <a:lnTo>
                    <a:pt x="2543556" y="1530096"/>
                  </a:lnTo>
                  <a:lnTo>
                    <a:pt x="2543556" y="1283208"/>
                  </a:lnTo>
                  <a:lnTo>
                    <a:pt x="0" y="1283208"/>
                  </a:lnTo>
                  <a:lnTo>
                    <a:pt x="0" y="2077212"/>
                  </a:lnTo>
                  <a:lnTo>
                    <a:pt x="2543556" y="2077212"/>
                  </a:lnTo>
                  <a:lnTo>
                    <a:pt x="2543556" y="1822704"/>
                  </a:lnTo>
                  <a:lnTo>
                    <a:pt x="3104388" y="1822704"/>
                  </a:lnTo>
                  <a:lnTo>
                    <a:pt x="3104388" y="1530096"/>
                  </a:lnTo>
                  <a:close/>
                </a:path>
                <a:path w="8290559" h="2677795">
                  <a:moveTo>
                    <a:pt x="7673340" y="2011680"/>
                  </a:moveTo>
                  <a:lnTo>
                    <a:pt x="5119116" y="2011680"/>
                  </a:lnTo>
                  <a:lnTo>
                    <a:pt x="5119116" y="2677668"/>
                  </a:lnTo>
                  <a:lnTo>
                    <a:pt x="7673340" y="2677668"/>
                  </a:lnTo>
                  <a:lnTo>
                    <a:pt x="7673340" y="2011680"/>
                  </a:lnTo>
                  <a:close/>
                </a:path>
                <a:path w="8290559" h="2677795">
                  <a:moveTo>
                    <a:pt x="8290560" y="0"/>
                  </a:moveTo>
                  <a:lnTo>
                    <a:pt x="4898136" y="0"/>
                  </a:lnTo>
                  <a:lnTo>
                    <a:pt x="4898136" y="1415796"/>
                  </a:lnTo>
                  <a:lnTo>
                    <a:pt x="8290560" y="1415796"/>
                  </a:lnTo>
                  <a:lnTo>
                    <a:pt x="8290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MCU</a:t>
            </a:r>
            <a:r>
              <a:rPr spc="-75" dirty="0"/>
              <a:t> </a:t>
            </a:r>
            <a:r>
              <a:rPr dirty="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7191" y="3287344"/>
            <a:ext cx="22529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PUSH</a:t>
            </a:r>
            <a:r>
              <a:rPr sz="2400" spc="-8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BUTTON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9567" y="3633927"/>
            <a:ext cx="8083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200" spc="5" dirty="0">
                <a:solidFill>
                  <a:srgbClr val="E82728"/>
                </a:solidFill>
                <a:latin typeface="Verdana"/>
                <a:cs typeface="Verdana"/>
              </a:rPr>
              <a:t>A</a:t>
            </a: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0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07252" y="3204972"/>
            <a:ext cx="2202180" cy="769620"/>
          </a:xfrm>
          <a:custGeom>
            <a:avLst/>
            <a:gdLst/>
            <a:ahLst/>
            <a:cxnLst/>
            <a:rect l="l" t="t" r="r" b="b"/>
            <a:pathLst>
              <a:path w="2202179" h="769620">
                <a:moveTo>
                  <a:pt x="2202179" y="0"/>
                </a:moveTo>
                <a:lnTo>
                  <a:pt x="0" y="0"/>
                </a:lnTo>
                <a:lnTo>
                  <a:pt x="0" y="769620"/>
                </a:lnTo>
                <a:lnTo>
                  <a:pt x="2202179" y="769620"/>
                </a:lnTo>
                <a:lnTo>
                  <a:pt x="22021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95084" y="3082544"/>
            <a:ext cx="18681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LEDS</a:t>
            </a:r>
            <a:r>
              <a:rPr sz="3200" spc="-9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09968" y="3551631"/>
            <a:ext cx="14395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PORTD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986" y="444754"/>
            <a:ext cx="7478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IF</a:t>
            </a:r>
            <a:r>
              <a:rPr sz="4000" spc="-20" dirty="0"/>
              <a:t> </a:t>
            </a:r>
            <a:r>
              <a:rPr sz="4000" spc="-5" dirty="0"/>
              <a:t>STATEMENT</a:t>
            </a:r>
            <a:r>
              <a:rPr sz="4000" spc="-15" dirty="0"/>
              <a:t> </a:t>
            </a:r>
            <a:r>
              <a:rPr sz="4000" spc="-5" dirty="0"/>
              <a:t>IN</a:t>
            </a:r>
            <a:r>
              <a:rPr sz="4000" spc="-25" dirty="0"/>
              <a:t> </a:t>
            </a:r>
            <a:r>
              <a:rPr sz="4000" spc="-5" dirty="0"/>
              <a:t>ASSEMBLY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2782823" y="1536191"/>
            <a:ext cx="3487420" cy="1676400"/>
          </a:xfrm>
          <a:custGeom>
            <a:avLst/>
            <a:gdLst/>
            <a:ahLst/>
            <a:cxnLst/>
            <a:rect l="l" t="t" r="r" b="b"/>
            <a:pathLst>
              <a:path w="3487420" h="1676400">
                <a:moveTo>
                  <a:pt x="0" y="838200"/>
                </a:moveTo>
                <a:lnTo>
                  <a:pt x="1743455" y="0"/>
                </a:lnTo>
                <a:lnTo>
                  <a:pt x="3486912" y="838200"/>
                </a:lnTo>
                <a:lnTo>
                  <a:pt x="1743455" y="1676400"/>
                </a:lnTo>
                <a:lnTo>
                  <a:pt x="0" y="838200"/>
                </a:lnTo>
                <a:close/>
              </a:path>
            </a:pathLst>
          </a:custGeom>
          <a:ln w="57150">
            <a:solidFill>
              <a:srgbClr val="014E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65296" y="2207514"/>
            <a:ext cx="1522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2000" spc="-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14EA0"/>
                </a:solidFill>
                <a:latin typeface="Verdana"/>
                <a:cs typeface="Verdana"/>
              </a:rPr>
              <a:t>PA0</a:t>
            </a:r>
            <a:r>
              <a:rPr sz="20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14EA0"/>
                </a:solidFill>
                <a:latin typeface="Verdana"/>
                <a:cs typeface="Verdana"/>
              </a:rPr>
              <a:t>==1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1488" y="3429000"/>
            <a:ext cx="2184400" cy="1066800"/>
          </a:xfrm>
          <a:prstGeom prst="rect">
            <a:avLst/>
          </a:prstGeom>
          <a:ln w="57150">
            <a:solidFill>
              <a:srgbClr val="40404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501650" marR="460375" indent="-32384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EVEN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BITS </a:t>
            </a:r>
            <a:r>
              <a:rPr sz="1800" spc="-6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PORTD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051" y="3425952"/>
            <a:ext cx="2185670" cy="1066800"/>
          </a:xfrm>
          <a:prstGeom prst="rect">
            <a:avLst/>
          </a:prstGeom>
          <a:ln w="57150">
            <a:solidFill>
              <a:srgbClr val="40404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511809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ODD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BITS</a:t>
            </a:r>
            <a:endParaRPr sz="1800">
              <a:latin typeface="Verdana"/>
              <a:cs typeface="Verdana"/>
            </a:endParaRPr>
          </a:p>
          <a:p>
            <a:pPr marL="501015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PORTD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23035" y="2345816"/>
            <a:ext cx="6327140" cy="1082675"/>
          </a:xfrm>
          <a:custGeom>
            <a:avLst/>
            <a:gdLst/>
            <a:ahLst/>
            <a:cxnLst/>
            <a:rect l="l" t="t" r="r" b="b"/>
            <a:pathLst>
              <a:path w="6327140" h="1082675">
                <a:moveTo>
                  <a:pt x="1360043" y="0"/>
                </a:moveTo>
                <a:lnTo>
                  <a:pt x="85725" y="0"/>
                </a:lnTo>
                <a:lnTo>
                  <a:pt x="74612" y="2260"/>
                </a:lnTo>
                <a:lnTo>
                  <a:pt x="65532" y="8382"/>
                </a:lnTo>
                <a:lnTo>
                  <a:pt x="59397" y="17475"/>
                </a:lnTo>
                <a:lnTo>
                  <a:pt x="57150" y="28575"/>
                </a:lnTo>
                <a:lnTo>
                  <a:pt x="57150" y="908431"/>
                </a:lnTo>
                <a:lnTo>
                  <a:pt x="0" y="908431"/>
                </a:lnTo>
                <a:lnTo>
                  <a:pt x="85725" y="1079881"/>
                </a:lnTo>
                <a:lnTo>
                  <a:pt x="157162" y="937006"/>
                </a:lnTo>
                <a:lnTo>
                  <a:pt x="171450" y="908431"/>
                </a:lnTo>
                <a:lnTo>
                  <a:pt x="114300" y="908431"/>
                </a:lnTo>
                <a:lnTo>
                  <a:pt x="114300" y="57150"/>
                </a:lnTo>
                <a:lnTo>
                  <a:pt x="1360043" y="57150"/>
                </a:lnTo>
                <a:lnTo>
                  <a:pt x="1360043" y="28575"/>
                </a:lnTo>
                <a:lnTo>
                  <a:pt x="1360043" y="0"/>
                </a:lnTo>
                <a:close/>
              </a:path>
              <a:path w="6327140" h="1082675">
                <a:moveTo>
                  <a:pt x="6327013" y="911225"/>
                </a:moveTo>
                <a:lnTo>
                  <a:pt x="6269863" y="911225"/>
                </a:lnTo>
                <a:lnTo>
                  <a:pt x="6269863" y="57150"/>
                </a:lnTo>
                <a:lnTo>
                  <a:pt x="6269863" y="28575"/>
                </a:lnTo>
                <a:lnTo>
                  <a:pt x="6267602" y="17475"/>
                </a:lnTo>
                <a:lnTo>
                  <a:pt x="6261481" y="8382"/>
                </a:lnTo>
                <a:lnTo>
                  <a:pt x="6252388" y="2260"/>
                </a:lnTo>
                <a:lnTo>
                  <a:pt x="6241288" y="0"/>
                </a:lnTo>
                <a:lnTo>
                  <a:pt x="4846701" y="0"/>
                </a:lnTo>
                <a:lnTo>
                  <a:pt x="4846701" y="57150"/>
                </a:lnTo>
                <a:lnTo>
                  <a:pt x="6212713" y="57150"/>
                </a:lnTo>
                <a:lnTo>
                  <a:pt x="6212713" y="911225"/>
                </a:lnTo>
                <a:lnTo>
                  <a:pt x="6155563" y="911225"/>
                </a:lnTo>
                <a:lnTo>
                  <a:pt x="6241288" y="1082675"/>
                </a:lnTo>
                <a:lnTo>
                  <a:pt x="6312725" y="939800"/>
                </a:lnTo>
                <a:lnTo>
                  <a:pt x="6327013" y="911225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93002" y="1926463"/>
            <a:ext cx="46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E82728"/>
                </a:solidFill>
                <a:latin typeface="Verdana"/>
                <a:cs typeface="Verdana"/>
              </a:rPr>
              <a:t>YES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9701" y="1927986"/>
            <a:ext cx="375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E82728"/>
                </a:solidFill>
                <a:latin typeface="Verdana"/>
                <a:cs typeface="Verdana"/>
              </a:rPr>
              <a:t>NO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795" y="1292352"/>
            <a:ext cx="8598535" cy="3534410"/>
            <a:chOff x="272795" y="1292352"/>
            <a:chExt cx="8598535" cy="353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95" y="1292352"/>
              <a:ext cx="8598408" cy="35341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0644" y="1994915"/>
              <a:ext cx="8290559" cy="2677795"/>
            </a:xfrm>
            <a:custGeom>
              <a:avLst/>
              <a:gdLst/>
              <a:ahLst/>
              <a:cxnLst/>
              <a:rect l="l" t="t" r="r" b="b"/>
              <a:pathLst>
                <a:path w="8290559" h="2677795">
                  <a:moveTo>
                    <a:pt x="3104388" y="1530096"/>
                  </a:moveTo>
                  <a:lnTo>
                    <a:pt x="2543556" y="1530096"/>
                  </a:lnTo>
                  <a:lnTo>
                    <a:pt x="2543556" y="1281684"/>
                  </a:lnTo>
                  <a:lnTo>
                    <a:pt x="0" y="1281684"/>
                  </a:lnTo>
                  <a:lnTo>
                    <a:pt x="0" y="2077212"/>
                  </a:lnTo>
                  <a:lnTo>
                    <a:pt x="2543556" y="2077212"/>
                  </a:lnTo>
                  <a:lnTo>
                    <a:pt x="2543556" y="1822704"/>
                  </a:lnTo>
                  <a:lnTo>
                    <a:pt x="3104388" y="1822704"/>
                  </a:lnTo>
                  <a:lnTo>
                    <a:pt x="3104388" y="1530096"/>
                  </a:lnTo>
                  <a:close/>
                </a:path>
                <a:path w="8290559" h="2677795">
                  <a:moveTo>
                    <a:pt x="7673340" y="2011680"/>
                  </a:moveTo>
                  <a:lnTo>
                    <a:pt x="5119116" y="2011680"/>
                  </a:lnTo>
                  <a:lnTo>
                    <a:pt x="5119116" y="2677668"/>
                  </a:lnTo>
                  <a:lnTo>
                    <a:pt x="7673340" y="2677668"/>
                  </a:lnTo>
                  <a:lnTo>
                    <a:pt x="7673340" y="2011680"/>
                  </a:lnTo>
                  <a:close/>
                </a:path>
                <a:path w="8290559" h="2677795">
                  <a:moveTo>
                    <a:pt x="8290560" y="0"/>
                  </a:moveTo>
                  <a:lnTo>
                    <a:pt x="4898136" y="0"/>
                  </a:lnTo>
                  <a:lnTo>
                    <a:pt x="4898136" y="1415796"/>
                  </a:lnTo>
                  <a:lnTo>
                    <a:pt x="8290560" y="1415796"/>
                  </a:lnTo>
                  <a:lnTo>
                    <a:pt x="8290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MCU</a:t>
            </a:r>
            <a:r>
              <a:rPr spc="-75" dirty="0"/>
              <a:t> </a:t>
            </a:r>
            <a:r>
              <a:rPr dirty="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6958" y="3334639"/>
            <a:ext cx="2251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PUSH</a:t>
            </a:r>
            <a:r>
              <a:rPr sz="2400" spc="-6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E82728"/>
                </a:solidFill>
                <a:latin typeface="Verdana"/>
                <a:cs typeface="Verdana"/>
              </a:rPr>
              <a:t>BUTTON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0358" y="3680256"/>
            <a:ext cx="787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E1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8779" y="1994916"/>
            <a:ext cx="3392804" cy="2677795"/>
          </a:xfrm>
          <a:prstGeom prst="rect">
            <a:avLst/>
          </a:prstGeom>
        </p:spPr>
        <p:txBody>
          <a:bodyPr vert="horz" wrap="square" lIns="0" tIns="314960" rIns="0" bIns="0" rtlCol="0">
            <a:spAutoFit/>
          </a:bodyPr>
          <a:lstStyle/>
          <a:p>
            <a:pPr marL="1043940" marR="814069" indent="-311150">
              <a:lnSpc>
                <a:spcPts val="2770"/>
              </a:lnSpc>
              <a:spcBef>
                <a:spcPts val="248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7</a:t>
            </a:r>
            <a:r>
              <a:rPr sz="2400" dirty="0">
                <a:solidFill>
                  <a:srgbClr val="E82728"/>
                </a:solidFill>
                <a:latin typeface="Verdana"/>
                <a:cs typeface="Verdana"/>
              </a:rPr>
              <a:t>-SEGMENT  </a:t>
            </a: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DISPLAY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84391" y="3102864"/>
            <a:ext cx="2367280" cy="963294"/>
            <a:chOff x="6184391" y="3102864"/>
            <a:chExt cx="2367280" cy="963294"/>
          </a:xfrm>
        </p:grpSpPr>
        <p:sp>
          <p:nvSpPr>
            <p:cNvPr id="10" name="object 10"/>
            <p:cNvSpPr/>
            <p:nvPr/>
          </p:nvSpPr>
          <p:spPr>
            <a:xfrm>
              <a:off x="6184391" y="3102864"/>
              <a:ext cx="2367280" cy="963294"/>
            </a:xfrm>
            <a:custGeom>
              <a:avLst/>
              <a:gdLst/>
              <a:ahLst/>
              <a:cxnLst/>
              <a:rect l="l" t="t" r="r" b="b"/>
              <a:pathLst>
                <a:path w="2367279" h="963295">
                  <a:moveTo>
                    <a:pt x="2366771" y="0"/>
                  </a:moveTo>
                  <a:lnTo>
                    <a:pt x="0" y="0"/>
                  </a:lnTo>
                  <a:lnTo>
                    <a:pt x="0" y="963168"/>
                  </a:lnTo>
                  <a:lnTo>
                    <a:pt x="2366771" y="963168"/>
                  </a:lnTo>
                  <a:lnTo>
                    <a:pt x="2366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9171" y="3308604"/>
              <a:ext cx="339851" cy="6385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1235" y="3308604"/>
              <a:ext cx="339851" cy="6385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0063" y="3305556"/>
              <a:ext cx="339851" cy="6370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2127" y="3308604"/>
              <a:ext cx="339851" cy="6385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986" y="444754"/>
            <a:ext cx="7478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IF</a:t>
            </a:r>
            <a:r>
              <a:rPr sz="4000" spc="-20" dirty="0"/>
              <a:t> </a:t>
            </a:r>
            <a:r>
              <a:rPr sz="4000" spc="-5" dirty="0"/>
              <a:t>STATEMENT</a:t>
            </a:r>
            <a:r>
              <a:rPr sz="4000" spc="-15" dirty="0"/>
              <a:t> </a:t>
            </a:r>
            <a:r>
              <a:rPr sz="4000" spc="-5" dirty="0"/>
              <a:t>IN</a:t>
            </a:r>
            <a:r>
              <a:rPr sz="4000" spc="-25" dirty="0"/>
              <a:t> </a:t>
            </a:r>
            <a:r>
              <a:rPr sz="4000" spc="-5" dirty="0"/>
              <a:t>ASSEMBLY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2782823" y="1536191"/>
            <a:ext cx="3487420" cy="1676400"/>
          </a:xfrm>
          <a:custGeom>
            <a:avLst/>
            <a:gdLst/>
            <a:ahLst/>
            <a:cxnLst/>
            <a:rect l="l" t="t" r="r" b="b"/>
            <a:pathLst>
              <a:path w="3487420" h="1676400">
                <a:moveTo>
                  <a:pt x="0" y="838200"/>
                </a:moveTo>
                <a:lnTo>
                  <a:pt x="1743455" y="0"/>
                </a:lnTo>
                <a:lnTo>
                  <a:pt x="3486912" y="838200"/>
                </a:lnTo>
                <a:lnTo>
                  <a:pt x="1743455" y="1676400"/>
                </a:lnTo>
                <a:lnTo>
                  <a:pt x="0" y="838200"/>
                </a:lnTo>
                <a:close/>
              </a:path>
            </a:pathLst>
          </a:custGeom>
          <a:ln w="57150">
            <a:solidFill>
              <a:srgbClr val="014E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71391" y="2207514"/>
            <a:ext cx="15106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200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14EA0"/>
                </a:solidFill>
                <a:latin typeface="Verdana"/>
                <a:cs typeface="Verdana"/>
              </a:rPr>
              <a:t>PE1</a:t>
            </a:r>
            <a:r>
              <a:rPr sz="20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14EA0"/>
                </a:solidFill>
                <a:latin typeface="Verdana"/>
                <a:cs typeface="Verdana"/>
              </a:rPr>
              <a:t>==1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39483" y="3430523"/>
            <a:ext cx="2249805" cy="1066800"/>
          </a:xfrm>
          <a:prstGeom prst="rect">
            <a:avLst/>
          </a:prstGeom>
          <a:ln w="57150">
            <a:solidFill>
              <a:srgbClr val="40404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00330" marR="92710" algn="ctr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SHOW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“o”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1800" spc="-6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2</a:t>
            </a:r>
            <a:r>
              <a:rPr sz="1800" spc="-7" baseline="25462" dirty="0">
                <a:solidFill>
                  <a:srgbClr val="404040"/>
                </a:solidFill>
                <a:latin typeface="Verdana"/>
                <a:cs typeface="Verdana"/>
              </a:rPr>
              <a:t>ND</a:t>
            </a:r>
            <a:r>
              <a:rPr sz="1800" spc="315" baseline="25462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3</a:t>
            </a:r>
            <a:r>
              <a:rPr sz="1800" baseline="25462" dirty="0">
                <a:solidFill>
                  <a:srgbClr val="404040"/>
                </a:solidFill>
                <a:latin typeface="Verdana"/>
                <a:cs typeface="Verdana"/>
              </a:rPr>
              <a:t>RD</a:t>
            </a:r>
            <a:endParaRPr sz="1800" baseline="25462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711" y="3425952"/>
            <a:ext cx="2292350" cy="1066800"/>
          </a:xfrm>
          <a:prstGeom prst="rect">
            <a:avLst/>
          </a:prstGeom>
          <a:ln w="57150">
            <a:solidFill>
              <a:srgbClr val="40404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SHOW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“8”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 THE</a:t>
            </a:r>
            <a:endParaRPr sz="1800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1</a:t>
            </a:r>
            <a:r>
              <a:rPr sz="1800" spc="-7" baseline="25462" dirty="0">
                <a:solidFill>
                  <a:srgbClr val="404040"/>
                </a:solidFill>
                <a:latin typeface="Verdana"/>
                <a:cs typeface="Verdana"/>
              </a:rPr>
              <a:t>ST</a:t>
            </a:r>
            <a:r>
              <a:rPr sz="1800" spc="270" baseline="25462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4</a:t>
            </a:r>
            <a:r>
              <a:rPr sz="1800" spc="-7" baseline="25462" dirty="0">
                <a:solidFill>
                  <a:srgbClr val="404040"/>
                </a:solidFill>
                <a:latin typeface="Verdana"/>
                <a:cs typeface="Verdana"/>
              </a:rPr>
              <a:t>TH</a:t>
            </a:r>
            <a:endParaRPr sz="1800" baseline="25462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23035" y="2345816"/>
            <a:ext cx="6327140" cy="1082675"/>
          </a:xfrm>
          <a:custGeom>
            <a:avLst/>
            <a:gdLst/>
            <a:ahLst/>
            <a:cxnLst/>
            <a:rect l="l" t="t" r="r" b="b"/>
            <a:pathLst>
              <a:path w="6327140" h="1082675">
                <a:moveTo>
                  <a:pt x="1360043" y="0"/>
                </a:moveTo>
                <a:lnTo>
                  <a:pt x="85725" y="0"/>
                </a:lnTo>
                <a:lnTo>
                  <a:pt x="74612" y="2260"/>
                </a:lnTo>
                <a:lnTo>
                  <a:pt x="65532" y="8382"/>
                </a:lnTo>
                <a:lnTo>
                  <a:pt x="59397" y="17475"/>
                </a:lnTo>
                <a:lnTo>
                  <a:pt x="57150" y="28575"/>
                </a:lnTo>
                <a:lnTo>
                  <a:pt x="57150" y="908431"/>
                </a:lnTo>
                <a:lnTo>
                  <a:pt x="0" y="908431"/>
                </a:lnTo>
                <a:lnTo>
                  <a:pt x="85725" y="1079881"/>
                </a:lnTo>
                <a:lnTo>
                  <a:pt x="157162" y="937006"/>
                </a:lnTo>
                <a:lnTo>
                  <a:pt x="171450" y="908431"/>
                </a:lnTo>
                <a:lnTo>
                  <a:pt x="114300" y="908431"/>
                </a:lnTo>
                <a:lnTo>
                  <a:pt x="114300" y="57150"/>
                </a:lnTo>
                <a:lnTo>
                  <a:pt x="1360043" y="57150"/>
                </a:lnTo>
                <a:lnTo>
                  <a:pt x="1360043" y="28575"/>
                </a:lnTo>
                <a:lnTo>
                  <a:pt x="1360043" y="0"/>
                </a:lnTo>
                <a:close/>
              </a:path>
              <a:path w="6327140" h="1082675">
                <a:moveTo>
                  <a:pt x="6327013" y="911225"/>
                </a:moveTo>
                <a:lnTo>
                  <a:pt x="6269863" y="911225"/>
                </a:lnTo>
                <a:lnTo>
                  <a:pt x="6269863" y="57150"/>
                </a:lnTo>
                <a:lnTo>
                  <a:pt x="6269863" y="28575"/>
                </a:lnTo>
                <a:lnTo>
                  <a:pt x="6267602" y="17475"/>
                </a:lnTo>
                <a:lnTo>
                  <a:pt x="6261481" y="8382"/>
                </a:lnTo>
                <a:lnTo>
                  <a:pt x="6252388" y="2260"/>
                </a:lnTo>
                <a:lnTo>
                  <a:pt x="6241288" y="0"/>
                </a:lnTo>
                <a:lnTo>
                  <a:pt x="4846701" y="0"/>
                </a:lnTo>
                <a:lnTo>
                  <a:pt x="4846701" y="57150"/>
                </a:lnTo>
                <a:lnTo>
                  <a:pt x="6212713" y="57150"/>
                </a:lnTo>
                <a:lnTo>
                  <a:pt x="6212713" y="911225"/>
                </a:lnTo>
                <a:lnTo>
                  <a:pt x="6155563" y="911225"/>
                </a:lnTo>
                <a:lnTo>
                  <a:pt x="6241288" y="1082675"/>
                </a:lnTo>
                <a:lnTo>
                  <a:pt x="6312725" y="939800"/>
                </a:lnTo>
                <a:lnTo>
                  <a:pt x="6327013" y="911225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93002" y="1926463"/>
            <a:ext cx="46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E82728"/>
                </a:solidFill>
                <a:latin typeface="Verdana"/>
                <a:cs typeface="Verdana"/>
              </a:rPr>
              <a:t>YES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9701" y="1927986"/>
            <a:ext cx="375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E82728"/>
                </a:solidFill>
                <a:latin typeface="Verdana"/>
                <a:cs typeface="Verdana"/>
              </a:rPr>
              <a:t>NO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2420" y="1246632"/>
            <a:ext cx="8598535" cy="3534410"/>
            <a:chOff x="312420" y="1246632"/>
            <a:chExt cx="8598535" cy="353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" y="1246632"/>
              <a:ext cx="8598408" cy="35341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20268" y="1947671"/>
              <a:ext cx="8290559" cy="2677795"/>
            </a:xfrm>
            <a:custGeom>
              <a:avLst/>
              <a:gdLst/>
              <a:ahLst/>
              <a:cxnLst/>
              <a:rect l="l" t="t" r="r" b="b"/>
              <a:pathLst>
                <a:path w="8290559" h="2677795">
                  <a:moveTo>
                    <a:pt x="3104388" y="1530096"/>
                  </a:moveTo>
                  <a:lnTo>
                    <a:pt x="2543556" y="1530096"/>
                  </a:lnTo>
                  <a:lnTo>
                    <a:pt x="2543556" y="1283208"/>
                  </a:lnTo>
                  <a:lnTo>
                    <a:pt x="0" y="1283208"/>
                  </a:lnTo>
                  <a:lnTo>
                    <a:pt x="0" y="2077212"/>
                  </a:lnTo>
                  <a:lnTo>
                    <a:pt x="2543556" y="2077212"/>
                  </a:lnTo>
                  <a:lnTo>
                    <a:pt x="2543556" y="1822704"/>
                  </a:lnTo>
                  <a:lnTo>
                    <a:pt x="3104388" y="1822704"/>
                  </a:lnTo>
                  <a:lnTo>
                    <a:pt x="3104388" y="1530096"/>
                  </a:lnTo>
                  <a:close/>
                </a:path>
                <a:path w="8290559" h="2677795">
                  <a:moveTo>
                    <a:pt x="7673340" y="2011680"/>
                  </a:moveTo>
                  <a:lnTo>
                    <a:pt x="5119116" y="2011680"/>
                  </a:lnTo>
                  <a:lnTo>
                    <a:pt x="5119116" y="2677668"/>
                  </a:lnTo>
                  <a:lnTo>
                    <a:pt x="7673340" y="2677668"/>
                  </a:lnTo>
                  <a:lnTo>
                    <a:pt x="7673340" y="2011680"/>
                  </a:lnTo>
                  <a:close/>
                </a:path>
                <a:path w="8290559" h="2677795">
                  <a:moveTo>
                    <a:pt x="8290560" y="0"/>
                  </a:moveTo>
                  <a:lnTo>
                    <a:pt x="4898136" y="0"/>
                  </a:lnTo>
                  <a:lnTo>
                    <a:pt x="4898136" y="1415796"/>
                  </a:lnTo>
                  <a:lnTo>
                    <a:pt x="8290560" y="1415796"/>
                  </a:lnTo>
                  <a:lnTo>
                    <a:pt x="8290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MCU</a:t>
            </a:r>
            <a:r>
              <a:rPr spc="-75" dirty="0"/>
              <a:t> </a:t>
            </a:r>
            <a:r>
              <a:rPr dirty="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7191" y="3287344"/>
            <a:ext cx="22529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PUSH</a:t>
            </a:r>
            <a:r>
              <a:rPr sz="2400" spc="-8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BUTTON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9567" y="3633927"/>
            <a:ext cx="8083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PB</a:t>
            </a: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5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07252" y="3204972"/>
            <a:ext cx="2202180" cy="769620"/>
          </a:xfrm>
          <a:custGeom>
            <a:avLst/>
            <a:gdLst/>
            <a:ahLst/>
            <a:cxnLst/>
            <a:rect l="l" t="t" r="r" b="b"/>
            <a:pathLst>
              <a:path w="2202179" h="769620">
                <a:moveTo>
                  <a:pt x="2202179" y="0"/>
                </a:moveTo>
                <a:lnTo>
                  <a:pt x="0" y="0"/>
                </a:lnTo>
                <a:lnTo>
                  <a:pt x="0" y="769620"/>
                </a:lnTo>
                <a:lnTo>
                  <a:pt x="2202179" y="769620"/>
                </a:lnTo>
                <a:lnTo>
                  <a:pt x="22021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518403" y="1947672"/>
            <a:ext cx="3392804" cy="1257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5300">
              <a:latin typeface="Times New Roman"/>
              <a:cs typeface="Times New Roman"/>
            </a:endParaRPr>
          </a:p>
          <a:p>
            <a:pPr marL="907415">
              <a:lnSpc>
                <a:spcPts val="3785"/>
              </a:lnSpc>
            </a:pP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LEDS</a:t>
            </a:r>
            <a:r>
              <a:rPr sz="3200" spc="-5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7252" y="3363467"/>
            <a:ext cx="2202180" cy="6115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48309">
              <a:lnSpc>
                <a:spcPts val="2580"/>
              </a:lnSpc>
            </a:pP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PORTC</a:t>
            </a:r>
            <a:endParaRPr sz="3200">
              <a:latin typeface="Verdana"/>
              <a:cs typeface="Verdana"/>
            </a:endParaRPr>
          </a:p>
          <a:p>
            <a:pPr marL="433070">
              <a:lnSpc>
                <a:spcPts val="2235"/>
              </a:lnSpc>
            </a:pP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PORTD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986" y="444754"/>
            <a:ext cx="7478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IF</a:t>
            </a:r>
            <a:r>
              <a:rPr sz="4000" spc="-20" dirty="0"/>
              <a:t> </a:t>
            </a:r>
            <a:r>
              <a:rPr sz="4000" spc="-5" dirty="0"/>
              <a:t>STATEMENT</a:t>
            </a:r>
            <a:r>
              <a:rPr sz="4000" spc="-15" dirty="0"/>
              <a:t> </a:t>
            </a:r>
            <a:r>
              <a:rPr sz="4000" spc="-5" dirty="0"/>
              <a:t>IN</a:t>
            </a:r>
            <a:r>
              <a:rPr sz="4000" spc="-25" dirty="0"/>
              <a:t> </a:t>
            </a:r>
            <a:r>
              <a:rPr sz="4000" spc="-5" dirty="0"/>
              <a:t>ASSEMBLY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2782823" y="1536191"/>
            <a:ext cx="3487420" cy="1676400"/>
          </a:xfrm>
          <a:custGeom>
            <a:avLst/>
            <a:gdLst/>
            <a:ahLst/>
            <a:cxnLst/>
            <a:rect l="l" t="t" r="r" b="b"/>
            <a:pathLst>
              <a:path w="3487420" h="1676400">
                <a:moveTo>
                  <a:pt x="0" y="838200"/>
                </a:moveTo>
                <a:lnTo>
                  <a:pt x="1743455" y="0"/>
                </a:lnTo>
                <a:lnTo>
                  <a:pt x="3486912" y="838200"/>
                </a:lnTo>
                <a:lnTo>
                  <a:pt x="1743455" y="1676400"/>
                </a:lnTo>
                <a:lnTo>
                  <a:pt x="0" y="838200"/>
                </a:lnTo>
                <a:close/>
              </a:path>
            </a:pathLst>
          </a:custGeom>
          <a:ln w="57150">
            <a:solidFill>
              <a:srgbClr val="014E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65296" y="2207514"/>
            <a:ext cx="1524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2000" spc="-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014EA0"/>
                </a:solidFill>
                <a:latin typeface="Verdana"/>
                <a:cs typeface="Verdana"/>
              </a:rPr>
              <a:t>PB5</a:t>
            </a:r>
            <a:r>
              <a:rPr sz="20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14EA0"/>
                </a:solidFill>
                <a:latin typeface="Verdana"/>
                <a:cs typeface="Verdana"/>
              </a:rPr>
              <a:t>==1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1488" y="3429000"/>
            <a:ext cx="2184400" cy="1066800"/>
          </a:xfrm>
          <a:prstGeom prst="rect">
            <a:avLst/>
          </a:prstGeom>
          <a:ln w="57150">
            <a:solidFill>
              <a:srgbClr val="40404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7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OPPOSITE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051" y="3425952"/>
            <a:ext cx="2185670" cy="1066800"/>
          </a:xfrm>
          <a:prstGeom prst="rect">
            <a:avLst/>
          </a:prstGeom>
          <a:ln w="57150">
            <a:solidFill>
              <a:srgbClr val="40404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</a:pP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PORTC</a:t>
            </a:r>
            <a:r>
              <a:rPr sz="18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=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0xC3</a:t>
            </a:r>
            <a:endParaRPr sz="1800">
              <a:latin typeface="Verdana"/>
              <a:cs typeface="Verdana"/>
            </a:endParaRPr>
          </a:p>
          <a:p>
            <a:pPr marL="243840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PORTD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=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0x0F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23035" y="2345816"/>
            <a:ext cx="6327140" cy="1082675"/>
          </a:xfrm>
          <a:custGeom>
            <a:avLst/>
            <a:gdLst/>
            <a:ahLst/>
            <a:cxnLst/>
            <a:rect l="l" t="t" r="r" b="b"/>
            <a:pathLst>
              <a:path w="6327140" h="1082675">
                <a:moveTo>
                  <a:pt x="1360043" y="0"/>
                </a:moveTo>
                <a:lnTo>
                  <a:pt x="85725" y="0"/>
                </a:lnTo>
                <a:lnTo>
                  <a:pt x="74612" y="2260"/>
                </a:lnTo>
                <a:lnTo>
                  <a:pt x="65532" y="8382"/>
                </a:lnTo>
                <a:lnTo>
                  <a:pt x="59397" y="17475"/>
                </a:lnTo>
                <a:lnTo>
                  <a:pt x="57150" y="28575"/>
                </a:lnTo>
                <a:lnTo>
                  <a:pt x="57150" y="908431"/>
                </a:lnTo>
                <a:lnTo>
                  <a:pt x="0" y="908431"/>
                </a:lnTo>
                <a:lnTo>
                  <a:pt x="85725" y="1079881"/>
                </a:lnTo>
                <a:lnTo>
                  <a:pt x="157162" y="937006"/>
                </a:lnTo>
                <a:lnTo>
                  <a:pt x="171450" y="908431"/>
                </a:lnTo>
                <a:lnTo>
                  <a:pt x="114300" y="908431"/>
                </a:lnTo>
                <a:lnTo>
                  <a:pt x="114300" y="57150"/>
                </a:lnTo>
                <a:lnTo>
                  <a:pt x="1360043" y="57150"/>
                </a:lnTo>
                <a:lnTo>
                  <a:pt x="1360043" y="28575"/>
                </a:lnTo>
                <a:lnTo>
                  <a:pt x="1360043" y="0"/>
                </a:lnTo>
                <a:close/>
              </a:path>
              <a:path w="6327140" h="1082675">
                <a:moveTo>
                  <a:pt x="6327013" y="911225"/>
                </a:moveTo>
                <a:lnTo>
                  <a:pt x="6269863" y="911225"/>
                </a:lnTo>
                <a:lnTo>
                  <a:pt x="6269863" y="57150"/>
                </a:lnTo>
                <a:lnTo>
                  <a:pt x="6269863" y="28575"/>
                </a:lnTo>
                <a:lnTo>
                  <a:pt x="6267602" y="17475"/>
                </a:lnTo>
                <a:lnTo>
                  <a:pt x="6261481" y="8382"/>
                </a:lnTo>
                <a:lnTo>
                  <a:pt x="6252388" y="2260"/>
                </a:lnTo>
                <a:lnTo>
                  <a:pt x="6241288" y="0"/>
                </a:lnTo>
                <a:lnTo>
                  <a:pt x="4846701" y="0"/>
                </a:lnTo>
                <a:lnTo>
                  <a:pt x="4846701" y="57150"/>
                </a:lnTo>
                <a:lnTo>
                  <a:pt x="6212713" y="57150"/>
                </a:lnTo>
                <a:lnTo>
                  <a:pt x="6212713" y="911225"/>
                </a:lnTo>
                <a:lnTo>
                  <a:pt x="6155563" y="911225"/>
                </a:lnTo>
                <a:lnTo>
                  <a:pt x="6241288" y="1082675"/>
                </a:lnTo>
                <a:lnTo>
                  <a:pt x="6312725" y="939800"/>
                </a:lnTo>
                <a:lnTo>
                  <a:pt x="6327013" y="911225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93002" y="1926463"/>
            <a:ext cx="46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E82728"/>
                </a:solidFill>
                <a:latin typeface="Verdana"/>
                <a:cs typeface="Verdana"/>
              </a:rPr>
              <a:t>YES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9701" y="1927986"/>
            <a:ext cx="375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E82728"/>
                </a:solidFill>
                <a:latin typeface="Verdana"/>
                <a:cs typeface="Verdana"/>
              </a:rPr>
              <a:t>NO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7861" y="452754"/>
            <a:ext cx="2207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E82728"/>
                </a:solidFill>
              </a:rPr>
              <a:t>CLASS</a:t>
            </a:r>
            <a:r>
              <a:rPr sz="4000" spc="-45" dirty="0">
                <a:solidFill>
                  <a:srgbClr val="E82728"/>
                </a:solidFill>
              </a:rPr>
              <a:t> </a:t>
            </a:r>
            <a:r>
              <a:rPr sz="4000" spc="-5" dirty="0">
                <a:solidFill>
                  <a:srgbClr val="E82728"/>
                </a:solidFill>
              </a:rPr>
              <a:t>6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45770" y="1605152"/>
            <a:ext cx="6582409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171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ASSEMBLY</a:t>
            </a:r>
            <a:r>
              <a:rPr sz="30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LANGUAGE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Delays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8992" y="250316"/>
            <a:ext cx="54457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"/>
                <a:cs typeface="Calibri"/>
              </a:rPr>
              <a:t>Instruction</a:t>
            </a:r>
            <a:r>
              <a:rPr sz="4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"/>
                <a:cs typeface="Calibri"/>
              </a:rPr>
              <a:t>Descriptions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630679"/>
            <a:ext cx="3962400" cy="2438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8700" y="1630679"/>
            <a:ext cx="3848100" cy="256184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8992" y="250316"/>
            <a:ext cx="54457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"/>
                <a:cs typeface="Calibri"/>
              </a:rPr>
              <a:t>Instruction</a:t>
            </a:r>
            <a:r>
              <a:rPr sz="4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"/>
                <a:cs typeface="Calibri"/>
              </a:rPr>
              <a:t>Descriptions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1313688"/>
            <a:ext cx="8343900" cy="35341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7111" y="1181100"/>
            <a:ext cx="7013448" cy="37322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185" y="1278382"/>
            <a:ext cx="75234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EX1: Calculate</a:t>
            </a:r>
            <a:r>
              <a:rPr sz="14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delay</a:t>
            </a:r>
            <a:r>
              <a:rPr sz="14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created</a:t>
            </a:r>
            <a:r>
              <a:rPr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sz="1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below</a:t>
            </a:r>
            <a:r>
              <a:rPr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code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segment</a:t>
            </a:r>
            <a:r>
              <a:rPr sz="1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if</a:t>
            </a:r>
            <a:r>
              <a:rPr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oscillator</a:t>
            </a:r>
            <a:r>
              <a:rPr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4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MHz.</a:t>
            </a:r>
            <a:r>
              <a:rPr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(Assume the</a:t>
            </a:r>
            <a:r>
              <a:rPr sz="1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number </a:t>
            </a:r>
            <a:r>
              <a:rPr sz="1400" spc="-3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5</a:t>
            </a:r>
            <a:r>
              <a:rPr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is loaded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  <a:r>
              <a:rPr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0000"/>
                </a:solidFill>
                <a:latin typeface="Calibri"/>
                <a:cs typeface="Calibri"/>
              </a:rPr>
              <a:t>Counter)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2185" y="1918842"/>
            <a:ext cx="60769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Calibri"/>
                <a:cs typeface="Calibri"/>
              </a:rPr>
              <a:t>LOOP 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DECFSZ  GOTO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6864" y="2147442"/>
            <a:ext cx="7969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Calibri"/>
                <a:cs typeface="Calibri"/>
              </a:rPr>
              <a:t>Co</a:t>
            </a:r>
            <a:r>
              <a:rPr sz="1500" b="1" spc="-10" dirty="0">
                <a:latin typeface="Calibri"/>
                <a:cs typeface="Calibri"/>
              </a:rPr>
              <a:t>u</a:t>
            </a:r>
            <a:r>
              <a:rPr sz="1500" b="1" dirty="0">
                <a:latin typeface="Calibri"/>
                <a:cs typeface="Calibri"/>
              </a:rPr>
              <a:t>n</a:t>
            </a:r>
            <a:r>
              <a:rPr sz="1500" b="1" spc="-10" dirty="0">
                <a:latin typeface="Calibri"/>
                <a:cs typeface="Calibri"/>
              </a:rPr>
              <a:t>t</a:t>
            </a:r>
            <a:r>
              <a:rPr sz="1500" b="1" spc="-5" dirty="0">
                <a:latin typeface="Calibri"/>
                <a:cs typeface="Calibri"/>
              </a:rPr>
              <a:t>er</a:t>
            </a:r>
            <a:r>
              <a:rPr sz="1500" b="1" spc="-10" dirty="0">
                <a:latin typeface="Calibri"/>
                <a:cs typeface="Calibri"/>
              </a:rPr>
              <a:t>,</a:t>
            </a:r>
            <a:r>
              <a:rPr sz="1500" b="1" dirty="0">
                <a:latin typeface="Calibri"/>
                <a:cs typeface="Calibri"/>
              </a:rPr>
              <a:t>F  LOOP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2185" y="2882265"/>
            <a:ext cx="3899815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Solution:</a:t>
            </a:r>
            <a:endParaRPr sz="13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cycles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= 5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X(1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+2)</a:t>
            </a:r>
            <a:r>
              <a:rPr sz="1400" b="1" spc="30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=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15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Delay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by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this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code=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cycles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X Instruction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</a:t>
            </a:r>
            <a:endParaRPr lang="ar-EG" sz="1400" b="1" spc="-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ar-EG" sz="1400" b="1" spc="-5" dirty="0">
                <a:latin typeface="Calibri"/>
                <a:cs typeface="Calibri"/>
              </a:rPr>
              <a:t>	= </a:t>
            </a:r>
            <a:r>
              <a:rPr lang="en-US" sz="1400" b="1" spc="-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No.</a:t>
            </a:r>
            <a:r>
              <a:rPr lang="en-US" sz="1400" b="1" spc="-1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of</a:t>
            </a:r>
            <a:r>
              <a:rPr lang="en-US" sz="1400" b="1" spc="-15" dirty="0">
                <a:latin typeface="Calibri"/>
                <a:cs typeface="Calibri"/>
              </a:rPr>
              <a:t> </a:t>
            </a:r>
            <a:r>
              <a:rPr lang="en-US" sz="1400" b="1" spc="-5" dirty="0">
                <a:latin typeface="Calibri"/>
                <a:cs typeface="Calibri"/>
              </a:rPr>
              <a:t>cycles</a:t>
            </a:r>
            <a:r>
              <a:rPr lang="en-US" sz="1400" b="1" spc="-1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X 4 / F</a:t>
            </a:r>
            <a:endParaRPr sz="1400" dirty="0">
              <a:latin typeface="Calibri"/>
              <a:cs typeface="Calibri"/>
            </a:endParaRPr>
          </a:p>
          <a:p>
            <a:pPr marL="1322070">
              <a:tabLst>
                <a:tab pos="1830705" algn="l"/>
                <a:tab pos="2206625" algn="l"/>
              </a:tabLst>
            </a:pPr>
            <a:r>
              <a:rPr sz="1400" b="1" dirty="0">
                <a:latin typeface="Calibri"/>
                <a:cs typeface="Calibri"/>
              </a:rPr>
              <a:t>= 15	X	(</a:t>
            </a:r>
            <a:r>
              <a:rPr lang="en-US" sz="1400" b="1" dirty="0">
                <a:solidFill>
                  <a:srgbClr val="00AF50"/>
                </a:solidFill>
                <a:latin typeface="Calibri"/>
                <a:cs typeface="Calibri"/>
              </a:rPr>
              <a:t>4</a:t>
            </a:r>
            <a:r>
              <a:rPr lang="en-US" sz="14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en-US" sz="14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lang="en-US" sz="1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0.25uS)</a:t>
            </a:r>
            <a:endParaRPr lang="ar-EG" sz="1400" b="1" spc="-5" dirty="0">
              <a:latin typeface="Calibri"/>
              <a:cs typeface="Calibri"/>
            </a:endParaRPr>
          </a:p>
          <a:p>
            <a:pPr marL="1322070">
              <a:tabLst>
                <a:tab pos="1830705" algn="l"/>
                <a:tab pos="2206625" algn="l"/>
              </a:tabLst>
            </a:pPr>
            <a:r>
              <a:rPr lang="en-US" sz="1400" b="1" dirty="0">
                <a:latin typeface="Calibri"/>
                <a:cs typeface="Calibri"/>
              </a:rPr>
              <a:t>=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spc="-5" dirty="0">
                <a:latin typeface="Calibri"/>
                <a:cs typeface="Calibri"/>
              </a:rPr>
              <a:t>15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us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2185" y="1278382"/>
            <a:ext cx="75234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EX2: Calculate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delay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created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below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code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segment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oscillator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8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MHz.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(Assume the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number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5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 loaded </a:t>
            </a:r>
            <a:r>
              <a:rPr sz="1400" spc="-5" dirty="0">
                <a:latin typeface="Calibri"/>
                <a:cs typeface="Calibri"/>
              </a:rPr>
              <a:t>into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Counter)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2185" y="1918843"/>
            <a:ext cx="5645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LOOP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C</a:t>
            </a:r>
            <a:r>
              <a:rPr sz="1400" spc="-5" dirty="0">
                <a:latin typeface="Calibri"/>
                <a:cs typeface="Calibri"/>
              </a:rPr>
              <a:t>F</a:t>
            </a:r>
            <a:r>
              <a:rPr sz="1400" spc="5" dirty="0">
                <a:latin typeface="Calibri"/>
                <a:cs typeface="Calibri"/>
              </a:rPr>
              <a:t>S</a:t>
            </a:r>
            <a:r>
              <a:rPr sz="1400" dirty="0">
                <a:latin typeface="Calibri"/>
                <a:cs typeface="Calibri"/>
              </a:rPr>
              <a:t>Z  GOTO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86864" y="2132202"/>
            <a:ext cx="818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Counter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LOOP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2185" y="2882265"/>
            <a:ext cx="3814445" cy="151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Solution: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cycles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= 5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X(1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+2)</a:t>
            </a:r>
            <a:r>
              <a:rPr sz="1400" b="1" spc="30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=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15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Delay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by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this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code</a:t>
            </a:r>
            <a:r>
              <a:rPr lang="en-US" sz="1400" b="1" spc="-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=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cycles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X Instruction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</a:t>
            </a:r>
            <a:endParaRPr lang="en-US" sz="1400" b="1" spc="-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1400" b="1" spc="-5" dirty="0">
                <a:latin typeface="Calibri"/>
                <a:cs typeface="Calibri"/>
              </a:rPr>
              <a:t>	= </a:t>
            </a:r>
            <a:r>
              <a:rPr lang="en-US" sz="1400" b="1" dirty="0">
                <a:latin typeface="Calibri"/>
                <a:cs typeface="Calibri"/>
              </a:rPr>
              <a:t>No.</a:t>
            </a:r>
            <a:r>
              <a:rPr lang="en-US" sz="1400" b="1" spc="-1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of</a:t>
            </a:r>
            <a:r>
              <a:rPr lang="en-US" sz="1400" b="1" spc="-15" dirty="0">
                <a:latin typeface="Calibri"/>
                <a:cs typeface="Calibri"/>
              </a:rPr>
              <a:t> </a:t>
            </a:r>
            <a:r>
              <a:rPr lang="en-US" sz="1400" b="1" spc="-5" dirty="0">
                <a:latin typeface="Calibri"/>
                <a:cs typeface="Calibri"/>
              </a:rPr>
              <a:t>cycles</a:t>
            </a:r>
            <a:r>
              <a:rPr lang="en-US" sz="1400" b="1" spc="-1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X  4/ F </a:t>
            </a:r>
          </a:p>
          <a:p>
            <a:pPr marL="12700">
              <a:lnSpc>
                <a:spcPct val="100000"/>
              </a:lnSpc>
            </a:pPr>
            <a:r>
              <a:rPr lang="en-US" sz="1400" b="1" dirty="0">
                <a:latin typeface="Calibri"/>
                <a:cs typeface="Calibri"/>
              </a:rPr>
              <a:t>	= 15 X </a:t>
            </a:r>
            <a:r>
              <a:rPr lang="en-US" sz="1400" b="1" spc="-5" dirty="0">
                <a:latin typeface="Calibri"/>
                <a:cs typeface="Calibri"/>
              </a:rPr>
              <a:t>(</a:t>
            </a:r>
            <a:r>
              <a:rPr lang="en-US" sz="1400" b="1" spc="-5" dirty="0">
                <a:solidFill>
                  <a:srgbClr val="00AF50"/>
                </a:solidFill>
                <a:latin typeface="Calibri"/>
                <a:cs typeface="Calibri"/>
              </a:rPr>
              <a:t>0.5</a:t>
            </a:r>
            <a:r>
              <a:rPr lang="en-US" sz="1400" b="1" spc="-5" dirty="0">
                <a:latin typeface="Calibri"/>
                <a:cs typeface="Calibri"/>
              </a:rPr>
              <a:t>uS)</a:t>
            </a:r>
            <a:r>
              <a:rPr lang="en-US" sz="1400" spc="-5" dirty="0">
                <a:latin typeface="Calibri"/>
                <a:cs typeface="Calibri"/>
              </a:rPr>
              <a:t> </a:t>
            </a:r>
          </a:p>
          <a:p>
            <a:pPr marL="12700">
              <a:lnSpc>
                <a:spcPct val="100000"/>
              </a:lnSpc>
            </a:pPr>
            <a:r>
              <a:rPr lang="en-US" sz="1400" b="1" spc="-5" dirty="0">
                <a:latin typeface="Calibri"/>
                <a:cs typeface="Calibri"/>
              </a:rPr>
              <a:t>	</a:t>
            </a:r>
            <a:r>
              <a:rPr lang="en-US" sz="1400" b="1" dirty="0">
                <a:latin typeface="Calibri"/>
                <a:cs typeface="Calibri"/>
              </a:rPr>
              <a:t>=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spc="-5" dirty="0">
                <a:latin typeface="Calibri"/>
                <a:cs typeface="Calibri"/>
              </a:rPr>
              <a:t>7.5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us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525" y="1098041"/>
            <a:ext cx="6801484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libri"/>
                <a:cs typeface="Calibri"/>
              </a:rPr>
              <a:t>EX3:</a:t>
            </a:r>
            <a:r>
              <a:rPr sz="1400" b="1" spc="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Calculate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delay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created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by</a:t>
            </a:r>
            <a:r>
              <a:rPr sz="1400" b="1" spc="15" dirty="0"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4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Loop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 the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below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code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segment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oscillator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4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MHz: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125220" algn="l"/>
                <a:tab pos="1841500" algn="l"/>
              </a:tabLst>
            </a:pPr>
            <a:r>
              <a:rPr sz="1400" spc="-5" dirty="0">
                <a:latin typeface="Calibri"/>
                <a:cs typeface="Calibri"/>
              </a:rPr>
              <a:t>Counter1	EQU	35H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START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5525" y="2378456"/>
            <a:ext cx="636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M</a:t>
            </a:r>
            <a:r>
              <a:rPr sz="1400" spc="-10" dirty="0">
                <a:latin typeface="Calibri"/>
                <a:cs typeface="Calibri"/>
              </a:rPr>
              <a:t>O</a:t>
            </a:r>
            <a:r>
              <a:rPr sz="1400" spc="-5" dirty="0">
                <a:latin typeface="Calibri"/>
                <a:cs typeface="Calibri"/>
              </a:rPr>
              <a:t>V</a:t>
            </a:r>
            <a:r>
              <a:rPr sz="1400" spc="-10" dirty="0">
                <a:latin typeface="Calibri"/>
                <a:cs typeface="Calibri"/>
              </a:rPr>
              <a:t>L</a:t>
            </a:r>
            <a:r>
              <a:rPr sz="1400" dirty="0">
                <a:latin typeface="Calibri"/>
                <a:cs typeface="Calibri"/>
              </a:rPr>
              <a:t>W  M</a:t>
            </a:r>
            <a:r>
              <a:rPr sz="1400" spc="-10" dirty="0">
                <a:latin typeface="Calibri"/>
                <a:cs typeface="Calibri"/>
              </a:rPr>
              <a:t>O</a:t>
            </a:r>
            <a:r>
              <a:rPr sz="1400" spc="-5" dirty="0">
                <a:latin typeface="Calibri"/>
                <a:cs typeface="Calibri"/>
              </a:rPr>
              <a:t>V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0204" y="2378456"/>
            <a:ext cx="7010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0F2H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Counter1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5525" y="3018231"/>
            <a:ext cx="56451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LOOP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C</a:t>
            </a:r>
            <a:r>
              <a:rPr sz="1400" spc="-5" dirty="0">
                <a:latin typeface="Calibri"/>
                <a:cs typeface="Calibri"/>
              </a:rPr>
              <a:t>F</a:t>
            </a:r>
            <a:r>
              <a:rPr sz="1400" spc="5" dirty="0">
                <a:latin typeface="Calibri"/>
                <a:cs typeface="Calibri"/>
              </a:rPr>
              <a:t>S</a:t>
            </a:r>
            <a:r>
              <a:rPr sz="1400" dirty="0">
                <a:latin typeface="Calibri"/>
                <a:cs typeface="Calibri"/>
              </a:rPr>
              <a:t>Z  GOTO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8985" y="3232150"/>
            <a:ext cx="1068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066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Cou</a:t>
            </a:r>
            <a:r>
              <a:rPr sz="1400" spc="-10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t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r</a:t>
            </a:r>
            <a:r>
              <a:rPr sz="1400" spc="-5" dirty="0">
                <a:latin typeface="Calibri"/>
                <a:cs typeface="Calibri"/>
              </a:rPr>
              <a:t>1,F  LOOP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525" y="3872280"/>
            <a:ext cx="3371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END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21048" y="2232406"/>
            <a:ext cx="693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Solution: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21048" y="2659126"/>
            <a:ext cx="166306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Loop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= </a:t>
            </a:r>
            <a:r>
              <a:rPr sz="1400" b="1" spc="-30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code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89853" y="2659126"/>
            <a:ext cx="14947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[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242 </a:t>
            </a:r>
            <a:r>
              <a:rPr sz="1400" b="1" dirty="0">
                <a:latin typeface="Calibri"/>
                <a:cs typeface="Calibri"/>
              </a:rPr>
              <a:t>X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(1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+2)]</a:t>
            </a:r>
            <a:r>
              <a:rPr sz="1400" b="1" dirty="0">
                <a:latin typeface="Calibri"/>
                <a:cs typeface="Calibri"/>
              </a:rPr>
              <a:t> =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726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Calibri"/>
                <a:cs typeface="Calibri"/>
              </a:rPr>
              <a:t>1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+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1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+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726=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728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21048" y="3299586"/>
            <a:ext cx="38150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Delay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by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this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code=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cycles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X Instruction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50761" y="3618095"/>
            <a:ext cx="279425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500" algn="l"/>
                <a:tab pos="947419" algn="l"/>
              </a:tabLst>
            </a:pPr>
            <a:r>
              <a:rPr lang="en-US" sz="1400" b="1" dirty="0">
                <a:latin typeface="Calibri"/>
                <a:cs typeface="Calibri"/>
              </a:rPr>
              <a:t>= </a:t>
            </a:r>
            <a:r>
              <a:rPr lang="en-US" sz="1400" b="1" spc="-5" dirty="0">
                <a:latin typeface="Calibri"/>
                <a:cs typeface="Calibri"/>
              </a:rPr>
              <a:t>728	</a:t>
            </a:r>
            <a:r>
              <a:rPr lang="en-US" sz="1400" b="1" dirty="0">
                <a:latin typeface="Calibri"/>
                <a:cs typeface="Calibri"/>
              </a:rPr>
              <a:t>X	</a:t>
            </a:r>
            <a:r>
              <a:rPr lang="en-US" sz="1400" b="1" spc="-5" dirty="0">
                <a:latin typeface="Calibri"/>
                <a:cs typeface="Calibri"/>
              </a:rPr>
              <a:t>(</a:t>
            </a:r>
            <a:r>
              <a:rPr lang="en-US" sz="1400" b="1" spc="-5" dirty="0">
                <a:solidFill>
                  <a:srgbClr val="00AF50"/>
                </a:solidFill>
                <a:latin typeface="Calibri"/>
                <a:cs typeface="Calibri"/>
              </a:rPr>
              <a:t>4</a:t>
            </a:r>
            <a:r>
              <a:rPr lang="en-US" sz="1400" b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en-US" sz="1400" b="1" dirty="0">
                <a:solidFill>
                  <a:srgbClr val="00AF50"/>
                </a:solidFill>
                <a:latin typeface="Calibri"/>
                <a:cs typeface="Calibri"/>
              </a:rPr>
              <a:t>X</a:t>
            </a:r>
            <a:r>
              <a:rPr lang="en-US" sz="1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en-US" sz="1400" b="1" spc="-5" dirty="0">
                <a:latin typeface="Calibri"/>
                <a:cs typeface="Calibri"/>
              </a:rPr>
              <a:t>0.25uS) = 728 us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525" y="1098041"/>
            <a:ext cx="684085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EX </a:t>
            </a:r>
            <a:r>
              <a:rPr sz="1400" b="1" spc="-5" dirty="0">
                <a:latin typeface="Calibri"/>
                <a:cs typeface="Calibri"/>
              </a:rPr>
              <a:t>2: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Calculate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delay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created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by</a:t>
            </a:r>
            <a:r>
              <a:rPr sz="1400" b="1" spc="15" dirty="0"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Loop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 the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below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code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segment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oscillator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8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MHz: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045844" algn="l"/>
              </a:tabLst>
            </a:pPr>
            <a:r>
              <a:rPr sz="1400" spc="-5" dirty="0">
                <a:latin typeface="Calibri"/>
                <a:cs typeface="Calibri"/>
              </a:rPr>
              <a:t>Cou</a:t>
            </a:r>
            <a:r>
              <a:rPr sz="1400" spc="-10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t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r1	</a:t>
            </a:r>
            <a:r>
              <a:rPr sz="1400" spc="-5" dirty="0">
                <a:latin typeface="Calibri"/>
                <a:cs typeface="Calibri"/>
              </a:rPr>
              <a:t>EQ</a:t>
            </a:r>
            <a:r>
              <a:rPr sz="1400" dirty="0">
                <a:latin typeface="Calibri"/>
                <a:cs typeface="Calibri"/>
              </a:rPr>
              <a:t>U</a:t>
            </a:r>
            <a:r>
              <a:rPr sz="1400" spc="-18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70</a:t>
            </a: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START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5525" y="2378456"/>
            <a:ext cx="636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M</a:t>
            </a:r>
            <a:r>
              <a:rPr sz="1400" spc="-10" dirty="0">
                <a:latin typeface="Calibri"/>
                <a:cs typeface="Calibri"/>
              </a:rPr>
              <a:t>O</a:t>
            </a:r>
            <a:r>
              <a:rPr sz="1400" spc="-5" dirty="0">
                <a:latin typeface="Calibri"/>
                <a:cs typeface="Calibri"/>
              </a:rPr>
              <a:t>V</a:t>
            </a:r>
            <a:r>
              <a:rPr sz="1400" spc="-10" dirty="0">
                <a:latin typeface="Calibri"/>
                <a:cs typeface="Calibri"/>
              </a:rPr>
              <a:t>L</a:t>
            </a:r>
            <a:r>
              <a:rPr sz="1400" dirty="0">
                <a:latin typeface="Calibri"/>
                <a:cs typeface="Calibri"/>
              </a:rPr>
              <a:t>W  M</a:t>
            </a:r>
            <a:r>
              <a:rPr sz="1400" spc="-10" dirty="0">
                <a:latin typeface="Calibri"/>
                <a:cs typeface="Calibri"/>
              </a:rPr>
              <a:t>O</a:t>
            </a:r>
            <a:r>
              <a:rPr sz="1400" spc="-5" dirty="0">
                <a:latin typeface="Calibri"/>
                <a:cs typeface="Calibri"/>
              </a:rPr>
              <a:t>V</a:t>
            </a:r>
            <a:r>
              <a:rPr sz="1400" spc="-1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0204" y="2378456"/>
            <a:ext cx="7010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0F2H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Counter1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5525" y="3018231"/>
            <a:ext cx="56451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LOOP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C</a:t>
            </a:r>
            <a:r>
              <a:rPr sz="1400" spc="-5" dirty="0">
                <a:latin typeface="Calibri"/>
                <a:cs typeface="Calibri"/>
              </a:rPr>
              <a:t>F</a:t>
            </a:r>
            <a:r>
              <a:rPr sz="1400" spc="5" dirty="0">
                <a:latin typeface="Calibri"/>
                <a:cs typeface="Calibri"/>
              </a:rPr>
              <a:t>S</a:t>
            </a:r>
            <a:r>
              <a:rPr sz="1400" dirty="0">
                <a:latin typeface="Calibri"/>
                <a:cs typeface="Calibri"/>
              </a:rPr>
              <a:t>Z  GOTO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0204" y="3232150"/>
            <a:ext cx="82676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Cou</a:t>
            </a:r>
            <a:r>
              <a:rPr sz="1400" spc="-10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t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r</a:t>
            </a:r>
            <a:r>
              <a:rPr sz="1400" spc="-5" dirty="0">
                <a:latin typeface="Calibri"/>
                <a:cs typeface="Calibri"/>
              </a:rPr>
              <a:t>1,F  LOOP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525" y="3872280"/>
            <a:ext cx="3371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END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21048" y="2232406"/>
            <a:ext cx="693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Solution: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21048" y="2659126"/>
            <a:ext cx="166306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Loop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= </a:t>
            </a:r>
            <a:r>
              <a:rPr sz="1400" b="1" spc="-30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code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89853" y="2659126"/>
            <a:ext cx="14947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[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242 </a:t>
            </a:r>
            <a:r>
              <a:rPr sz="1400" b="1" dirty="0">
                <a:latin typeface="Calibri"/>
                <a:cs typeface="Calibri"/>
              </a:rPr>
              <a:t>X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(1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+2)]</a:t>
            </a:r>
            <a:r>
              <a:rPr sz="1400" b="1" dirty="0">
                <a:latin typeface="Calibri"/>
                <a:cs typeface="Calibri"/>
              </a:rPr>
              <a:t> =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726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Calibri"/>
                <a:cs typeface="Calibri"/>
              </a:rPr>
              <a:t>1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+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1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+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726=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728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21048" y="3299586"/>
            <a:ext cx="38150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Delay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by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this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code=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cycles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X Instruction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cycle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30546" y="3512948"/>
            <a:ext cx="243583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500" algn="l"/>
                <a:tab pos="947419" algn="l"/>
              </a:tabLst>
            </a:pPr>
            <a:r>
              <a:rPr lang="en-US" sz="1400" b="1" dirty="0">
                <a:latin typeface="Calibri"/>
                <a:cs typeface="Calibri"/>
              </a:rPr>
              <a:t>= </a:t>
            </a:r>
            <a:r>
              <a:rPr lang="en-US" sz="1400" b="1" spc="-5" dirty="0">
                <a:latin typeface="Calibri"/>
                <a:cs typeface="Calibri"/>
              </a:rPr>
              <a:t>728	</a:t>
            </a:r>
            <a:r>
              <a:rPr lang="en-US" sz="1400" b="1" dirty="0">
                <a:latin typeface="Calibri"/>
                <a:cs typeface="Calibri"/>
              </a:rPr>
              <a:t>X	</a:t>
            </a:r>
            <a:r>
              <a:rPr lang="en-US" sz="1400" b="1" spc="-5" dirty="0">
                <a:latin typeface="Calibri"/>
                <a:cs typeface="Calibri"/>
              </a:rPr>
              <a:t>(</a:t>
            </a:r>
            <a:r>
              <a:rPr lang="en-US" sz="1400" b="1" spc="-5" dirty="0">
                <a:solidFill>
                  <a:srgbClr val="00AF50"/>
                </a:solidFill>
                <a:latin typeface="Calibri"/>
                <a:cs typeface="Calibri"/>
              </a:rPr>
              <a:t>0.5</a:t>
            </a:r>
            <a:r>
              <a:rPr lang="en-US" sz="14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us)  = 364 us</a:t>
            </a:r>
            <a:endParaRPr lang="en-US"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9680" y="172210"/>
            <a:ext cx="7200900" cy="488594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7861" y="452754"/>
            <a:ext cx="2207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E82728"/>
                </a:solidFill>
              </a:rPr>
              <a:t>CLASS</a:t>
            </a:r>
            <a:r>
              <a:rPr sz="4000" spc="-45" dirty="0">
                <a:solidFill>
                  <a:srgbClr val="E82728"/>
                </a:solidFill>
              </a:rPr>
              <a:t> </a:t>
            </a:r>
            <a:r>
              <a:rPr sz="4000" spc="-5" dirty="0">
                <a:solidFill>
                  <a:srgbClr val="E82728"/>
                </a:solidFill>
              </a:rPr>
              <a:t>6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45770" y="1605152"/>
            <a:ext cx="8750935" cy="231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 algn="ctr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ASSEMBLY</a:t>
            </a:r>
            <a:r>
              <a:rPr sz="30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LANGUAGE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CONDITIONAL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STATEMENT: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BTFSC,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BTFSS</a:t>
            </a:r>
            <a:endParaRPr sz="30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READ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MULTIPLE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INPUTS</a:t>
            </a:r>
            <a:endParaRPr sz="30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FUNCTIONS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795" y="1246632"/>
            <a:ext cx="8598535" cy="3534410"/>
            <a:chOff x="272795" y="1246632"/>
            <a:chExt cx="8598535" cy="353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95" y="1246632"/>
              <a:ext cx="8598408" cy="35341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0644" y="3230879"/>
              <a:ext cx="7673340" cy="1394460"/>
            </a:xfrm>
            <a:custGeom>
              <a:avLst/>
              <a:gdLst/>
              <a:ahLst/>
              <a:cxnLst/>
              <a:rect l="l" t="t" r="r" b="b"/>
              <a:pathLst>
                <a:path w="7673340" h="1394460">
                  <a:moveTo>
                    <a:pt x="3104388" y="246888"/>
                  </a:moveTo>
                  <a:lnTo>
                    <a:pt x="2543556" y="246888"/>
                  </a:lnTo>
                  <a:lnTo>
                    <a:pt x="2543556" y="0"/>
                  </a:lnTo>
                  <a:lnTo>
                    <a:pt x="0" y="0"/>
                  </a:lnTo>
                  <a:lnTo>
                    <a:pt x="0" y="794004"/>
                  </a:lnTo>
                  <a:lnTo>
                    <a:pt x="2543556" y="794004"/>
                  </a:lnTo>
                  <a:lnTo>
                    <a:pt x="2543556" y="539496"/>
                  </a:lnTo>
                  <a:lnTo>
                    <a:pt x="3104388" y="539496"/>
                  </a:lnTo>
                  <a:lnTo>
                    <a:pt x="3104388" y="246888"/>
                  </a:lnTo>
                  <a:close/>
                </a:path>
                <a:path w="7673340" h="1394460">
                  <a:moveTo>
                    <a:pt x="7673340" y="728472"/>
                  </a:moveTo>
                  <a:lnTo>
                    <a:pt x="5119116" y="728472"/>
                  </a:lnTo>
                  <a:lnTo>
                    <a:pt x="5119116" y="1394460"/>
                  </a:lnTo>
                  <a:lnTo>
                    <a:pt x="7673340" y="1394460"/>
                  </a:lnTo>
                  <a:lnTo>
                    <a:pt x="7673340" y="7284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MCU</a:t>
            </a:r>
            <a:r>
              <a:rPr spc="-75" dirty="0"/>
              <a:t> </a:t>
            </a:r>
            <a:r>
              <a:rPr dirty="0"/>
              <a:t>SYSTEM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38107" y="4619128"/>
            <a:ext cx="267970" cy="488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4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3831" y="3287344"/>
            <a:ext cx="2599690" cy="1348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PUSH</a:t>
            </a:r>
            <a:r>
              <a:rPr sz="24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BUTTONS:</a:t>
            </a:r>
            <a:endParaRPr sz="2400">
              <a:latin typeface="Verdana"/>
              <a:cs typeface="Verdana"/>
            </a:endParaRPr>
          </a:p>
          <a:p>
            <a:pPr marL="917575" marR="911225" indent="-635" algn="ctr">
              <a:lnSpc>
                <a:spcPts val="3700"/>
              </a:lnSpc>
              <a:spcBef>
                <a:spcPts val="235"/>
              </a:spcBef>
            </a:pP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E0  </a:t>
            </a: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E1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8779" y="1947672"/>
            <a:ext cx="3392804" cy="14160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7660" rIns="0" bIns="0" rtlCol="0">
            <a:spAutoFit/>
          </a:bodyPr>
          <a:lstStyle/>
          <a:p>
            <a:pPr marL="295910" algn="ctr">
              <a:lnSpc>
                <a:spcPts val="2825"/>
              </a:lnSpc>
              <a:spcBef>
                <a:spcPts val="258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LEDS</a:t>
            </a:r>
            <a:endParaRPr sz="2400">
              <a:latin typeface="Verdana"/>
              <a:cs typeface="Verdana"/>
            </a:endParaRPr>
          </a:p>
          <a:p>
            <a:pPr marL="295275" algn="ctr">
              <a:lnSpc>
                <a:spcPts val="2825"/>
              </a:lnSpc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PORTD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9547" y="1261109"/>
            <a:ext cx="6588759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PE0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IS</a:t>
            </a:r>
            <a:r>
              <a:rPr sz="30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PRESSED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THEN</a:t>
            </a:r>
            <a:endParaRPr sz="3000">
              <a:latin typeface="Verdana"/>
              <a:cs typeface="Verdana"/>
            </a:endParaRPr>
          </a:p>
          <a:p>
            <a:pPr marL="12700" marR="145415" indent="457200">
              <a:lnSpc>
                <a:spcPct val="100000"/>
              </a:lnSpc>
              <a:tabLst>
                <a:tab pos="1666239" algn="l"/>
              </a:tabLst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TURN	ON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ODD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BITS OF PORTD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ELSE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300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PE1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IS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 PRESSED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THEN</a:t>
            </a:r>
            <a:endParaRPr sz="3000">
              <a:latin typeface="Verdana"/>
              <a:cs typeface="Verdana"/>
            </a:endParaRPr>
          </a:p>
          <a:p>
            <a:pPr marL="12700" marR="5080" indent="457200">
              <a:lnSpc>
                <a:spcPct val="100000"/>
              </a:lnSpc>
              <a:tabLst>
                <a:tab pos="1666239" algn="l"/>
              </a:tabLst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TURN	ON EVEN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BITS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OF PORTD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ELSE</a:t>
            </a:r>
            <a:endParaRPr sz="3000">
              <a:latin typeface="Verdana"/>
              <a:cs typeface="Verdana"/>
            </a:endParaRPr>
          </a:p>
          <a:p>
            <a:pPr marL="12700" marR="195580" indent="457200">
              <a:lnSpc>
                <a:spcPct val="100000"/>
              </a:lnSpc>
              <a:spcBef>
                <a:spcPts val="5"/>
              </a:spcBef>
              <a:tabLst>
                <a:tab pos="1666239" algn="l"/>
              </a:tabLst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TURN	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OFF</a:t>
            </a:r>
            <a:r>
              <a:rPr sz="30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BITS</a:t>
            </a:r>
            <a:r>
              <a:rPr sz="30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PORTD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END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8107" y="4619128"/>
            <a:ext cx="267970" cy="488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4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510" y="308813"/>
            <a:ext cx="32702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E82728"/>
                </a:solidFill>
              </a:rPr>
              <a:t>PSEUDOCODE</a:t>
            </a:r>
            <a:endParaRPr sz="3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9295" y="1079957"/>
            <a:ext cx="264922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735" marR="5080" indent="-116967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FLOWCH</a:t>
            </a:r>
            <a:r>
              <a:rPr sz="3600" spc="-10" dirty="0"/>
              <a:t>A</a:t>
            </a:r>
            <a:r>
              <a:rPr sz="3600" dirty="0"/>
              <a:t>R  T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738107" y="4619128"/>
            <a:ext cx="267970" cy="488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4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40885" y="1712467"/>
            <a:ext cx="1064895" cy="2312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0" dirty="0">
                <a:solidFill>
                  <a:srgbClr val="014EA0"/>
                </a:solidFill>
                <a:latin typeface="Verdana"/>
                <a:cs typeface="Verdana"/>
              </a:rPr>
              <a:t>?</a:t>
            </a:r>
            <a:endParaRPr sz="15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068" y="701040"/>
            <a:ext cx="8818245" cy="3822700"/>
            <a:chOff x="163068" y="701040"/>
            <a:chExt cx="8818245" cy="3822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2403" y="701040"/>
              <a:ext cx="5748528" cy="23301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068" y="2197607"/>
              <a:ext cx="6483096" cy="23256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1477" y="97916"/>
            <a:ext cx="26473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0" marR="5080" indent="-116903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FLOWC</a:t>
            </a:r>
            <a:r>
              <a:rPr sz="3600" spc="-15" dirty="0"/>
              <a:t>H</a:t>
            </a:r>
            <a:r>
              <a:rPr sz="3600" dirty="0"/>
              <a:t>AR  T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738107" y="4619128"/>
            <a:ext cx="267970" cy="488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4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795" y="1292352"/>
            <a:ext cx="8598535" cy="3534410"/>
            <a:chOff x="272795" y="1292352"/>
            <a:chExt cx="8598535" cy="353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95" y="1292352"/>
              <a:ext cx="8598408" cy="35341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0644" y="1994915"/>
              <a:ext cx="8290559" cy="2677795"/>
            </a:xfrm>
            <a:custGeom>
              <a:avLst/>
              <a:gdLst/>
              <a:ahLst/>
              <a:cxnLst/>
              <a:rect l="l" t="t" r="r" b="b"/>
              <a:pathLst>
                <a:path w="8290559" h="2677795">
                  <a:moveTo>
                    <a:pt x="3104388" y="1530096"/>
                  </a:moveTo>
                  <a:lnTo>
                    <a:pt x="2543556" y="1530096"/>
                  </a:lnTo>
                  <a:lnTo>
                    <a:pt x="2543556" y="1281684"/>
                  </a:lnTo>
                  <a:lnTo>
                    <a:pt x="0" y="1281684"/>
                  </a:lnTo>
                  <a:lnTo>
                    <a:pt x="0" y="2077212"/>
                  </a:lnTo>
                  <a:lnTo>
                    <a:pt x="2543556" y="2077212"/>
                  </a:lnTo>
                  <a:lnTo>
                    <a:pt x="2543556" y="1822704"/>
                  </a:lnTo>
                  <a:lnTo>
                    <a:pt x="3104388" y="1822704"/>
                  </a:lnTo>
                  <a:lnTo>
                    <a:pt x="3104388" y="1530096"/>
                  </a:lnTo>
                  <a:close/>
                </a:path>
                <a:path w="8290559" h="2677795">
                  <a:moveTo>
                    <a:pt x="7673340" y="2011680"/>
                  </a:moveTo>
                  <a:lnTo>
                    <a:pt x="5119116" y="2011680"/>
                  </a:lnTo>
                  <a:lnTo>
                    <a:pt x="5119116" y="2677668"/>
                  </a:lnTo>
                  <a:lnTo>
                    <a:pt x="7673340" y="2677668"/>
                  </a:lnTo>
                  <a:lnTo>
                    <a:pt x="7673340" y="2011680"/>
                  </a:lnTo>
                  <a:close/>
                </a:path>
                <a:path w="8290559" h="2677795">
                  <a:moveTo>
                    <a:pt x="8290560" y="0"/>
                  </a:moveTo>
                  <a:lnTo>
                    <a:pt x="4898136" y="0"/>
                  </a:lnTo>
                  <a:lnTo>
                    <a:pt x="4898136" y="1415796"/>
                  </a:lnTo>
                  <a:lnTo>
                    <a:pt x="8290560" y="1415796"/>
                  </a:lnTo>
                  <a:lnTo>
                    <a:pt x="8290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MCU</a:t>
            </a:r>
            <a:r>
              <a:rPr spc="-75" dirty="0"/>
              <a:t> </a:t>
            </a:r>
            <a:r>
              <a:rPr dirty="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3831" y="3334639"/>
            <a:ext cx="259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PUSH</a:t>
            </a:r>
            <a:r>
              <a:rPr sz="2400" spc="-5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E82728"/>
                </a:solidFill>
                <a:latin typeface="Verdana"/>
                <a:cs typeface="Verdana"/>
              </a:rPr>
              <a:t>BUTTONS: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674" y="3698544"/>
            <a:ext cx="8089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A3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674" y="4168546"/>
            <a:ext cx="8083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3200" spc="5" dirty="0">
                <a:solidFill>
                  <a:srgbClr val="E82728"/>
                </a:solidFill>
                <a:latin typeface="Verdana"/>
                <a:cs typeface="Verdana"/>
              </a:rPr>
              <a:t>A</a:t>
            </a:r>
            <a:r>
              <a:rPr sz="3200" dirty="0">
                <a:solidFill>
                  <a:srgbClr val="E82728"/>
                </a:solidFill>
                <a:latin typeface="Verdana"/>
                <a:cs typeface="Verdana"/>
              </a:rPr>
              <a:t>4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8779" y="1994916"/>
            <a:ext cx="3392804" cy="2677795"/>
          </a:xfrm>
          <a:prstGeom prst="rect">
            <a:avLst/>
          </a:prstGeom>
        </p:spPr>
        <p:txBody>
          <a:bodyPr vert="horz" wrap="square" lIns="0" tIns="314960" rIns="0" bIns="0" rtlCol="0">
            <a:spAutoFit/>
          </a:bodyPr>
          <a:lstStyle/>
          <a:p>
            <a:pPr marL="1043940" marR="814069" indent="-311150">
              <a:lnSpc>
                <a:spcPts val="2770"/>
              </a:lnSpc>
              <a:spcBef>
                <a:spcPts val="2480"/>
              </a:spcBef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7</a:t>
            </a:r>
            <a:r>
              <a:rPr sz="2400" dirty="0">
                <a:solidFill>
                  <a:srgbClr val="E82728"/>
                </a:solidFill>
                <a:latin typeface="Verdana"/>
                <a:cs typeface="Verdana"/>
              </a:rPr>
              <a:t>-SEGMENT  </a:t>
            </a: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DISPLAY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84391" y="3102864"/>
            <a:ext cx="2367280" cy="963294"/>
            <a:chOff x="6184391" y="3102864"/>
            <a:chExt cx="2367280" cy="963294"/>
          </a:xfrm>
        </p:grpSpPr>
        <p:sp>
          <p:nvSpPr>
            <p:cNvPr id="11" name="object 11"/>
            <p:cNvSpPr/>
            <p:nvPr/>
          </p:nvSpPr>
          <p:spPr>
            <a:xfrm>
              <a:off x="6184391" y="3102864"/>
              <a:ext cx="2367280" cy="963294"/>
            </a:xfrm>
            <a:custGeom>
              <a:avLst/>
              <a:gdLst/>
              <a:ahLst/>
              <a:cxnLst/>
              <a:rect l="l" t="t" r="r" b="b"/>
              <a:pathLst>
                <a:path w="2367279" h="963295">
                  <a:moveTo>
                    <a:pt x="2366771" y="0"/>
                  </a:moveTo>
                  <a:lnTo>
                    <a:pt x="0" y="0"/>
                  </a:lnTo>
                  <a:lnTo>
                    <a:pt x="0" y="963168"/>
                  </a:lnTo>
                  <a:lnTo>
                    <a:pt x="2366771" y="963168"/>
                  </a:lnTo>
                  <a:lnTo>
                    <a:pt x="2366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9171" y="3308604"/>
              <a:ext cx="339851" cy="6385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1235" y="3308604"/>
              <a:ext cx="339851" cy="6385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0063" y="3305556"/>
              <a:ext cx="339851" cy="6370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2127" y="3308604"/>
              <a:ext cx="339851" cy="63855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738107" y="4619128"/>
            <a:ext cx="267970" cy="488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62978" y="2064257"/>
            <a:ext cx="1862455" cy="908685"/>
          </a:xfrm>
          <a:prstGeom prst="rect">
            <a:avLst/>
          </a:prstGeom>
          <a:ln w="38100">
            <a:solidFill>
              <a:srgbClr val="404040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45"/>
              </a:spcBef>
            </a:pP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SHOW</a:t>
            </a:r>
            <a:r>
              <a:rPr sz="14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“3”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sz="14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endParaRPr sz="1400">
              <a:latin typeface="Verdana"/>
              <a:cs typeface="Verdana"/>
            </a:endParaRPr>
          </a:p>
          <a:p>
            <a:pPr marL="396875" marR="387985" indent="-635" algn="ctr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FIRST TWO </a:t>
            </a:r>
            <a:r>
              <a:rPr sz="1400" spc="-4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49496" y="682751"/>
            <a:ext cx="3688079" cy="1381760"/>
            <a:chOff x="4349496" y="682751"/>
            <a:chExt cx="3688079" cy="1381760"/>
          </a:xfrm>
        </p:grpSpPr>
        <p:sp>
          <p:nvSpPr>
            <p:cNvPr id="4" name="object 4"/>
            <p:cNvSpPr/>
            <p:nvPr/>
          </p:nvSpPr>
          <p:spPr>
            <a:xfrm>
              <a:off x="7064502" y="1335150"/>
              <a:ext cx="973455" cy="728980"/>
            </a:xfrm>
            <a:custGeom>
              <a:avLst/>
              <a:gdLst/>
              <a:ahLst/>
              <a:cxnLst/>
              <a:rect l="l" t="t" r="r" b="b"/>
              <a:pathLst>
                <a:path w="973454" h="728980">
                  <a:moveTo>
                    <a:pt x="915797" y="643128"/>
                  </a:moveTo>
                  <a:lnTo>
                    <a:pt x="887222" y="643128"/>
                  </a:lnTo>
                  <a:lnTo>
                    <a:pt x="930148" y="728853"/>
                  </a:lnTo>
                  <a:lnTo>
                    <a:pt x="965845" y="657351"/>
                  </a:lnTo>
                  <a:lnTo>
                    <a:pt x="915797" y="657351"/>
                  </a:lnTo>
                  <a:lnTo>
                    <a:pt x="915797" y="643128"/>
                  </a:lnTo>
                  <a:close/>
                </a:path>
                <a:path w="973454" h="728980">
                  <a:moveTo>
                    <a:pt x="915797" y="14350"/>
                  </a:moveTo>
                  <a:lnTo>
                    <a:pt x="915797" y="657351"/>
                  </a:lnTo>
                  <a:lnTo>
                    <a:pt x="944372" y="657351"/>
                  </a:lnTo>
                  <a:lnTo>
                    <a:pt x="944372" y="28575"/>
                  </a:lnTo>
                  <a:lnTo>
                    <a:pt x="930148" y="28575"/>
                  </a:lnTo>
                  <a:lnTo>
                    <a:pt x="915797" y="14350"/>
                  </a:lnTo>
                  <a:close/>
                </a:path>
                <a:path w="973454" h="728980">
                  <a:moveTo>
                    <a:pt x="972947" y="643128"/>
                  </a:moveTo>
                  <a:lnTo>
                    <a:pt x="944372" y="643128"/>
                  </a:lnTo>
                  <a:lnTo>
                    <a:pt x="944372" y="657351"/>
                  </a:lnTo>
                  <a:lnTo>
                    <a:pt x="965845" y="657351"/>
                  </a:lnTo>
                  <a:lnTo>
                    <a:pt x="972947" y="643128"/>
                  </a:lnTo>
                  <a:close/>
                </a:path>
                <a:path w="973454" h="728980">
                  <a:moveTo>
                    <a:pt x="938022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915797" y="28575"/>
                  </a:lnTo>
                  <a:lnTo>
                    <a:pt x="915797" y="14350"/>
                  </a:lnTo>
                  <a:lnTo>
                    <a:pt x="944372" y="14350"/>
                  </a:lnTo>
                  <a:lnTo>
                    <a:pt x="944372" y="6476"/>
                  </a:lnTo>
                  <a:lnTo>
                    <a:pt x="938022" y="0"/>
                  </a:lnTo>
                  <a:close/>
                </a:path>
                <a:path w="973454" h="728980">
                  <a:moveTo>
                    <a:pt x="944372" y="14350"/>
                  </a:moveTo>
                  <a:lnTo>
                    <a:pt x="915797" y="14350"/>
                  </a:lnTo>
                  <a:lnTo>
                    <a:pt x="930148" y="28575"/>
                  </a:lnTo>
                  <a:lnTo>
                    <a:pt x="944372" y="28575"/>
                  </a:lnTo>
                  <a:lnTo>
                    <a:pt x="944372" y="14350"/>
                  </a:lnTo>
                  <a:close/>
                </a:path>
              </a:pathLst>
            </a:custGeom>
            <a:solidFill>
              <a:srgbClr val="E82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68546" y="701801"/>
              <a:ext cx="2694940" cy="1295400"/>
            </a:xfrm>
            <a:custGeom>
              <a:avLst/>
              <a:gdLst/>
              <a:ahLst/>
              <a:cxnLst/>
              <a:rect l="l" t="t" r="r" b="b"/>
              <a:pathLst>
                <a:path w="2694940" h="1295400">
                  <a:moveTo>
                    <a:pt x="0" y="647700"/>
                  </a:moveTo>
                  <a:lnTo>
                    <a:pt x="1347215" y="0"/>
                  </a:lnTo>
                  <a:lnTo>
                    <a:pt x="2694431" y="647700"/>
                  </a:lnTo>
                  <a:lnTo>
                    <a:pt x="1347215" y="1295400"/>
                  </a:lnTo>
                  <a:lnTo>
                    <a:pt x="0" y="647700"/>
                  </a:lnTo>
                  <a:close/>
                </a:path>
              </a:pathLst>
            </a:custGeom>
            <a:ln w="38100">
              <a:solidFill>
                <a:srgbClr val="014E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42378" y="1031494"/>
            <a:ext cx="370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E82728"/>
                </a:solidFill>
                <a:latin typeface="Verdana"/>
                <a:cs typeface="Verdana"/>
              </a:rPr>
              <a:t>YES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2991" y="1220215"/>
            <a:ext cx="11468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15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4EA0"/>
                </a:solidFill>
                <a:latin typeface="Verdana"/>
                <a:cs typeface="Verdana"/>
              </a:rPr>
              <a:t>PA3</a:t>
            </a:r>
            <a:r>
              <a:rPr sz="1500" spc="-4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4EA0"/>
                </a:solidFill>
                <a:latin typeface="Verdana"/>
                <a:cs typeface="Verdana"/>
              </a:rPr>
              <a:t>==1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790" y="3432809"/>
            <a:ext cx="1862455" cy="909955"/>
          </a:xfrm>
          <a:prstGeom prst="rect">
            <a:avLst/>
          </a:prstGeom>
          <a:ln w="38100">
            <a:solidFill>
              <a:srgbClr val="404040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393065" marR="387985" indent="34925" algn="just">
              <a:lnSpc>
                <a:spcPct val="100000"/>
              </a:lnSpc>
              <a:spcBef>
                <a:spcPts val="1050"/>
              </a:spcBef>
            </a:pP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SHOW “ - ” </a:t>
            </a:r>
            <a:r>
              <a:rPr sz="1400" spc="-4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1400" spc="-48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13091" y="2051304"/>
            <a:ext cx="3688079" cy="1381760"/>
            <a:chOff x="1113091" y="2051304"/>
            <a:chExt cx="3688079" cy="1381760"/>
          </a:xfrm>
        </p:grpSpPr>
        <p:sp>
          <p:nvSpPr>
            <p:cNvPr id="10" name="object 10"/>
            <p:cNvSpPr/>
            <p:nvPr/>
          </p:nvSpPr>
          <p:spPr>
            <a:xfrm>
              <a:off x="1113091" y="2703703"/>
              <a:ext cx="973455" cy="728980"/>
            </a:xfrm>
            <a:custGeom>
              <a:avLst/>
              <a:gdLst/>
              <a:ahLst/>
              <a:cxnLst/>
              <a:rect l="l" t="t" r="r" b="b"/>
              <a:pathLst>
                <a:path w="973455" h="728979">
                  <a:moveTo>
                    <a:pt x="28575" y="643128"/>
                  </a:moveTo>
                  <a:lnTo>
                    <a:pt x="0" y="643128"/>
                  </a:lnTo>
                  <a:lnTo>
                    <a:pt x="42862" y="728853"/>
                  </a:lnTo>
                  <a:lnTo>
                    <a:pt x="78612" y="657352"/>
                  </a:lnTo>
                  <a:lnTo>
                    <a:pt x="28575" y="657352"/>
                  </a:lnTo>
                  <a:lnTo>
                    <a:pt x="28575" y="643128"/>
                  </a:lnTo>
                  <a:close/>
                </a:path>
                <a:path w="973455" h="728979">
                  <a:moveTo>
                    <a:pt x="973010" y="0"/>
                  </a:moveTo>
                  <a:lnTo>
                    <a:pt x="34975" y="0"/>
                  </a:lnTo>
                  <a:lnTo>
                    <a:pt x="28575" y="6477"/>
                  </a:lnTo>
                  <a:lnTo>
                    <a:pt x="28575" y="657352"/>
                  </a:lnTo>
                  <a:lnTo>
                    <a:pt x="57150" y="657352"/>
                  </a:lnTo>
                  <a:lnTo>
                    <a:pt x="57150" y="28575"/>
                  </a:lnTo>
                  <a:lnTo>
                    <a:pt x="42862" y="28575"/>
                  </a:lnTo>
                  <a:lnTo>
                    <a:pt x="57150" y="14351"/>
                  </a:lnTo>
                  <a:lnTo>
                    <a:pt x="973010" y="14351"/>
                  </a:lnTo>
                  <a:lnTo>
                    <a:pt x="973010" y="0"/>
                  </a:lnTo>
                  <a:close/>
                </a:path>
                <a:path w="973455" h="728979">
                  <a:moveTo>
                    <a:pt x="85725" y="643128"/>
                  </a:moveTo>
                  <a:lnTo>
                    <a:pt x="57150" y="643128"/>
                  </a:lnTo>
                  <a:lnTo>
                    <a:pt x="57150" y="657352"/>
                  </a:lnTo>
                  <a:lnTo>
                    <a:pt x="78612" y="657352"/>
                  </a:lnTo>
                  <a:lnTo>
                    <a:pt x="85725" y="643128"/>
                  </a:lnTo>
                  <a:close/>
                </a:path>
                <a:path w="973455" h="728979">
                  <a:moveTo>
                    <a:pt x="57150" y="14351"/>
                  </a:moveTo>
                  <a:lnTo>
                    <a:pt x="42862" y="28575"/>
                  </a:lnTo>
                  <a:lnTo>
                    <a:pt x="57150" y="28575"/>
                  </a:lnTo>
                  <a:lnTo>
                    <a:pt x="57150" y="14351"/>
                  </a:lnTo>
                  <a:close/>
                </a:path>
                <a:path w="973455" h="728979">
                  <a:moveTo>
                    <a:pt x="973010" y="14351"/>
                  </a:moveTo>
                  <a:lnTo>
                    <a:pt x="57150" y="14351"/>
                  </a:lnTo>
                  <a:lnTo>
                    <a:pt x="57150" y="28575"/>
                  </a:lnTo>
                  <a:lnTo>
                    <a:pt x="973010" y="28575"/>
                  </a:lnTo>
                  <a:lnTo>
                    <a:pt x="973010" y="14351"/>
                  </a:lnTo>
                  <a:close/>
                </a:path>
              </a:pathLst>
            </a:custGeom>
            <a:solidFill>
              <a:srgbClr val="E82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7117" y="2070354"/>
              <a:ext cx="2694940" cy="1295400"/>
            </a:xfrm>
            <a:custGeom>
              <a:avLst/>
              <a:gdLst/>
              <a:ahLst/>
              <a:cxnLst/>
              <a:rect l="l" t="t" r="r" b="b"/>
              <a:pathLst>
                <a:path w="2694940" h="1295400">
                  <a:moveTo>
                    <a:pt x="2694432" y="647700"/>
                  </a:moveTo>
                  <a:lnTo>
                    <a:pt x="1347216" y="0"/>
                  </a:lnTo>
                  <a:lnTo>
                    <a:pt x="0" y="647700"/>
                  </a:lnTo>
                  <a:lnTo>
                    <a:pt x="1347216" y="1295400"/>
                  </a:lnTo>
                  <a:lnTo>
                    <a:pt x="2694432" y="647700"/>
                  </a:lnTo>
                  <a:close/>
                </a:path>
              </a:pathLst>
            </a:custGeom>
            <a:ln w="38100">
              <a:solidFill>
                <a:srgbClr val="014E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68627" y="2400681"/>
            <a:ext cx="3009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solidFill>
                  <a:srgbClr val="E82728"/>
                </a:solidFill>
                <a:latin typeface="Verdana"/>
                <a:cs typeface="Verdana"/>
              </a:rPr>
              <a:t>NO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60675" y="2589657"/>
            <a:ext cx="11468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15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4EA0"/>
                </a:solidFill>
                <a:latin typeface="Verdana"/>
                <a:cs typeface="Verdana"/>
              </a:rPr>
              <a:t>PA4</a:t>
            </a:r>
            <a:r>
              <a:rPr sz="1500" spc="-4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4EA0"/>
                </a:solidFill>
                <a:latin typeface="Verdana"/>
                <a:cs typeface="Verdana"/>
              </a:rPr>
              <a:t>==1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94455" y="1341246"/>
            <a:ext cx="2360295" cy="2091689"/>
          </a:xfrm>
          <a:custGeom>
            <a:avLst/>
            <a:gdLst/>
            <a:ahLst/>
            <a:cxnLst/>
            <a:rect l="l" t="t" r="r" b="b"/>
            <a:pathLst>
              <a:path w="2360295" h="2091689">
                <a:moveTo>
                  <a:pt x="973074" y="0"/>
                </a:moveTo>
                <a:lnTo>
                  <a:pt x="35052" y="0"/>
                </a:lnTo>
                <a:lnTo>
                  <a:pt x="28575" y="6477"/>
                </a:lnTo>
                <a:lnTo>
                  <a:pt x="28575" y="643128"/>
                </a:lnTo>
                <a:lnTo>
                  <a:pt x="0" y="643128"/>
                </a:lnTo>
                <a:lnTo>
                  <a:pt x="42926" y="728853"/>
                </a:lnTo>
                <a:lnTo>
                  <a:pt x="78613" y="657352"/>
                </a:lnTo>
                <a:lnTo>
                  <a:pt x="85725" y="643128"/>
                </a:lnTo>
                <a:lnTo>
                  <a:pt x="57150" y="643128"/>
                </a:lnTo>
                <a:lnTo>
                  <a:pt x="57150" y="28575"/>
                </a:lnTo>
                <a:lnTo>
                  <a:pt x="973074" y="28575"/>
                </a:lnTo>
                <a:lnTo>
                  <a:pt x="973074" y="14351"/>
                </a:lnTo>
                <a:lnTo>
                  <a:pt x="973074" y="0"/>
                </a:lnTo>
                <a:close/>
              </a:path>
              <a:path w="2360295" h="2091689">
                <a:moveTo>
                  <a:pt x="2360041" y="2005584"/>
                </a:moveTo>
                <a:lnTo>
                  <a:pt x="2331466" y="2005584"/>
                </a:lnTo>
                <a:lnTo>
                  <a:pt x="2331466" y="1391031"/>
                </a:lnTo>
                <a:lnTo>
                  <a:pt x="2331466" y="1376807"/>
                </a:lnTo>
                <a:lnTo>
                  <a:pt x="2331466" y="1368933"/>
                </a:lnTo>
                <a:lnTo>
                  <a:pt x="2325116" y="1362456"/>
                </a:lnTo>
                <a:lnTo>
                  <a:pt x="1387094" y="1362456"/>
                </a:lnTo>
                <a:lnTo>
                  <a:pt x="1387094" y="1391031"/>
                </a:lnTo>
                <a:lnTo>
                  <a:pt x="2302891" y="1391031"/>
                </a:lnTo>
                <a:lnTo>
                  <a:pt x="2302891" y="2005584"/>
                </a:lnTo>
                <a:lnTo>
                  <a:pt x="2274316" y="2005584"/>
                </a:lnTo>
                <a:lnTo>
                  <a:pt x="2317242" y="2091309"/>
                </a:lnTo>
                <a:lnTo>
                  <a:pt x="2352929" y="2019808"/>
                </a:lnTo>
                <a:lnTo>
                  <a:pt x="2360041" y="2005584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81550" y="3432809"/>
            <a:ext cx="1862455" cy="909955"/>
          </a:xfrm>
          <a:prstGeom prst="rect">
            <a:avLst/>
          </a:prstGeom>
          <a:ln w="38100">
            <a:solidFill>
              <a:srgbClr val="404040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99695" marR="93345" algn="ctr">
              <a:lnSpc>
                <a:spcPct val="100000"/>
              </a:lnSpc>
              <a:spcBef>
                <a:spcPts val="1050"/>
              </a:spcBef>
            </a:pP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SHOW</a:t>
            </a:r>
            <a:r>
              <a:rPr sz="14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“E”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sz="14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1400" spc="-4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LAST</a:t>
            </a:r>
            <a:r>
              <a:rPr sz="14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TWO</a:t>
            </a:r>
            <a:endParaRPr sz="14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38107" y="4619128"/>
            <a:ext cx="267970" cy="488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59807" y="2400681"/>
            <a:ext cx="370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E82728"/>
                </a:solidFill>
                <a:latin typeface="Verdana"/>
                <a:cs typeface="Verdana"/>
              </a:rPr>
              <a:t>YES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56786" y="1033399"/>
            <a:ext cx="3009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solidFill>
                  <a:srgbClr val="E82728"/>
                </a:solidFill>
                <a:latin typeface="Verdana"/>
                <a:cs typeface="Verdana"/>
              </a:rPr>
              <a:t>NO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41477" y="97916"/>
            <a:ext cx="26473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0" marR="5080" indent="-116903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FLOWC</a:t>
            </a:r>
            <a:r>
              <a:rPr sz="3600" spc="-15" dirty="0"/>
              <a:t>H</a:t>
            </a:r>
            <a:r>
              <a:rPr sz="3600" dirty="0"/>
              <a:t>AR  T</a:t>
            </a:r>
            <a:endParaRPr sz="3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795" y="1139952"/>
            <a:ext cx="8598535" cy="3534410"/>
            <a:chOff x="272795" y="1139952"/>
            <a:chExt cx="8598535" cy="353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95" y="1139952"/>
              <a:ext cx="8598408" cy="35341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0644" y="1840991"/>
              <a:ext cx="8290559" cy="2677795"/>
            </a:xfrm>
            <a:custGeom>
              <a:avLst/>
              <a:gdLst/>
              <a:ahLst/>
              <a:cxnLst/>
              <a:rect l="l" t="t" r="r" b="b"/>
              <a:pathLst>
                <a:path w="8290559" h="2677795">
                  <a:moveTo>
                    <a:pt x="3104388" y="1530096"/>
                  </a:moveTo>
                  <a:lnTo>
                    <a:pt x="2543556" y="1530096"/>
                  </a:lnTo>
                  <a:lnTo>
                    <a:pt x="2543556" y="1283208"/>
                  </a:lnTo>
                  <a:lnTo>
                    <a:pt x="0" y="1283208"/>
                  </a:lnTo>
                  <a:lnTo>
                    <a:pt x="0" y="2077212"/>
                  </a:lnTo>
                  <a:lnTo>
                    <a:pt x="2543556" y="2077212"/>
                  </a:lnTo>
                  <a:lnTo>
                    <a:pt x="2543556" y="1822704"/>
                  </a:lnTo>
                  <a:lnTo>
                    <a:pt x="3104388" y="1822704"/>
                  </a:lnTo>
                  <a:lnTo>
                    <a:pt x="3104388" y="1530096"/>
                  </a:lnTo>
                  <a:close/>
                </a:path>
                <a:path w="8290559" h="2677795">
                  <a:moveTo>
                    <a:pt x="7673340" y="2011680"/>
                  </a:moveTo>
                  <a:lnTo>
                    <a:pt x="5119116" y="2011680"/>
                  </a:lnTo>
                  <a:lnTo>
                    <a:pt x="5119116" y="2677668"/>
                  </a:lnTo>
                  <a:lnTo>
                    <a:pt x="7673340" y="2677668"/>
                  </a:lnTo>
                  <a:lnTo>
                    <a:pt x="7673340" y="2011680"/>
                  </a:lnTo>
                  <a:close/>
                </a:path>
                <a:path w="8290559" h="2677795">
                  <a:moveTo>
                    <a:pt x="8290560" y="0"/>
                  </a:moveTo>
                  <a:lnTo>
                    <a:pt x="4898136" y="0"/>
                  </a:lnTo>
                  <a:lnTo>
                    <a:pt x="4898136" y="1415796"/>
                  </a:lnTo>
                  <a:lnTo>
                    <a:pt x="8290560" y="1415796"/>
                  </a:lnTo>
                  <a:lnTo>
                    <a:pt x="8290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MCU</a:t>
            </a:r>
            <a:r>
              <a:rPr spc="-75" dirty="0"/>
              <a:t> </a:t>
            </a:r>
            <a:r>
              <a:rPr dirty="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0234" y="3180969"/>
            <a:ext cx="1649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82728"/>
                </a:solidFill>
                <a:latin typeface="Verdana"/>
                <a:cs typeface="Verdana"/>
              </a:rPr>
              <a:t>BUTTONS: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644" y="3663696"/>
            <a:ext cx="2543810" cy="2546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R="229870" algn="ctr">
              <a:lnSpc>
                <a:spcPts val="1950"/>
              </a:lnSpc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PB7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7225" y="3912819"/>
            <a:ext cx="612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B</a:t>
            </a:r>
            <a:r>
              <a:rPr sz="2400" dirty="0">
                <a:solidFill>
                  <a:srgbClr val="E82728"/>
                </a:solidFill>
                <a:latin typeface="Verdana"/>
                <a:cs typeface="Verdana"/>
              </a:rPr>
              <a:t>6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21808" y="2990088"/>
            <a:ext cx="3176270" cy="963294"/>
          </a:xfrm>
          <a:custGeom>
            <a:avLst/>
            <a:gdLst/>
            <a:ahLst/>
            <a:cxnLst/>
            <a:rect l="l" t="t" r="r" b="b"/>
            <a:pathLst>
              <a:path w="3176270" h="963295">
                <a:moveTo>
                  <a:pt x="3176016" y="0"/>
                </a:moveTo>
                <a:lnTo>
                  <a:pt x="0" y="0"/>
                </a:lnTo>
                <a:lnTo>
                  <a:pt x="0" y="963168"/>
                </a:lnTo>
                <a:lnTo>
                  <a:pt x="3176016" y="963168"/>
                </a:lnTo>
                <a:lnTo>
                  <a:pt x="31760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21808" y="1840992"/>
            <a:ext cx="3549650" cy="267779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3600">
              <a:latin typeface="Times New Roman"/>
              <a:cs typeface="Times New Roman"/>
            </a:endParaRPr>
          </a:p>
          <a:p>
            <a:pPr marL="1461135" marR="1043305" indent="1270" algn="ctr">
              <a:lnSpc>
                <a:spcPts val="2770"/>
              </a:lnSpc>
            </a:pPr>
            <a:r>
              <a:rPr sz="2400" dirty="0">
                <a:solidFill>
                  <a:srgbClr val="E82728"/>
                </a:solidFill>
                <a:latin typeface="Verdana"/>
                <a:cs typeface="Verdana"/>
              </a:rPr>
              <a:t>LEDS </a:t>
            </a:r>
            <a:r>
              <a:rPr sz="2400" spc="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PORTC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700">
              <a:latin typeface="Verdana"/>
              <a:cs typeface="Verdana"/>
            </a:endParaRPr>
          </a:p>
          <a:p>
            <a:pPr marL="306070" algn="ctr">
              <a:lnSpc>
                <a:spcPts val="2825"/>
              </a:lnSpc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7-SEGMENT</a:t>
            </a:r>
            <a:endParaRPr sz="2400">
              <a:latin typeface="Verdana"/>
              <a:cs typeface="Verdana"/>
            </a:endParaRPr>
          </a:p>
          <a:p>
            <a:pPr marL="411480" algn="ctr">
              <a:lnSpc>
                <a:spcPts val="2825"/>
              </a:lnSpc>
            </a:pPr>
            <a:r>
              <a:rPr sz="2400" spc="-5" dirty="0">
                <a:solidFill>
                  <a:srgbClr val="E82728"/>
                </a:solidFill>
                <a:latin typeface="Verdana"/>
                <a:cs typeface="Verdana"/>
              </a:rPr>
              <a:t>DISPLAY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21808" y="2677667"/>
            <a:ext cx="1370330" cy="1220470"/>
          </a:xfrm>
          <a:custGeom>
            <a:avLst/>
            <a:gdLst/>
            <a:ahLst/>
            <a:cxnLst/>
            <a:rect l="l" t="t" r="r" b="b"/>
            <a:pathLst>
              <a:path w="1370329" h="1220470">
                <a:moveTo>
                  <a:pt x="1370330" y="38100"/>
                </a:moveTo>
                <a:lnTo>
                  <a:pt x="1357630" y="31750"/>
                </a:lnTo>
                <a:lnTo>
                  <a:pt x="1294130" y="0"/>
                </a:lnTo>
                <a:lnTo>
                  <a:pt x="1294130" y="31750"/>
                </a:lnTo>
                <a:lnTo>
                  <a:pt x="454787" y="31750"/>
                </a:lnTo>
                <a:lnTo>
                  <a:pt x="451866" y="34544"/>
                </a:lnTo>
                <a:lnTo>
                  <a:pt x="451866" y="753872"/>
                </a:lnTo>
                <a:lnTo>
                  <a:pt x="0" y="753872"/>
                </a:lnTo>
                <a:lnTo>
                  <a:pt x="0" y="766572"/>
                </a:lnTo>
                <a:lnTo>
                  <a:pt x="7620" y="766572"/>
                </a:lnTo>
                <a:lnTo>
                  <a:pt x="7620" y="766826"/>
                </a:lnTo>
                <a:lnTo>
                  <a:pt x="455676" y="766826"/>
                </a:lnTo>
                <a:lnTo>
                  <a:pt x="455676" y="1185672"/>
                </a:lnTo>
                <a:lnTo>
                  <a:pt x="458470" y="1188466"/>
                </a:lnTo>
                <a:lnTo>
                  <a:pt x="840105" y="1188466"/>
                </a:lnTo>
                <a:lnTo>
                  <a:pt x="840105" y="1220266"/>
                </a:lnTo>
                <a:lnTo>
                  <a:pt x="903617" y="1188466"/>
                </a:lnTo>
                <a:lnTo>
                  <a:pt x="916305" y="1182116"/>
                </a:lnTo>
                <a:lnTo>
                  <a:pt x="903605" y="1175766"/>
                </a:lnTo>
                <a:lnTo>
                  <a:pt x="840105" y="1144016"/>
                </a:lnTo>
                <a:lnTo>
                  <a:pt x="840105" y="1175766"/>
                </a:lnTo>
                <a:lnTo>
                  <a:pt x="468376" y="1175766"/>
                </a:lnTo>
                <a:lnTo>
                  <a:pt x="468376" y="766826"/>
                </a:lnTo>
                <a:lnTo>
                  <a:pt x="468376" y="760476"/>
                </a:lnTo>
                <a:lnTo>
                  <a:pt x="468376" y="756920"/>
                </a:lnTo>
                <a:lnTo>
                  <a:pt x="465455" y="754126"/>
                </a:lnTo>
                <a:lnTo>
                  <a:pt x="464566" y="754126"/>
                </a:lnTo>
                <a:lnTo>
                  <a:pt x="464566" y="753872"/>
                </a:lnTo>
                <a:lnTo>
                  <a:pt x="464566" y="44450"/>
                </a:lnTo>
                <a:lnTo>
                  <a:pt x="1294130" y="44450"/>
                </a:lnTo>
                <a:lnTo>
                  <a:pt x="1294130" y="76200"/>
                </a:lnTo>
                <a:lnTo>
                  <a:pt x="1357630" y="44450"/>
                </a:lnTo>
                <a:lnTo>
                  <a:pt x="1370330" y="38100"/>
                </a:lnTo>
                <a:close/>
              </a:path>
            </a:pathLst>
          </a:custGeom>
          <a:solidFill>
            <a:srgbClr val="014E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38107" y="4619128"/>
            <a:ext cx="267970" cy="488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6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62978" y="2064257"/>
            <a:ext cx="1862455" cy="1301750"/>
          </a:xfrm>
          <a:prstGeom prst="rect">
            <a:avLst/>
          </a:prstGeom>
          <a:ln w="38100">
            <a:solidFill>
              <a:srgbClr val="40404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102235" marR="95250" algn="ctr">
              <a:lnSpc>
                <a:spcPct val="100000"/>
              </a:lnSpc>
              <a:spcBef>
                <a:spcPts val="910"/>
              </a:spcBef>
            </a:pP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SHOW</a:t>
            </a:r>
            <a:r>
              <a:rPr sz="14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“P”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sz="14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1400" spc="-4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404040"/>
                </a:solidFill>
                <a:latin typeface="Verdana"/>
                <a:cs typeface="Verdana"/>
              </a:rPr>
              <a:t>2</a:t>
            </a:r>
            <a:r>
              <a:rPr sz="1350" spc="22" baseline="24691" dirty="0">
                <a:solidFill>
                  <a:srgbClr val="404040"/>
                </a:solidFill>
                <a:latin typeface="Verdana"/>
                <a:cs typeface="Verdana"/>
              </a:rPr>
              <a:t>ND</a:t>
            </a:r>
            <a:r>
              <a:rPr sz="1350" spc="240" baseline="24691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10" dirty="0">
                <a:solidFill>
                  <a:srgbClr val="404040"/>
                </a:solidFill>
                <a:latin typeface="Verdana"/>
                <a:cs typeface="Verdana"/>
              </a:rPr>
              <a:t>3</a:t>
            </a:r>
            <a:r>
              <a:rPr sz="1350" spc="15" baseline="24691" dirty="0">
                <a:solidFill>
                  <a:srgbClr val="404040"/>
                </a:solidFill>
                <a:latin typeface="Verdana"/>
                <a:cs typeface="Verdana"/>
              </a:rPr>
              <a:t>RD</a:t>
            </a:r>
            <a:endParaRPr sz="1350" baseline="24691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PORTC</a:t>
            </a:r>
            <a:r>
              <a:rPr sz="14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=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0x0F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49496" y="682751"/>
            <a:ext cx="3688079" cy="1381760"/>
            <a:chOff x="4349496" y="682751"/>
            <a:chExt cx="3688079" cy="1381760"/>
          </a:xfrm>
        </p:grpSpPr>
        <p:sp>
          <p:nvSpPr>
            <p:cNvPr id="4" name="object 4"/>
            <p:cNvSpPr/>
            <p:nvPr/>
          </p:nvSpPr>
          <p:spPr>
            <a:xfrm>
              <a:off x="7064502" y="1335150"/>
              <a:ext cx="973455" cy="728980"/>
            </a:xfrm>
            <a:custGeom>
              <a:avLst/>
              <a:gdLst/>
              <a:ahLst/>
              <a:cxnLst/>
              <a:rect l="l" t="t" r="r" b="b"/>
              <a:pathLst>
                <a:path w="973454" h="728980">
                  <a:moveTo>
                    <a:pt x="915797" y="643128"/>
                  </a:moveTo>
                  <a:lnTo>
                    <a:pt x="887222" y="643128"/>
                  </a:lnTo>
                  <a:lnTo>
                    <a:pt x="930148" y="728853"/>
                  </a:lnTo>
                  <a:lnTo>
                    <a:pt x="965845" y="657351"/>
                  </a:lnTo>
                  <a:lnTo>
                    <a:pt x="915797" y="657351"/>
                  </a:lnTo>
                  <a:lnTo>
                    <a:pt x="915797" y="643128"/>
                  </a:lnTo>
                  <a:close/>
                </a:path>
                <a:path w="973454" h="728980">
                  <a:moveTo>
                    <a:pt x="915797" y="14350"/>
                  </a:moveTo>
                  <a:lnTo>
                    <a:pt x="915797" y="657351"/>
                  </a:lnTo>
                  <a:lnTo>
                    <a:pt x="944372" y="657351"/>
                  </a:lnTo>
                  <a:lnTo>
                    <a:pt x="944372" y="28575"/>
                  </a:lnTo>
                  <a:lnTo>
                    <a:pt x="930148" y="28575"/>
                  </a:lnTo>
                  <a:lnTo>
                    <a:pt x="915797" y="14350"/>
                  </a:lnTo>
                  <a:close/>
                </a:path>
                <a:path w="973454" h="728980">
                  <a:moveTo>
                    <a:pt x="972947" y="643128"/>
                  </a:moveTo>
                  <a:lnTo>
                    <a:pt x="944372" y="643128"/>
                  </a:lnTo>
                  <a:lnTo>
                    <a:pt x="944372" y="657351"/>
                  </a:lnTo>
                  <a:lnTo>
                    <a:pt x="965845" y="657351"/>
                  </a:lnTo>
                  <a:lnTo>
                    <a:pt x="972947" y="643128"/>
                  </a:lnTo>
                  <a:close/>
                </a:path>
                <a:path w="973454" h="728980">
                  <a:moveTo>
                    <a:pt x="938022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915797" y="28575"/>
                  </a:lnTo>
                  <a:lnTo>
                    <a:pt x="915797" y="14350"/>
                  </a:lnTo>
                  <a:lnTo>
                    <a:pt x="944372" y="14350"/>
                  </a:lnTo>
                  <a:lnTo>
                    <a:pt x="944372" y="6476"/>
                  </a:lnTo>
                  <a:lnTo>
                    <a:pt x="938022" y="0"/>
                  </a:lnTo>
                  <a:close/>
                </a:path>
                <a:path w="973454" h="728980">
                  <a:moveTo>
                    <a:pt x="944372" y="14350"/>
                  </a:moveTo>
                  <a:lnTo>
                    <a:pt x="915797" y="14350"/>
                  </a:lnTo>
                  <a:lnTo>
                    <a:pt x="930148" y="28575"/>
                  </a:lnTo>
                  <a:lnTo>
                    <a:pt x="944372" y="28575"/>
                  </a:lnTo>
                  <a:lnTo>
                    <a:pt x="944372" y="14350"/>
                  </a:lnTo>
                  <a:close/>
                </a:path>
              </a:pathLst>
            </a:custGeom>
            <a:solidFill>
              <a:srgbClr val="E82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68546" y="701801"/>
              <a:ext cx="2694940" cy="1295400"/>
            </a:xfrm>
            <a:custGeom>
              <a:avLst/>
              <a:gdLst/>
              <a:ahLst/>
              <a:cxnLst/>
              <a:rect l="l" t="t" r="r" b="b"/>
              <a:pathLst>
                <a:path w="2694940" h="1295400">
                  <a:moveTo>
                    <a:pt x="0" y="647700"/>
                  </a:moveTo>
                  <a:lnTo>
                    <a:pt x="1347215" y="0"/>
                  </a:lnTo>
                  <a:lnTo>
                    <a:pt x="2694431" y="647700"/>
                  </a:lnTo>
                  <a:lnTo>
                    <a:pt x="1347215" y="1295400"/>
                  </a:lnTo>
                  <a:lnTo>
                    <a:pt x="0" y="647700"/>
                  </a:lnTo>
                  <a:close/>
                </a:path>
              </a:pathLst>
            </a:custGeom>
            <a:ln w="38100">
              <a:solidFill>
                <a:srgbClr val="014E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42378" y="1031494"/>
            <a:ext cx="370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E82728"/>
                </a:solidFill>
                <a:latin typeface="Verdana"/>
                <a:cs typeface="Verdana"/>
              </a:rPr>
              <a:t>YES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2991" y="1220215"/>
            <a:ext cx="11468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15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14EA0"/>
                </a:solidFill>
                <a:latin typeface="Verdana"/>
                <a:cs typeface="Verdana"/>
              </a:rPr>
              <a:t>PB7</a:t>
            </a:r>
            <a:r>
              <a:rPr sz="15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4EA0"/>
                </a:solidFill>
                <a:latin typeface="Verdana"/>
                <a:cs typeface="Verdana"/>
              </a:rPr>
              <a:t>==1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790" y="3432809"/>
            <a:ext cx="1862455" cy="909955"/>
          </a:xfrm>
          <a:prstGeom prst="rect">
            <a:avLst/>
          </a:prstGeom>
          <a:ln w="38100">
            <a:solidFill>
              <a:srgbClr val="40404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42900" marR="339725" indent="13398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TURN OFF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EVERYTHI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NG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13091" y="2051304"/>
            <a:ext cx="3688079" cy="1381760"/>
            <a:chOff x="1113091" y="2051304"/>
            <a:chExt cx="3688079" cy="1381760"/>
          </a:xfrm>
        </p:grpSpPr>
        <p:sp>
          <p:nvSpPr>
            <p:cNvPr id="10" name="object 10"/>
            <p:cNvSpPr/>
            <p:nvPr/>
          </p:nvSpPr>
          <p:spPr>
            <a:xfrm>
              <a:off x="1113091" y="2703703"/>
              <a:ext cx="973455" cy="728980"/>
            </a:xfrm>
            <a:custGeom>
              <a:avLst/>
              <a:gdLst/>
              <a:ahLst/>
              <a:cxnLst/>
              <a:rect l="l" t="t" r="r" b="b"/>
              <a:pathLst>
                <a:path w="973455" h="728979">
                  <a:moveTo>
                    <a:pt x="28575" y="643128"/>
                  </a:moveTo>
                  <a:lnTo>
                    <a:pt x="0" y="643128"/>
                  </a:lnTo>
                  <a:lnTo>
                    <a:pt x="42862" y="728853"/>
                  </a:lnTo>
                  <a:lnTo>
                    <a:pt x="78612" y="657352"/>
                  </a:lnTo>
                  <a:lnTo>
                    <a:pt x="28575" y="657352"/>
                  </a:lnTo>
                  <a:lnTo>
                    <a:pt x="28575" y="643128"/>
                  </a:lnTo>
                  <a:close/>
                </a:path>
                <a:path w="973455" h="728979">
                  <a:moveTo>
                    <a:pt x="973010" y="0"/>
                  </a:moveTo>
                  <a:lnTo>
                    <a:pt x="34975" y="0"/>
                  </a:lnTo>
                  <a:lnTo>
                    <a:pt x="28575" y="6477"/>
                  </a:lnTo>
                  <a:lnTo>
                    <a:pt x="28575" y="657352"/>
                  </a:lnTo>
                  <a:lnTo>
                    <a:pt x="57150" y="657352"/>
                  </a:lnTo>
                  <a:lnTo>
                    <a:pt x="57150" y="28575"/>
                  </a:lnTo>
                  <a:lnTo>
                    <a:pt x="42862" y="28575"/>
                  </a:lnTo>
                  <a:lnTo>
                    <a:pt x="57150" y="14351"/>
                  </a:lnTo>
                  <a:lnTo>
                    <a:pt x="973010" y="14351"/>
                  </a:lnTo>
                  <a:lnTo>
                    <a:pt x="973010" y="0"/>
                  </a:lnTo>
                  <a:close/>
                </a:path>
                <a:path w="973455" h="728979">
                  <a:moveTo>
                    <a:pt x="85725" y="643128"/>
                  </a:moveTo>
                  <a:lnTo>
                    <a:pt x="57150" y="643128"/>
                  </a:lnTo>
                  <a:lnTo>
                    <a:pt x="57150" y="657352"/>
                  </a:lnTo>
                  <a:lnTo>
                    <a:pt x="78612" y="657352"/>
                  </a:lnTo>
                  <a:lnTo>
                    <a:pt x="85725" y="643128"/>
                  </a:lnTo>
                  <a:close/>
                </a:path>
                <a:path w="973455" h="728979">
                  <a:moveTo>
                    <a:pt x="57150" y="14351"/>
                  </a:moveTo>
                  <a:lnTo>
                    <a:pt x="42862" y="28575"/>
                  </a:lnTo>
                  <a:lnTo>
                    <a:pt x="57150" y="28575"/>
                  </a:lnTo>
                  <a:lnTo>
                    <a:pt x="57150" y="14351"/>
                  </a:lnTo>
                  <a:close/>
                </a:path>
                <a:path w="973455" h="728979">
                  <a:moveTo>
                    <a:pt x="973010" y="14351"/>
                  </a:moveTo>
                  <a:lnTo>
                    <a:pt x="57150" y="14351"/>
                  </a:lnTo>
                  <a:lnTo>
                    <a:pt x="57150" y="28575"/>
                  </a:lnTo>
                  <a:lnTo>
                    <a:pt x="973010" y="28575"/>
                  </a:lnTo>
                  <a:lnTo>
                    <a:pt x="973010" y="14351"/>
                  </a:lnTo>
                  <a:close/>
                </a:path>
              </a:pathLst>
            </a:custGeom>
            <a:solidFill>
              <a:srgbClr val="E82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7117" y="2070354"/>
              <a:ext cx="2694940" cy="1295400"/>
            </a:xfrm>
            <a:custGeom>
              <a:avLst/>
              <a:gdLst/>
              <a:ahLst/>
              <a:cxnLst/>
              <a:rect l="l" t="t" r="r" b="b"/>
              <a:pathLst>
                <a:path w="2694940" h="1295400">
                  <a:moveTo>
                    <a:pt x="2694432" y="647700"/>
                  </a:moveTo>
                  <a:lnTo>
                    <a:pt x="1347216" y="0"/>
                  </a:lnTo>
                  <a:lnTo>
                    <a:pt x="0" y="647700"/>
                  </a:lnTo>
                  <a:lnTo>
                    <a:pt x="1347216" y="1295400"/>
                  </a:lnTo>
                  <a:lnTo>
                    <a:pt x="2694432" y="647700"/>
                  </a:lnTo>
                  <a:close/>
                </a:path>
              </a:pathLst>
            </a:custGeom>
            <a:ln w="38100">
              <a:solidFill>
                <a:srgbClr val="014E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68627" y="2400681"/>
            <a:ext cx="3009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solidFill>
                  <a:srgbClr val="E82728"/>
                </a:solidFill>
                <a:latin typeface="Verdana"/>
                <a:cs typeface="Verdana"/>
              </a:rPr>
              <a:t>NO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60675" y="2589657"/>
            <a:ext cx="11468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15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14EA0"/>
                </a:solidFill>
                <a:latin typeface="Verdana"/>
                <a:cs typeface="Verdana"/>
              </a:rPr>
              <a:t>PB6</a:t>
            </a:r>
            <a:r>
              <a:rPr sz="15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14EA0"/>
                </a:solidFill>
                <a:latin typeface="Verdana"/>
                <a:cs typeface="Verdana"/>
              </a:rPr>
              <a:t>==1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94455" y="1341246"/>
            <a:ext cx="2360295" cy="2091689"/>
          </a:xfrm>
          <a:custGeom>
            <a:avLst/>
            <a:gdLst/>
            <a:ahLst/>
            <a:cxnLst/>
            <a:rect l="l" t="t" r="r" b="b"/>
            <a:pathLst>
              <a:path w="2360295" h="2091689">
                <a:moveTo>
                  <a:pt x="973074" y="0"/>
                </a:moveTo>
                <a:lnTo>
                  <a:pt x="35052" y="0"/>
                </a:lnTo>
                <a:lnTo>
                  <a:pt x="28575" y="6477"/>
                </a:lnTo>
                <a:lnTo>
                  <a:pt x="28575" y="643128"/>
                </a:lnTo>
                <a:lnTo>
                  <a:pt x="0" y="643128"/>
                </a:lnTo>
                <a:lnTo>
                  <a:pt x="42926" y="728853"/>
                </a:lnTo>
                <a:lnTo>
                  <a:pt x="78613" y="657352"/>
                </a:lnTo>
                <a:lnTo>
                  <a:pt x="85725" y="643128"/>
                </a:lnTo>
                <a:lnTo>
                  <a:pt x="57150" y="643128"/>
                </a:lnTo>
                <a:lnTo>
                  <a:pt x="57150" y="28575"/>
                </a:lnTo>
                <a:lnTo>
                  <a:pt x="973074" y="28575"/>
                </a:lnTo>
                <a:lnTo>
                  <a:pt x="973074" y="14351"/>
                </a:lnTo>
                <a:lnTo>
                  <a:pt x="973074" y="0"/>
                </a:lnTo>
                <a:close/>
              </a:path>
              <a:path w="2360295" h="2091689">
                <a:moveTo>
                  <a:pt x="2360041" y="2005584"/>
                </a:moveTo>
                <a:lnTo>
                  <a:pt x="2331466" y="2005584"/>
                </a:lnTo>
                <a:lnTo>
                  <a:pt x="2331466" y="1391031"/>
                </a:lnTo>
                <a:lnTo>
                  <a:pt x="2331466" y="1376807"/>
                </a:lnTo>
                <a:lnTo>
                  <a:pt x="2331466" y="1368933"/>
                </a:lnTo>
                <a:lnTo>
                  <a:pt x="2325116" y="1362456"/>
                </a:lnTo>
                <a:lnTo>
                  <a:pt x="1387094" y="1362456"/>
                </a:lnTo>
                <a:lnTo>
                  <a:pt x="1387094" y="1391031"/>
                </a:lnTo>
                <a:lnTo>
                  <a:pt x="2302891" y="1391031"/>
                </a:lnTo>
                <a:lnTo>
                  <a:pt x="2302891" y="2005584"/>
                </a:lnTo>
                <a:lnTo>
                  <a:pt x="2274316" y="2005584"/>
                </a:lnTo>
                <a:lnTo>
                  <a:pt x="2317242" y="2091309"/>
                </a:lnTo>
                <a:lnTo>
                  <a:pt x="2352929" y="2019808"/>
                </a:lnTo>
                <a:lnTo>
                  <a:pt x="2360041" y="2005584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81550" y="3432809"/>
            <a:ext cx="1862455" cy="1287780"/>
          </a:xfrm>
          <a:prstGeom prst="rect">
            <a:avLst/>
          </a:prstGeom>
          <a:ln w="38100">
            <a:solidFill>
              <a:srgbClr val="404040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99695" marR="94615" algn="ctr">
              <a:lnSpc>
                <a:spcPct val="100000"/>
              </a:lnSpc>
              <a:spcBef>
                <a:spcPts val="865"/>
              </a:spcBef>
            </a:pP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SHOW</a:t>
            </a:r>
            <a:r>
              <a:rPr sz="14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“d”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sz="14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1400" spc="-4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10" dirty="0">
                <a:solidFill>
                  <a:srgbClr val="404040"/>
                </a:solidFill>
                <a:latin typeface="Verdana"/>
                <a:cs typeface="Verdana"/>
              </a:rPr>
              <a:t>4</a:t>
            </a:r>
            <a:r>
              <a:rPr sz="1350" spc="15" baseline="24691" dirty="0">
                <a:solidFill>
                  <a:srgbClr val="404040"/>
                </a:solidFill>
                <a:latin typeface="Verdana"/>
                <a:cs typeface="Verdana"/>
              </a:rPr>
              <a:t>TH</a:t>
            </a:r>
            <a:r>
              <a:rPr sz="1350" spc="240" baseline="24691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4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10" dirty="0">
                <a:solidFill>
                  <a:srgbClr val="404040"/>
                </a:solidFill>
                <a:latin typeface="Verdana"/>
                <a:cs typeface="Verdana"/>
              </a:rPr>
              <a:t>1</a:t>
            </a:r>
            <a:r>
              <a:rPr sz="1350" spc="15" baseline="24691" dirty="0">
                <a:solidFill>
                  <a:srgbClr val="404040"/>
                </a:solidFill>
                <a:latin typeface="Verdana"/>
                <a:cs typeface="Verdana"/>
              </a:rPr>
              <a:t>ST</a:t>
            </a:r>
            <a:endParaRPr sz="1350" baseline="24691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7-SEG</a:t>
            </a:r>
            <a:r>
              <a:rPr sz="1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DISP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PORTC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5" dirty="0">
                <a:solidFill>
                  <a:srgbClr val="404040"/>
                </a:solidFill>
                <a:latin typeface="Verdana"/>
                <a:cs typeface="Verdana"/>
              </a:rPr>
              <a:t>=</a:t>
            </a:r>
            <a:r>
              <a:rPr sz="14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0xF0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38107" y="4619128"/>
            <a:ext cx="267970" cy="488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6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59807" y="2400681"/>
            <a:ext cx="370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E82728"/>
                </a:solidFill>
                <a:latin typeface="Verdana"/>
                <a:cs typeface="Verdana"/>
              </a:rPr>
              <a:t>YES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56786" y="1033399"/>
            <a:ext cx="3009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solidFill>
                  <a:srgbClr val="E82728"/>
                </a:solidFill>
                <a:latin typeface="Verdana"/>
                <a:cs typeface="Verdana"/>
              </a:rPr>
              <a:t>NO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41477" y="97916"/>
            <a:ext cx="26473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0" marR="5080" indent="-116903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FLOWC</a:t>
            </a:r>
            <a:r>
              <a:rPr sz="3600" spc="-15" dirty="0"/>
              <a:t>H</a:t>
            </a:r>
            <a:r>
              <a:rPr sz="3600" dirty="0"/>
              <a:t>AR  T</a:t>
            </a:r>
            <a:endParaRPr sz="3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1142" y="3033775"/>
            <a:ext cx="30594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THANK</a:t>
            </a:r>
            <a:r>
              <a:rPr sz="4000" spc="-8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E82728"/>
                </a:solidFill>
                <a:latin typeface="Verdana"/>
                <a:cs typeface="Verdana"/>
              </a:rPr>
              <a:t>YOU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947</Words>
  <Application>Microsoft Office PowerPoint</Application>
  <PresentationFormat>On-screen Show (16:9)</PresentationFormat>
  <Paragraphs>253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Calibri</vt:lpstr>
      <vt:lpstr>Times New Roman</vt:lpstr>
      <vt:lpstr>Verdana</vt:lpstr>
      <vt:lpstr>Wingdings</vt:lpstr>
      <vt:lpstr>Office Theme</vt:lpstr>
      <vt:lpstr>CLASS 6</vt:lpstr>
      <vt:lpstr>CLASS 5 REVIEW</vt:lpstr>
      <vt:lpstr>7-SEGMENT DISPLAY</vt:lpstr>
      <vt:lpstr>PowerPoint Presentation</vt:lpstr>
      <vt:lpstr>7-SEGMENT DISPLAY</vt:lpstr>
      <vt:lpstr>7-SEGMENT DISPLAY</vt:lpstr>
      <vt:lpstr>CLASS – WEEK 6</vt:lpstr>
      <vt:lpstr>IF STATEMENT</vt:lpstr>
      <vt:lpstr>IF STATEMENT</vt:lpstr>
      <vt:lpstr>IF STATEMENT</vt:lpstr>
      <vt:lpstr>IF STATEMENT</vt:lpstr>
      <vt:lpstr>IF STATEMENT</vt:lpstr>
      <vt:lpstr>IF STATEMENT IN ASSEMBLY</vt:lpstr>
      <vt:lpstr>PowerPoint Presentation</vt:lpstr>
      <vt:lpstr>PowerPoint Presentation</vt:lpstr>
      <vt:lpstr>BTFSS (Bit Test File Skip if Set)</vt:lpstr>
      <vt:lpstr>MCU SYSTEM</vt:lpstr>
      <vt:lpstr>PowerPoint Presentation</vt:lpstr>
      <vt:lpstr>PowerPoint Presentation</vt:lpstr>
      <vt:lpstr>MCU SYSTEM</vt:lpstr>
      <vt:lpstr>IF STATEMENT IN ASSEMBLY</vt:lpstr>
      <vt:lpstr>PowerPoint Presentation</vt:lpstr>
      <vt:lpstr>MCU SYSTEM</vt:lpstr>
      <vt:lpstr>IF STATEMENT IN ASSEMBLY</vt:lpstr>
      <vt:lpstr>MCU SYSTEM</vt:lpstr>
      <vt:lpstr>IF STATEMENT IN ASSEMBLY</vt:lpstr>
      <vt:lpstr>MCU SYSTEM</vt:lpstr>
      <vt:lpstr>IF STATEMENT IN ASSEMBLY</vt:lpstr>
      <vt:lpstr>CLASS 6</vt:lpstr>
      <vt:lpstr>Instruction Descriptions</vt:lpstr>
      <vt:lpstr>Instruction Descriptions</vt:lpstr>
      <vt:lpstr>PowerPoint Presentation</vt:lpstr>
      <vt:lpstr>EX1: Calculate the delay created by the below code segment if oscillator of 4 MHz. (Assume the number  5 is loaded into Counter)</vt:lpstr>
      <vt:lpstr>PowerPoint Presentation</vt:lpstr>
      <vt:lpstr>PowerPoint Presentation</vt:lpstr>
      <vt:lpstr>PowerPoint Presentation</vt:lpstr>
      <vt:lpstr>PowerPoint Presentation</vt:lpstr>
      <vt:lpstr>CLASS 6</vt:lpstr>
      <vt:lpstr>MCU SYSTEM</vt:lpstr>
      <vt:lpstr>PSEUDOCODE</vt:lpstr>
      <vt:lpstr>FLOWCHAR  T</vt:lpstr>
      <vt:lpstr>FLOWCHAR  T</vt:lpstr>
      <vt:lpstr>PowerPoint Presentation</vt:lpstr>
      <vt:lpstr>MCU SYSTEM</vt:lpstr>
      <vt:lpstr>FLOWCHAR  T</vt:lpstr>
      <vt:lpstr>PowerPoint Presentation</vt:lpstr>
      <vt:lpstr>MCU SYSTEM</vt:lpstr>
      <vt:lpstr>FLOWCHAR  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hiba-hassan 123456</dc:creator>
  <cp:lastModifiedBy>Eng Mohamed Youssif</cp:lastModifiedBy>
  <cp:revision>13</cp:revision>
  <dcterms:created xsi:type="dcterms:W3CDTF">2022-02-22T05:44:35Z</dcterms:created>
  <dcterms:modified xsi:type="dcterms:W3CDTF">2025-10-28T06:58:29Z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2020-12-01T00:00:00Z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2022-02-22T00:00:00Z</vt:filetime>
  </property>
</Properties>
</file>