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-942" y="-1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8767" y="1224915"/>
            <a:ext cx="8546464" cy="638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17572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059" y="33337"/>
            <a:ext cx="8945880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5745" y="1610105"/>
            <a:ext cx="8652509" cy="1857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728" y="4746069"/>
            <a:ext cx="2313940" cy="361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3196" y="2246312"/>
            <a:ext cx="220408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dirty="0">
                <a:solidFill>
                  <a:srgbClr val="E82728"/>
                </a:solidFill>
              </a:rPr>
              <a:t>CLASS</a:t>
            </a:r>
            <a:r>
              <a:rPr sz="4000" spc="-150" dirty="0">
                <a:solidFill>
                  <a:srgbClr val="E82728"/>
                </a:solidFill>
              </a:rPr>
              <a:t> </a:t>
            </a:r>
            <a:r>
              <a:rPr sz="4000" spc="15" dirty="0">
                <a:solidFill>
                  <a:srgbClr val="E82728"/>
                </a:solidFill>
              </a:rPr>
              <a:t>5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1335" y="2246312"/>
            <a:ext cx="302831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dirty="0">
                <a:solidFill>
                  <a:srgbClr val="404040"/>
                </a:solidFill>
              </a:rPr>
              <a:t>Quiz</a:t>
            </a:r>
            <a:r>
              <a:rPr sz="4000" spc="-60" dirty="0">
                <a:solidFill>
                  <a:srgbClr val="404040"/>
                </a:solidFill>
              </a:rPr>
              <a:t> </a:t>
            </a:r>
            <a:r>
              <a:rPr sz="4000" spc="15" dirty="0">
                <a:solidFill>
                  <a:srgbClr val="404040"/>
                </a:solidFill>
              </a:rPr>
              <a:t>review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2520" y="448690"/>
            <a:ext cx="438531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5" dirty="0">
                <a:solidFill>
                  <a:srgbClr val="E82728"/>
                </a:solidFill>
              </a:rPr>
              <a:t>CLASS</a:t>
            </a:r>
            <a:r>
              <a:rPr sz="4000" spc="-105" dirty="0">
                <a:solidFill>
                  <a:srgbClr val="E82728"/>
                </a:solidFill>
              </a:rPr>
              <a:t> </a:t>
            </a:r>
            <a:r>
              <a:rPr sz="4000" spc="15" dirty="0">
                <a:solidFill>
                  <a:srgbClr val="E82728"/>
                </a:solidFill>
              </a:rPr>
              <a:t>–</a:t>
            </a:r>
            <a:r>
              <a:rPr sz="4000" spc="-25" dirty="0">
                <a:solidFill>
                  <a:srgbClr val="E82728"/>
                </a:solidFill>
              </a:rPr>
              <a:t> </a:t>
            </a:r>
            <a:r>
              <a:rPr sz="4000" spc="-5" dirty="0">
                <a:solidFill>
                  <a:srgbClr val="E82728"/>
                </a:solidFill>
              </a:rPr>
              <a:t>WEEK</a:t>
            </a:r>
            <a:r>
              <a:rPr sz="4000" spc="-15" dirty="0">
                <a:solidFill>
                  <a:srgbClr val="E82728"/>
                </a:solidFill>
              </a:rPr>
              <a:t> </a:t>
            </a:r>
            <a:r>
              <a:rPr sz="4000" spc="15" dirty="0">
                <a:solidFill>
                  <a:srgbClr val="E82728"/>
                </a:solidFill>
              </a:rPr>
              <a:t>4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45745" y="1610105"/>
            <a:ext cx="6567170" cy="1857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70125">
              <a:lnSpc>
                <a:spcPct val="100000"/>
              </a:lnSpc>
              <a:spcBef>
                <a:spcPts val="105"/>
              </a:spcBef>
            </a:pPr>
            <a:r>
              <a:rPr sz="3000" spc="-45" dirty="0">
                <a:solidFill>
                  <a:srgbClr val="404040"/>
                </a:solidFill>
                <a:latin typeface="Verdana"/>
                <a:cs typeface="Verdana"/>
              </a:rPr>
              <a:t>ASSEMBLY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LANGUAGE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Verdana"/>
              <a:cs typeface="Verdana"/>
            </a:endParaRPr>
          </a:p>
          <a:p>
            <a:pPr marL="469900" indent="-457834">
              <a:lnSpc>
                <a:spcPct val="100000"/>
              </a:lnSpc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3000" spc="-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40" dirty="0">
                <a:solidFill>
                  <a:srgbClr val="014EA0"/>
                </a:solidFill>
                <a:latin typeface="Verdana"/>
                <a:cs typeface="Verdana"/>
              </a:rPr>
              <a:t>STATEMENT</a:t>
            </a:r>
            <a:endParaRPr sz="3000">
              <a:latin typeface="Verdana"/>
              <a:cs typeface="Verdana"/>
            </a:endParaRPr>
          </a:p>
          <a:p>
            <a:pPr marL="469900" indent="-457834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READ</a:t>
            </a:r>
            <a:r>
              <a:rPr sz="3000" spc="-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INPUTS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2941" y="2246312"/>
            <a:ext cx="374332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30" dirty="0">
                <a:solidFill>
                  <a:srgbClr val="404040"/>
                </a:solidFill>
              </a:rPr>
              <a:t>IF</a:t>
            </a:r>
            <a:r>
              <a:rPr sz="4000" spc="-145" dirty="0">
                <a:solidFill>
                  <a:srgbClr val="404040"/>
                </a:solidFill>
              </a:rPr>
              <a:t> </a:t>
            </a:r>
            <a:r>
              <a:rPr sz="4000" spc="-50" dirty="0">
                <a:solidFill>
                  <a:srgbClr val="404040"/>
                </a:solidFill>
              </a:rPr>
              <a:t>STATEMENT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5060" y="617219"/>
            <a:ext cx="4373880" cy="42443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0179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IF</a:t>
            </a:r>
            <a:r>
              <a:rPr spc="5" dirty="0"/>
              <a:t> </a:t>
            </a:r>
            <a:r>
              <a:rPr spc="-35" dirty="0"/>
              <a:t>STATEMENT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7339" y="982980"/>
            <a:ext cx="5989320" cy="34899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0179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IF</a:t>
            </a:r>
            <a:r>
              <a:rPr spc="5" dirty="0"/>
              <a:t> </a:t>
            </a:r>
            <a:r>
              <a:rPr spc="-35" dirty="0"/>
              <a:t>STATEMENT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3060" y="632459"/>
            <a:ext cx="5897879" cy="40919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0179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IF</a:t>
            </a:r>
            <a:r>
              <a:rPr spc="5" dirty="0"/>
              <a:t> </a:t>
            </a:r>
            <a:r>
              <a:rPr spc="-35" dirty="0"/>
              <a:t>STATEMENT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8939" y="449580"/>
            <a:ext cx="3185160" cy="43891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0179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IF</a:t>
            </a:r>
            <a:r>
              <a:rPr spc="5" dirty="0"/>
              <a:t> </a:t>
            </a:r>
            <a:r>
              <a:rPr spc="-35" dirty="0"/>
              <a:t>STATEMENT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0110" y="917575"/>
            <a:ext cx="739711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30" dirty="0">
                <a:solidFill>
                  <a:srgbClr val="404040"/>
                </a:solidFill>
              </a:rPr>
              <a:t>IF</a:t>
            </a:r>
            <a:r>
              <a:rPr sz="4000" spc="-80" dirty="0">
                <a:solidFill>
                  <a:srgbClr val="404040"/>
                </a:solidFill>
              </a:rPr>
              <a:t> </a:t>
            </a:r>
            <a:r>
              <a:rPr sz="4000" spc="-50" dirty="0">
                <a:solidFill>
                  <a:srgbClr val="404040"/>
                </a:solidFill>
              </a:rPr>
              <a:t>STATEMENT</a:t>
            </a:r>
            <a:r>
              <a:rPr sz="4000" spc="-65" dirty="0">
                <a:solidFill>
                  <a:srgbClr val="404040"/>
                </a:solidFill>
              </a:rPr>
              <a:t> </a:t>
            </a:r>
            <a:r>
              <a:rPr sz="4000" spc="30" dirty="0">
                <a:solidFill>
                  <a:srgbClr val="404040"/>
                </a:solidFill>
              </a:rPr>
              <a:t>IN</a:t>
            </a:r>
            <a:r>
              <a:rPr sz="4000" spc="-50" dirty="0">
                <a:solidFill>
                  <a:srgbClr val="404040"/>
                </a:solidFill>
              </a:rPr>
              <a:t> </a:t>
            </a:r>
            <a:r>
              <a:rPr sz="4000" spc="-35" dirty="0">
                <a:solidFill>
                  <a:srgbClr val="404040"/>
                </a:solidFill>
              </a:rPr>
              <a:t>ASSEMBLY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1932" y="1938854"/>
            <a:ext cx="2377221" cy="23086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672" y="658495"/>
            <a:ext cx="8544560" cy="3168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125"/>
              </a:spcBef>
            </a:pPr>
            <a:r>
              <a:rPr sz="4000" spc="30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4000" spc="-7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-50" dirty="0">
                <a:solidFill>
                  <a:srgbClr val="014EA0"/>
                </a:solidFill>
                <a:latin typeface="Verdana"/>
                <a:cs typeface="Verdana"/>
              </a:rPr>
              <a:t>STATEMENT</a:t>
            </a:r>
            <a:r>
              <a:rPr sz="400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30" dirty="0">
                <a:solidFill>
                  <a:srgbClr val="014EA0"/>
                </a:solidFill>
                <a:latin typeface="Verdana"/>
                <a:cs typeface="Verdana"/>
              </a:rPr>
              <a:t>IN</a:t>
            </a:r>
            <a:r>
              <a:rPr sz="4000" spc="-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-35" dirty="0">
                <a:solidFill>
                  <a:srgbClr val="014EA0"/>
                </a:solidFill>
                <a:latin typeface="Verdana"/>
                <a:cs typeface="Verdana"/>
              </a:rPr>
              <a:t>ASSEMBLY</a:t>
            </a:r>
            <a:endParaRPr sz="4000">
              <a:latin typeface="Verdana"/>
              <a:cs typeface="Verdana"/>
            </a:endParaRPr>
          </a:p>
          <a:p>
            <a:pPr marL="12065" marR="5080" algn="ctr">
              <a:lnSpc>
                <a:spcPct val="200300"/>
              </a:lnSpc>
              <a:spcBef>
                <a:spcPts val="685"/>
              </a:spcBef>
            </a:pPr>
            <a:r>
              <a:rPr sz="4000" spc="-10" dirty="0">
                <a:solidFill>
                  <a:srgbClr val="404040"/>
                </a:solidFill>
                <a:latin typeface="Verdana"/>
                <a:cs typeface="Verdana"/>
              </a:rPr>
              <a:t>BTFSC </a:t>
            </a:r>
            <a:r>
              <a:rPr sz="4000" dirty="0">
                <a:solidFill>
                  <a:srgbClr val="404040"/>
                </a:solidFill>
                <a:latin typeface="Verdana"/>
                <a:cs typeface="Verdana"/>
              </a:rPr>
              <a:t>(Bit </a:t>
            </a:r>
            <a:r>
              <a:rPr sz="4000" spc="-100" dirty="0">
                <a:solidFill>
                  <a:srgbClr val="404040"/>
                </a:solidFill>
                <a:latin typeface="Verdana"/>
                <a:cs typeface="Verdana"/>
              </a:rPr>
              <a:t>Test </a:t>
            </a:r>
            <a:r>
              <a:rPr sz="4000" dirty="0">
                <a:solidFill>
                  <a:srgbClr val="404040"/>
                </a:solidFill>
                <a:latin typeface="Verdana"/>
                <a:cs typeface="Verdana"/>
              </a:rPr>
              <a:t>File </a:t>
            </a:r>
            <a:r>
              <a:rPr sz="4000" spc="10" dirty="0">
                <a:solidFill>
                  <a:srgbClr val="404040"/>
                </a:solidFill>
                <a:latin typeface="Verdana"/>
                <a:cs typeface="Verdana"/>
              </a:rPr>
              <a:t>Skip </a:t>
            </a:r>
            <a:r>
              <a:rPr sz="4000" spc="-10" dirty="0">
                <a:solidFill>
                  <a:srgbClr val="404040"/>
                </a:solidFill>
                <a:latin typeface="Verdana"/>
                <a:cs typeface="Verdana"/>
              </a:rPr>
              <a:t>if </a:t>
            </a:r>
            <a:r>
              <a:rPr sz="4000" spc="5" dirty="0">
                <a:solidFill>
                  <a:srgbClr val="404040"/>
                </a:solidFill>
                <a:latin typeface="Verdana"/>
                <a:cs typeface="Verdana"/>
              </a:rPr>
              <a:t>Clear) </a:t>
            </a:r>
            <a:r>
              <a:rPr sz="4000" spc="-13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Verdana"/>
                <a:cs typeface="Verdana"/>
              </a:rPr>
              <a:t>BTFSS</a:t>
            </a:r>
            <a:r>
              <a:rPr sz="40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404040"/>
                </a:solidFill>
                <a:latin typeface="Verdana"/>
                <a:cs typeface="Verdana"/>
              </a:rPr>
              <a:t>(Bit </a:t>
            </a:r>
            <a:r>
              <a:rPr sz="4000" spc="-100" dirty="0">
                <a:solidFill>
                  <a:srgbClr val="404040"/>
                </a:solidFill>
                <a:latin typeface="Verdana"/>
                <a:cs typeface="Verdana"/>
              </a:rPr>
              <a:t>Test</a:t>
            </a:r>
            <a:r>
              <a:rPr sz="4000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404040"/>
                </a:solidFill>
                <a:latin typeface="Verdana"/>
                <a:cs typeface="Verdana"/>
              </a:rPr>
              <a:t>File</a:t>
            </a:r>
            <a:r>
              <a:rPr sz="4000" spc="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10" dirty="0">
                <a:solidFill>
                  <a:srgbClr val="404040"/>
                </a:solidFill>
                <a:latin typeface="Verdana"/>
                <a:cs typeface="Verdana"/>
              </a:rPr>
              <a:t>Skip</a:t>
            </a:r>
            <a:r>
              <a:rPr sz="40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Verdana"/>
                <a:cs typeface="Verdana"/>
              </a:rPr>
              <a:t>if</a:t>
            </a:r>
            <a:r>
              <a:rPr sz="40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5" dirty="0">
                <a:solidFill>
                  <a:srgbClr val="404040"/>
                </a:solidFill>
                <a:latin typeface="Verdana"/>
                <a:cs typeface="Verdana"/>
              </a:rPr>
              <a:t>Set)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BTFSC</a:t>
            </a:r>
            <a:r>
              <a:rPr spc="-70" dirty="0"/>
              <a:t> </a:t>
            </a:r>
            <a:r>
              <a:rPr dirty="0"/>
              <a:t>(Bit </a:t>
            </a:r>
            <a:r>
              <a:rPr spc="-100" dirty="0"/>
              <a:t>Test</a:t>
            </a:r>
            <a:r>
              <a:rPr spc="-45" dirty="0"/>
              <a:t> </a:t>
            </a:r>
            <a:r>
              <a:rPr dirty="0"/>
              <a:t>File</a:t>
            </a:r>
            <a:r>
              <a:rPr spc="-25" dirty="0"/>
              <a:t> </a:t>
            </a:r>
            <a:r>
              <a:rPr spc="10" dirty="0"/>
              <a:t>Skip</a:t>
            </a:r>
            <a:r>
              <a:rPr spc="-15" dirty="0"/>
              <a:t> </a:t>
            </a:r>
            <a:r>
              <a:rPr spc="-10" dirty="0"/>
              <a:t>if </a:t>
            </a:r>
            <a:r>
              <a:rPr spc="5" dirty="0"/>
              <a:t>Clear)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095" y="2453385"/>
            <a:ext cx="8898255" cy="148780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01699"/>
              </a:lnSpc>
              <a:spcBef>
                <a:spcPts val="70"/>
              </a:spcBef>
              <a:tabLst>
                <a:tab pos="1513205" algn="l"/>
                <a:tab pos="2084705" algn="l"/>
                <a:tab pos="4424045" algn="l"/>
              </a:tabLst>
            </a:pP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IF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THE	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LOGIC</a:t>
            </a:r>
            <a:r>
              <a:rPr sz="3150" spc="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-80" dirty="0">
                <a:solidFill>
                  <a:srgbClr val="404040"/>
                </a:solidFill>
                <a:latin typeface="Verdana"/>
                <a:cs typeface="Verdana"/>
              </a:rPr>
              <a:t>AT</a:t>
            </a:r>
            <a:r>
              <a:rPr sz="315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dirty="0">
                <a:solidFill>
                  <a:srgbClr val="404040"/>
                </a:solidFill>
                <a:latin typeface="Verdana"/>
                <a:cs typeface="Verdana"/>
              </a:rPr>
              <a:t>LOCATION</a:t>
            </a:r>
            <a:r>
              <a:rPr sz="3150" spc="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F</a:t>
            </a:r>
            <a:r>
              <a:rPr sz="3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5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315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HIGH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(1), </a:t>
            </a:r>
            <a:r>
              <a:rPr sz="3150" spc="-10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THEN</a:t>
            </a:r>
            <a:r>
              <a:rPr sz="315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150" spc="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-15" dirty="0">
                <a:solidFill>
                  <a:srgbClr val="404040"/>
                </a:solidFill>
                <a:latin typeface="Verdana"/>
                <a:cs typeface="Verdana"/>
              </a:rPr>
              <a:t>BTFSC</a:t>
            </a:r>
            <a:r>
              <a:rPr sz="3150" spc="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FUNCTION</a:t>
            </a:r>
            <a:r>
              <a:rPr sz="315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WILL</a:t>
            </a:r>
            <a:r>
              <a:rPr sz="3150" spc="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10" dirty="0">
                <a:solidFill>
                  <a:srgbClr val="404040"/>
                </a:solidFill>
                <a:latin typeface="Verdana"/>
                <a:cs typeface="Verdana"/>
              </a:rPr>
              <a:t>NOT 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SKIP</a:t>
            </a:r>
            <a:r>
              <a:rPr sz="3150" spc="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THE	NEXT</a:t>
            </a:r>
            <a:r>
              <a:rPr sz="3150" spc="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5" dirty="0">
                <a:solidFill>
                  <a:srgbClr val="404040"/>
                </a:solidFill>
                <a:latin typeface="Verdana"/>
                <a:cs typeface="Verdana"/>
              </a:rPr>
              <a:t>LINE	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3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5" dirty="0">
                <a:solidFill>
                  <a:srgbClr val="404040"/>
                </a:solidFill>
                <a:latin typeface="Verdana"/>
                <a:cs typeface="Verdana"/>
              </a:rPr>
              <a:t>CODING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4830" y="1224915"/>
            <a:ext cx="8052434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20" dirty="0">
                <a:solidFill>
                  <a:srgbClr val="014EA0"/>
                </a:solidFill>
                <a:latin typeface="Verdana"/>
                <a:cs typeface="Verdana"/>
              </a:rPr>
              <a:t>BTFSS</a:t>
            </a:r>
            <a:r>
              <a:rPr sz="4000" spc="-8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014EA0"/>
                </a:solidFill>
                <a:latin typeface="Verdana"/>
                <a:cs typeface="Verdana"/>
              </a:rPr>
              <a:t>(Bit</a:t>
            </a:r>
            <a:r>
              <a:rPr sz="40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-100" dirty="0">
                <a:solidFill>
                  <a:srgbClr val="014EA0"/>
                </a:solidFill>
                <a:latin typeface="Verdana"/>
                <a:cs typeface="Verdana"/>
              </a:rPr>
              <a:t>Test</a:t>
            </a:r>
            <a:r>
              <a:rPr sz="4000" spc="-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014EA0"/>
                </a:solidFill>
                <a:latin typeface="Verdana"/>
                <a:cs typeface="Verdana"/>
              </a:rPr>
              <a:t>File</a:t>
            </a:r>
            <a:r>
              <a:rPr sz="4000" spc="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10" dirty="0">
                <a:solidFill>
                  <a:srgbClr val="014EA0"/>
                </a:solidFill>
                <a:latin typeface="Verdana"/>
                <a:cs typeface="Verdana"/>
              </a:rPr>
              <a:t>Skip</a:t>
            </a:r>
            <a:r>
              <a:rPr sz="4000" spc="-8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014EA0"/>
                </a:solidFill>
                <a:latin typeface="Verdana"/>
                <a:cs typeface="Verdana"/>
              </a:rPr>
              <a:t>if </a:t>
            </a:r>
            <a:r>
              <a:rPr sz="4000" spc="5" dirty="0">
                <a:solidFill>
                  <a:srgbClr val="014EA0"/>
                </a:solidFill>
                <a:latin typeface="Verdana"/>
                <a:cs typeface="Verdana"/>
              </a:rPr>
              <a:t>Set)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095" y="2453385"/>
            <a:ext cx="8898255" cy="148780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01699"/>
              </a:lnSpc>
              <a:spcBef>
                <a:spcPts val="70"/>
              </a:spcBef>
              <a:tabLst>
                <a:tab pos="1513205" algn="l"/>
              </a:tabLst>
            </a:pP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IF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THE	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LOGIC</a:t>
            </a:r>
            <a:r>
              <a:rPr sz="3150" spc="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-80" dirty="0">
                <a:solidFill>
                  <a:srgbClr val="404040"/>
                </a:solidFill>
                <a:latin typeface="Verdana"/>
                <a:cs typeface="Verdana"/>
              </a:rPr>
              <a:t>AT</a:t>
            </a:r>
            <a:r>
              <a:rPr sz="315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dirty="0">
                <a:solidFill>
                  <a:srgbClr val="404040"/>
                </a:solidFill>
                <a:latin typeface="Verdana"/>
                <a:cs typeface="Verdana"/>
              </a:rPr>
              <a:t>LOCATION</a:t>
            </a:r>
            <a:r>
              <a:rPr sz="3150" spc="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F</a:t>
            </a:r>
            <a:r>
              <a:rPr sz="3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5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315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HIGH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(1), </a:t>
            </a:r>
            <a:r>
              <a:rPr sz="3150" spc="-10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THEN</a:t>
            </a:r>
            <a:r>
              <a:rPr sz="315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150" spc="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-30" dirty="0">
                <a:solidFill>
                  <a:srgbClr val="404040"/>
                </a:solidFill>
                <a:latin typeface="Verdana"/>
                <a:cs typeface="Verdana"/>
              </a:rPr>
              <a:t>BTFSS</a:t>
            </a:r>
            <a:r>
              <a:rPr sz="3150" spc="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FUNCTION</a:t>
            </a:r>
            <a:r>
              <a:rPr sz="3150" spc="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WILL</a:t>
            </a:r>
            <a:r>
              <a:rPr sz="3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SKIP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15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NEXT</a:t>
            </a:r>
            <a:r>
              <a:rPr sz="315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5" dirty="0">
                <a:solidFill>
                  <a:srgbClr val="404040"/>
                </a:solidFill>
                <a:latin typeface="Verdana"/>
                <a:cs typeface="Verdana"/>
              </a:rPr>
              <a:t>LINE</a:t>
            </a:r>
            <a:r>
              <a:rPr sz="315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3150" spc="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CODING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4320" y="1249680"/>
            <a:ext cx="8595360" cy="3528060"/>
            <a:chOff x="274320" y="1249680"/>
            <a:chExt cx="8595360" cy="35280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320" y="1249680"/>
              <a:ext cx="8595360" cy="35280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9120" y="3230880"/>
              <a:ext cx="7673340" cy="1394460"/>
            </a:xfrm>
            <a:custGeom>
              <a:avLst/>
              <a:gdLst/>
              <a:ahLst/>
              <a:cxnLst/>
              <a:rect l="l" t="t" r="r" b="b"/>
              <a:pathLst>
                <a:path w="7673340" h="1394460">
                  <a:moveTo>
                    <a:pt x="3108960" y="243840"/>
                  </a:moveTo>
                  <a:lnTo>
                    <a:pt x="2545080" y="243840"/>
                  </a:lnTo>
                  <a:lnTo>
                    <a:pt x="2545080" y="0"/>
                  </a:lnTo>
                  <a:lnTo>
                    <a:pt x="0" y="0"/>
                  </a:lnTo>
                  <a:lnTo>
                    <a:pt x="0" y="792480"/>
                  </a:lnTo>
                  <a:lnTo>
                    <a:pt x="2545080" y="792480"/>
                  </a:lnTo>
                  <a:lnTo>
                    <a:pt x="2545080" y="541020"/>
                  </a:lnTo>
                  <a:lnTo>
                    <a:pt x="3108960" y="541020"/>
                  </a:lnTo>
                  <a:lnTo>
                    <a:pt x="3108960" y="243840"/>
                  </a:lnTo>
                  <a:close/>
                </a:path>
                <a:path w="7673340" h="1394460">
                  <a:moveTo>
                    <a:pt x="7673340" y="731520"/>
                  </a:moveTo>
                  <a:lnTo>
                    <a:pt x="5120640" y="731520"/>
                  </a:lnTo>
                  <a:lnTo>
                    <a:pt x="5120640" y="1394460"/>
                  </a:lnTo>
                  <a:lnTo>
                    <a:pt x="7673340" y="1394460"/>
                  </a:lnTo>
                  <a:lnTo>
                    <a:pt x="7673340" y="7315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19933" y="214947"/>
            <a:ext cx="411543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10" dirty="0">
                <a:solidFill>
                  <a:srgbClr val="404040"/>
                </a:solidFill>
              </a:rPr>
              <a:t>MCU</a:t>
            </a:r>
            <a:r>
              <a:rPr sz="4800" spc="-35" dirty="0">
                <a:solidFill>
                  <a:srgbClr val="404040"/>
                </a:solidFill>
              </a:rPr>
              <a:t> </a:t>
            </a:r>
            <a:r>
              <a:rPr sz="4800" dirty="0">
                <a:solidFill>
                  <a:srgbClr val="404040"/>
                </a:solidFill>
              </a:rPr>
              <a:t>SYSTEM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612140" y="3293427"/>
            <a:ext cx="2233930" cy="861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40"/>
              </a:lnSpc>
              <a:spcBef>
                <a:spcPts val="100"/>
              </a:spcBef>
            </a:pPr>
            <a:r>
              <a:rPr sz="2400" spc="-15" dirty="0">
                <a:solidFill>
                  <a:srgbClr val="E82728"/>
                </a:solidFill>
                <a:latin typeface="Verdana"/>
                <a:cs typeface="Verdana"/>
              </a:rPr>
              <a:t>PUSH </a:t>
            </a:r>
            <a:r>
              <a:rPr sz="2400" spc="-30" dirty="0">
                <a:solidFill>
                  <a:srgbClr val="E82728"/>
                </a:solidFill>
                <a:latin typeface="Verdana"/>
                <a:cs typeface="Verdana"/>
              </a:rPr>
              <a:t>BUTTON</a:t>
            </a:r>
            <a:endParaRPr sz="2400">
              <a:latin typeface="Verdana"/>
              <a:cs typeface="Verdana"/>
            </a:endParaRPr>
          </a:p>
          <a:p>
            <a:pPr marL="635" algn="ctr">
              <a:lnSpc>
                <a:spcPts val="3740"/>
              </a:lnSpc>
            </a:pPr>
            <a:r>
              <a:rPr sz="3150" spc="10" dirty="0">
                <a:solidFill>
                  <a:srgbClr val="E82728"/>
                </a:solidFill>
                <a:latin typeface="Verdana"/>
                <a:cs typeface="Verdana"/>
              </a:rPr>
              <a:t>PB5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8779" y="1950720"/>
            <a:ext cx="3390900" cy="14097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29565" rIns="0" bIns="0" rtlCol="0">
            <a:spAutoFit/>
          </a:bodyPr>
          <a:lstStyle/>
          <a:p>
            <a:pPr marL="302260" algn="ctr">
              <a:lnSpc>
                <a:spcPts val="2835"/>
              </a:lnSpc>
              <a:spcBef>
                <a:spcPts val="2595"/>
              </a:spcBef>
            </a:pPr>
            <a:r>
              <a:rPr sz="2400" spc="-15" dirty="0">
                <a:solidFill>
                  <a:srgbClr val="E82728"/>
                </a:solidFill>
                <a:latin typeface="Verdana"/>
                <a:cs typeface="Verdana"/>
              </a:rPr>
              <a:t>LED</a:t>
            </a:r>
            <a:endParaRPr sz="2400">
              <a:latin typeface="Verdana"/>
              <a:cs typeface="Verdana"/>
            </a:endParaRPr>
          </a:p>
          <a:p>
            <a:pPr marL="294005" algn="ctr">
              <a:lnSpc>
                <a:spcPts val="3735"/>
              </a:lnSpc>
            </a:pPr>
            <a:r>
              <a:rPr sz="3150" spc="25" dirty="0">
                <a:solidFill>
                  <a:srgbClr val="E82728"/>
                </a:solidFill>
                <a:latin typeface="Verdana"/>
                <a:cs typeface="Verdana"/>
              </a:rPr>
              <a:t>PD5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0789" y="525145"/>
            <a:ext cx="2976245" cy="38940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20" dirty="0">
                <a:solidFill>
                  <a:srgbClr val="404040"/>
                </a:solidFill>
                <a:latin typeface="Verdana"/>
                <a:cs typeface="Verdana"/>
              </a:rPr>
              <a:t>ORG</a:t>
            </a:r>
            <a:r>
              <a:rPr sz="2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20" dirty="0">
                <a:solidFill>
                  <a:srgbClr val="404040"/>
                </a:solidFill>
                <a:latin typeface="Verdana"/>
                <a:cs typeface="Verdana"/>
              </a:rPr>
              <a:t>0x00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BSF</a:t>
            </a:r>
            <a:r>
              <a:rPr sz="2800" spc="-5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2800" spc="-7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2800" dirty="0">
              <a:latin typeface="Verdana"/>
              <a:cs typeface="Verdana"/>
            </a:endParaRPr>
          </a:p>
          <a:p>
            <a:pPr marL="12700" marR="553720">
              <a:lnSpc>
                <a:spcPct val="100000"/>
              </a:lnSpc>
              <a:spcBef>
                <a:spcPts val="5"/>
              </a:spcBef>
            </a:pP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BSF</a:t>
            </a:r>
            <a:r>
              <a:rPr sz="2800" spc="-6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20" dirty="0">
                <a:solidFill>
                  <a:srgbClr val="014EA0"/>
                </a:solidFill>
                <a:latin typeface="Verdana"/>
                <a:cs typeface="Verdana"/>
              </a:rPr>
              <a:t>TRISB,</a:t>
            </a:r>
            <a:r>
              <a:rPr sz="2800" spc="-19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CLRF </a:t>
            </a:r>
            <a:r>
              <a:rPr sz="2800" spc="25" dirty="0">
                <a:solidFill>
                  <a:srgbClr val="014EA0"/>
                </a:solidFill>
                <a:latin typeface="Verdana"/>
                <a:cs typeface="Verdana"/>
              </a:rPr>
              <a:t>TRISD </a:t>
            </a:r>
            <a:r>
              <a:rPr sz="2800" spc="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35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BCF</a:t>
            </a:r>
            <a:r>
              <a:rPr sz="2800" spc="-5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2800" spc="-7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2800" dirty="0">
              <a:latin typeface="Verdana"/>
              <a:cs typeface="Verdana"/>
            </a:endParaRPr>
          </a:p>
          <a:p>
            <a:pPr marL="264160" marR="5080" indent="-252095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BTFSC</a:t>
            </a:r>
            <a:r>
              <a:rPr sz="2800" spc="-1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014EA0"/>
                </a:solidFill>
                <a:latin typeface="Verdana"/>
                <a:cs typeface="Verdana"/>
              </a:rPr>
              <a:t>PORTB,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lang="en-US" sz="2800" spc="15" dirty="0">
              <a:solidFill>
                <a:srgbClr val="014EA0"/>
              </a:solidFill>
              <a:latin typeface="Verdana"/>
              <a:cs typeface="Verdana"/>
            </a:endParaRPr>
          </a:p>
          <a:p>
            <a:pPr marL="264160" marR="5080" indent="-252095">
              <a:lnSpc>
                <a:spcPct val="100000"/>
              </a:lnSpc>
              <a:spcBef>
                <a:spcPts val="5"/>
              </a:spcBef>
            </a:pPr>
            <a:r>
              <a:rPr sz="2800" spc="-25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800" spc="-114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LEDON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800" spc="-25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800" spc="-5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LEDOFF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7078" y="837946"/>
            <a:ext cx="2793365" cy="13106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10" dirty="0">
                <a:solidFill>
                  <a:srgbClr val="404040"/>
                </a:solidFill>
                <a:latin typeface="Verdana"/>
                <a:cs typeface="Verdana"/>
              </a:rPr>
              <a:t>LEDON</a:t>
            </a:r>
            <a:endParaRPr lang="en-US" sz="2800" spc="1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014EA0"/>
                </a:solidFill>
                <a:latin typeface="Verdana"/>
                <a:cs typeface="Verdana"/>
              </a:rPr>
              <a:t>BSF</a:t>
            </a:r>
            <a:r>
              <a:rPr sz="2800" spc="-6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5" dirty="0">
                <a:solidFill>
                  <a:srgbClr val="014EA0"/>
                </a:solidFill>
                <a:latin typeface="Verdana"/>
                <a:cs typeface="Verdana"/>
              </a:rPr>
              <a:t>PORTD,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80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30" dirty="0">
                <a:solidFill>
                  <a:srgbClr val="014EA0"/>
                </a:solidFill>
                <a:latin typeface="Verdana"/>
                <a:cs typeface="Verdana"/>
              </a:rPr>
              <a:t>MAIN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7078" y="2547366"/>
            <a:ext cx="2800985" cy="17379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5" dirty="0">
                <a:solidFill>
                  <a:srgbClr val="404040"/>
                </a:solidFill>
                <a:latin typeface="Verdana"/>
                <a:cs typeface="Verdana"/>
              </a:rPr>
              <a:t>LEDOFF</a:t>
            </a:r>
            <a:endParaRPr lang="en-US"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BCF</a:t>
            </a:r>
            <a:r>
              <a:rPr sz="280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5" dirty="0">
                <a:solidFill>
                  <a:srgbClr val="014EA0"/>
                </a:solidFill>
                <a:latin typeface="Verdana"/>
                <a:cs typeface="Verdana"/>
              </a:rPr>
              <a:t>PORTD,</a:t>
            </a:r>
            <a:r>
              <a:rPr sz="2800" spc="-1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014EA0"/>
                </a:solidFill>
                <a:latin typeface="Verdana"/>
                <a:cs typeface="Verdana"/>
              </a:rPr>
              <a:t>GOTO </a:t>
            </a:r>
            <a:r>
              <a:rPr sz="2800" spc="30" dirty="0">
                <a:solidFill>
                  <a:srgbClr val="014EA0"/>
                </a:solidFill>
                <a:latin typeface="Verdana"/>
                <a:cs typeface="Verdana"/>
              </a:rPr>
              <a:t>MAIN </a:t>
            </a:r>
            <a:r>
              <a:rPr sz="2800" spc="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404040"/>
                </a:solidFill>
                <a:latin typeface="Verdana"/>
                <a:cs typeface="Verdana"/>
              </a:rPr>
              <a:t>END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70320" y="495300"/>
            <a:ext cx="381000" cy="289560"/>
          </a:xfrm>
          <a:custGeom>
            <a:avLst/>
            <a:gdLst/>
            <a:ahLst/>
            <a:cxnLst/>
            <a:rect l="l" t="t" r="r" b="b"/>
            <a:pathLst>
              <a:path w="381000" h="289559">
                <a:moveTo>
                  <a:pt x="285750" y="0"/>
                </a:moveTo>
                <a:lnTo>
                  <a:pt x="95250" y="0"/>
                </a:lnTo>
                <a:lnTo>
                  <a:pt x="95250" y="144779"/>
                </a:lnTo>
                <a:lnTo>
                  <a:pt x="0" y="144779"/>
                </a:lnTo>
                <a:lnTo>
                  <a:pt x="190500" y="289560"/>
                </a:lnTo>
                <a:lnTo>
                  <a:pt x="381000" y="144779"/>
                </a:lnTo>
                <a:lnTo>
                  <a:pt x="285750" y="144779"/>
                </a:lnTo>
                <a:lnTo>
                  <a:pt x="285750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0789" y="525145"/>
            <a:ext cx="2968625" cy="38940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20" dirty="0">
                <a:solidFill>
                  <a:srgbClr val="404040"/>
                </a:solidFill>
                <a:latin typeface="Verdana"/>
                <a:cs typeface="Verdana"/>
              </a:rPr>
              <a:t>ORG</a:t>
            </a:r>
            <a:r>
              <a:rPr sz="2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20" dirty="0">
                <a:solidFill>
                  <a:srgbClr val="404040"/>
                </a:solidFill>
                <a:latin typeface="Verdana"/>
                <a:cs typeface="Verdana"/>
              </a:rPr>
              <a:t>0x00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BSF</a:t>
            </a:r>
            <a:r>
              <a:rPr sz="2800" spc="-5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2800" spc="-7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2800" dirty="0">
              <a:latin typeface="Verdana"/>
              <a:cs typeface="Verdana"/>
            </a:endParaRPr>
          </a:p>
          <a:p>
            <a:pPr marL="12700" marR="546100">
              <a:lnSpc>
                <a:spcPct val="100000"/>
              </a:lnSpc>
              <a:spcBef>
                <a:spcPts val="5"/>
              </a:spcBef>
            </a:pP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BSF</a:t>
            </a:r>
            <a:r>
              <a:rPr sz="2800" spc="-6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20" dirty="0">
                <a:solidFill>
                  <a:srgbClr val="014EA0"/>
                </a:solidFill>
                <a:latin typeface="Verdana"/>
                <a:cs typeface="Verdana"/>
              </a:rPr>
              <a:t>TRISB,</a:t>
            </a:r>
            <a:r>
              <a:rPr sz="2800" spc="-19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CLRF </a:t>
            </a:r>
            <a:r>
              <a:rPr sz="2800" spc="25" dirty="0">
                <a:solidFill>
                  <a:srgbClr val="014EA0"/>
                </a:solidFill>
                <a:latin typeface="Verdana"/>
                <a:cs typeface="Verdana"/>
              </a:rPr>
              <a:t>TRISD </a:t>
            </a:r>
            <a:r>
              <a:rPr sz="2800" spc="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35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BCF</a:t>
            </a:r>
            <a:r>
              <a:rPr sz="2800" spc="-5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2800" spc="-7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2800" dirty="0">
              <a:latin typeface="Verdana"/>
              <a:cs typeface="Verdana"/>
            </a:endParaRPr>
          </a:p>
          <a:p>
            <a:pPr marL="264160" marR="5080" indent="-252095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BTFSS</a:t>
            </a:r>
            <a:r>
              <a:rPr sz="2800" spc="-1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PORTB,</a:t>
            </a:r>
            <a:r>
              <a:rPr sz="2800" spc="-1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lang="en-US" sz="2800" spc="15" dirty="0">
              <a:solidFill>
                <a:srgbClr val="014EA0"/>
              </a:solidFill>
              <a:latin typeface="Verdana"/>
              <a:cs typeface="Verdana"/>
            </a:endParaRPr>
          </a:p>
          <a:p>
            <a:pPr marL="264160" marR="5080" indent="-252095">
              <a:lnSpc>
                <a:spcPct val="100000"/>
              </a:lnSpc>
              <a:spcBef>
                <a:spcPts val="5"/>
              </a:spcBef>
            </a:pPr>
            <a:r>
              <a:rPr sz="2800" spc="-25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800" spc="-114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LEDOFF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800" spc="-25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800" spc="-6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LEDON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7078" y="837946"/>
            <a:ext cx="2793365" cy="13106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10" dirty="0">
                <a:solidFill>
                  <a:srgbClr val="404040"/>
                </a:solidFill>
                <a:latin typeface="Verdana"/>
                <a:cs typeface="Verdana"/>
              </a:rPr>
              <a:t>LEDON</a:t>
            </a:r>
            <a:endParaRPr lang="en-US" sz="2800" spc="1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014EA0"/>
                </a:solidFill>
                <a:latin typeface="Verdana"/>
                <a:cs typeface="Verdana"/>
              </a:rPr>
              <a:t>BSF</a:t>
            </a:r>
            <a:r>
              <a:rPr sz="2800" spc="-6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5" dirty="0">
                <a:solidFill>
                  <a:srgbClr val="014EA0"/>
                </a:solidFill>
                <a:latin typeface="Verdana"/>
                <a:cs typeface="Verdana"/>
              </a:rPr>
              <a:t>PORTD,</a:t>
            </a:r>
            <a:r>
              <a:rPr sz="2800" spc="-1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80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30" dirty="0">
                <a:solidFill>
                  <a:srgbClr val="014EA0"/>
                </a:solidFill>
                <a:latin typeface="Verdana"/>
                <a:cs typeface="Verdana"/>
              </a:rPr>
              <a:t>MAIN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7078" y="2547366"/>
            <a:ext cx="2800985" cy="17379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5">
                <a:solidFill>
                  <a:srgbClr val="404040"/>
                </a:solidFill>
                <a:latin typeface="Verdana"/>
                <a:cs typeface="Verdana"/>
              </a:rPr>
              <a:t>LEDOFF</a:t>
            </a:r>
            <a:endParaRPr lang="en-US" sz="2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5">
                <a:solidFill>
                  <a:srgbClr val="014EA0"/>
                </a:solidFill>
                <a:latin typeface="Verdana"/>
                <a:cs typeface="Verdana"/>
              </a:rPr>
              <a:t>BCF</a:t>
            </a:r>
            <a:r>
              <a:rPr sz="2800" spc="-6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5" dirty="0">
                <a:solidFill>
                  <a:srgbClr val="014EA0"/>
                </a:solidFill>
                <a:latin typeface="Verdana"/>
                <a:cs typeface="Verdana"/>
              </a:rPr>
              <a:t>PORTD,</a:t>
            </a:r>
            <a:r>
              <a:rPr sz="2800" spc="-1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014EA0"/>
                </a:solidFill>
                <a:latin typeface="Verdana"/>
                <a:cs typeface="Verdana"/>
              </a:rPr>
              <a:t>GOTO </a:t>
            </a:r>
            <a:r>
              <a:rPr sz="2800" spc="30" dirty="0">
                <a:solidFill>
                  <a:srgbClr val="014EA0"/>
                </a:solidFill>
                <a:latin typeface="Verdana"/>
                <a:cs typeface="Verdana"/>
              </a:rPr>
              <a:t>MAIN </a:t>
            </a:r>
            <a:r>
              <a:rPr sz="2800" spc="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404040"/>
                </a:solidFill>
                <a:latin typeface="Verdana"/>
                <a:cs typeface="Verdana"/>
              </a:rPr>
              <a:t>END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70320" y="495300"/>
            <a:ext cx="381000" cy="289560"/>
          </a:xfrm>
          <a:custGeom>
            <a:avLst/>
            <a:gdLst/>
            <a:ahLst/>
            <a:cxnLst/>
            <a:rect l="l" t="t" r="r" b="b"/>
            <a:pathLst>
              <a:path w="381000" h="289559">
                <a:moveTo>
                  <a:pt x="285750" y="0"/>
                </a:moveTo>
                <a:lnTo>
                  <a:pt x="95250" y="0"/>
                </a:lnTo>
                <a:lnTo>
                  <a:pt x="95250" y="144779"/>
                </a:lnTo>
                <a:lnTo>
                  <a:pt x="0" y="144779"/>
                </a:lnTo>
                <a:lnTo>
                  <a:pt x="190500" y="289560"/>
                </a:lnTo>
                <a:lnTo>
                  <a:pt x="381000" y="144779"/>
                </a:lnTo>
                <a:lnTo>
                  <a:pt x="285750" y="144779"/>
                </a:lnTo>
                <a:lnTo>
                  <a:pt x="285750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4320" y="1295400"/>
            <a:ext cx="8595360" cy="3528060"/>
            <a:chOff x="274320" y="1295400"/>
            <a:chExt cx="8595360" cy="35280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320" y="1295400"/>
              <a:ext cx="8595360" cy="35280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9120" y="1996452"/>
              <a:ext cx="8290559" cy="2674620"/>
            </a:xfrm>
            <a:custGeom>
              <a:avLst/>
              <a:gdLst/>
              <a:ahLst/>
              <a:cxnLst/>
              <a:rect l="l" t="t" r="r" b="b"/>
              <a:pathLst>
                <a:path w="8290559" h="2674620">
                  <a:moveTo>
                    <a:pt x="2545080" y="1280147"/>
                  </a:moveTo>
                  <a:lnTo>
                    <a:pt x="0" y="1280147"/>
                  </a:lnTo>
                  <a:lnTo>
                    <a:pt x="0" y="2072627"/>
                  </a:lnTo>
                  <a:lnTo>
                    <a:pt x="2545080" y="2072627"/>
                  </a:lnTo>
                  <a:lnTo>
                    <a:pt x="2545080" y="1280147"/>
                  </a:lnTo>
                  <a:close/>
                </a:path>
                <a:path w="8290559" h="2674620">
                  <a:moveTo>
                    <a:pt x="7673340" y="2011667"/>
                  </a:moveTo>
                  <a:lnTo>
                    <a:pt x="5120640" y="2011667"/>
                  </a:lnTo>
                  <a:lnTo>
                    <a:pt x="5120640" y="2674607"/>
                  </a:lnTo>
                  <a:lnTo>
                    <a:pt x="7673340" y="2674607"/>
                  </a:lnTo>
                  <a:lnTo>
                    <a:pt x="7673340" y="2011667"/>
                  </a:lnTo>
                  <a:close/>
                </a:path>
                <a:path w="8290559" h="2674620">
                  <a:moveTo>
                    <a:pt x="8290560" y="0"/>
                  </a:moveTo>
                  <a:lnTo>
                    <a:pt x="4899660" y="0"/>
                  </a:lnTo>
                  <a:lnTo>
                    <a:pt x="4899660" y="1417307"/>
                  </a:lnTo>
                  <a:lnTo>
                    <a:pt x="8290560" y="1417307"/>
                  </a:lnTo>
                  <a:lnTo>
                    <a:pt x="8290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19933" y="214947"/>
            <a:ext cx="411543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10" dirty="0">
                <a:solidFill>
                  <a:srgbClr val="404040"/>
                </a:solidFill>
              </a:rPr>
              <a:t>MCU</a:t>
            </a:r>
            <a:r>
              <a:rPr sz="4800" spc="-35" dirty="0">
                <a:solidFill>
                  <a:srgbClr val="404040"/>
                </a:solidFill>
              </a:rPr>
              <a:t> </a:t>
            </a:r>
            <a:r>
              <a:rPr sz="4800" dirty="0">
                <a:solidFill>
                  <a:srgbClr val="404040"/>
                </a:solidFill>
              </a:rPr>
              <a:t>SYSTEM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612140" y="3339719"/>
            <a:ext cx="2235200" cy="862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840"/>
              </a:lnSpc>
              <a:spcBef>
                <a:spcPts val="105"/>
              </a:spcBef>
            </a:pPr>
            <a:r>
              <a:rPr sz="2400" spc="-15" dirty="0">
                <a:solidFill>
                  <a:srgbClr val="E82728"/>
                </a:solidFill>
                <a:latin typeface="Verdana"/>
                <a:cs typeface="Verdana"/>
              </a:rPr>
              <a:t>PUSH</a:t>
            </a:r>
            <a:r>
              <a:rPr sz="2400" spc="-1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E82728"/>
                </a:solidFill>
                <a:latin typeface="Verdana"/>
                <a:cs typeface="Verdana"/>
              </a:rPr>
              <a:t>BUTTON</a:t>
            </a:r>
            <a:endParaRPr sz="2400">
              <a:latin typeface="Verdana"/>
              <a:cs typeface="Verdana"/>
            </a:endParaRPr>
          </a:p>
          <a:p>
            <a:pPr algn="ctr">
              <a:lnSpc>
                <a:spcPts val="3740"/>
              </a:lnSpc>
            </a:pPr>
            <a:r>
              <a:rPr sz="3150" spc="10" dirty="0">
                <a:solidFill>
                  <a:srgbClr val="E82728"/>
                </a:solidFill>
                <a:latin typeface="Verdana"/>
                <a:cs typeface="Verdana"/>
              </a:rPr>
              <a:t>PB7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8779" y="1996439"/>
            <a:ext cx="3390900" cy="2674620"/>
          </a:xfrm>
          <a:prstGeom prst="rect">
            <a:avLst/>
          </a:prstGeom>
        </p:spPr>
        <p:txBody>
          <a:bodyPr vert="horz" wrap="square" lIns="0" tIns="294640" rIns="0" bIns="0" rtlCol="0">
            <a:spAutoFit/>
          </a:bodyPr>
          <a:lstStyle/>
          <a:p>
            <a:pPr marL="737235">
              <a:lnSpc>
                <a:spcPts val="2820"/>
              </a:lnSpc>
              <a:spcBef>
                <a:spcPts val="2320"/>
              </a:spcBef>
            </a:pPr>
            <a:r>
              <a:rPr sz="2400" spc="-15" dirty="0">
                <a:solidFill>
                  <a:srgbClr val="E82728"/>
                </a:solidFill>
                <a:latin typeface="Verdana"/>
                <a:cs typeface="Verdana"/>
              </a:rPr>
              <a:t>7-SEGMENT</a:t>
            </a:r>
            <a:endParaRPr sz="2400">
              <a:latin typeface="Verdana"/>
              <a:cs typeface="Verdana"/>
            </a:endParaRPr>
          </a:p>
          <a:p>
            <a:pPr marL="1057275">
              <a:lnSpc>
                <a:spcPts val="2820"/>
              </a:lnSpc>
            </a:pPr>
            <a:r>
              <a:rPr sz="2400" spc="-35" dirty="0">
                <a:solidFill>
                  <a:srgbClr val="E82728"/>
                </a:solidFill>
                <a:latin typeface="Verdana"/>
                <a:cs typeface="Verdana"/>
              </a:rPr>
              <a:t>DISPLAY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87440" y="3101339"/>
            <a:ext cx="2362200" cy="967740"/>
            <a:chOff x="6187440" y="3101339"/>
            <a:chExt cx="2362200" cy="967740"/>
          </a:xfrm>
        </p:grpSpPr>
        <p:sp>
          <p:nvSpPr>
            <p:cNvPr id="9" name="object 9"/>
            <p:cNvSpPr/>
            <p:nvPr/>
          </p:nvSpPr>
          <p:spPr>
            <a:xfrm>
              <a:off x="6187440" y="3101339"/>
              <a:ext cx="2362200" cy="967740"/>
            </a:xfrm>
            <a:custGeom>
              <a:avLst/>
              <a:gdLst/>
              <a:ahLst/>
              <a:cxnLst/>
              <a:rect l="l" t="t" r="r" b="b"/>
              <a:pathLst>
                <a:path w="2362200" h="967739">
                  <a:moveTo>
                    <a:pt x="2362200" y="0"/>
                  </a:moveTo>
                  <a:lnTo>
                    <a:pt x="0" y="0"/>
                  </a:lnTo>
                  <a:lnTo>
                    <a:pt x="0" y="967740"/>
                  </a:lnTo>
                  <a:lnTo>
                    <a:pt x="2362200" y="96774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2220" y="3307079"/>
              <a:ext cx="335279" cy="6400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2760" y="3307079"/>
              <a:ext cx="335279" cy="640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68540" y="3307079"/>
              <a:ext cx="342900" cy="6324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79080" y="3307079"/>
              <a:ext cx="342900" cy="64007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0110" y="440690"/>
            <a:ext cx="739711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30" dirty="0">
                <a:solidFill>
                  <a:srgbClr val="404040"/>
                </a:solidFill>
              </a:rPr>
              <a:t>IF</a:t>
            </a:r>
            <a:r>
              <a:rPr sz="4000" spc="-80" dirty="0">
                <a:solidFill>
                  <a:srgbClr val="404040"/>
                </a:solidFill>
              </a:rPr>
              <a:t> </a:t>
            </a:r>
            <a:r>
              <a:rPr sz="4000" spc="-50" dirty="0">
                <a:solidFill>
                  <a:srgbClr val="404040"/>
                </a:solidFill>
              </a:rPr>
              <a:t>STATEMENT</a:t>
            </a:r>
            <a:r>
              <a:rPr sz="4000" spc="-65" dirty="0">
                <a:solidFill>
                  <a:srgbClr val="404040"/>
                </a:solidFill>
              </a:rPr>
              <a:t> </a:t>
            </a:r>
            <a:r>
              <a:rPr sz="4000" spc="30" dirty="0">
                <a:solidFill>
                  <a:srgbClr val="404040"/>
                </a:solidFill>
              </a:rPr>
              <a:t>IN</a:t>
            </a:r>
            <a:r>
              <a:rPr sz="4000" spc="-50" dirty="0">
                <a:solidFill>
                  <a:srgbClr val="404040"/>
                </a:solidFill>
              </a:rPr>
              <a:t> </a:t>
            </a:r>
            <a:r>
              <a:rPr sz="4000" spc="-35" dirty="0">
                <a:solidFill>
                  <a:srgbClr val="404040"/>
                </a:solidFill>
              </a:rPr>
              <a:t>ASSEMBLY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2781300" y="1539239"/>
            <a:ext cx="3489960" cy="1676400"/>
          </a:xfrm>
          <a:custGeom>
            <a:avLst/>
            <a:gdLst/>
            <a:ahLst/>
            <a:cxnLst/>
            <a:rect l="l" t="t" r="r" b="b"/>
            <a:pathLst>
              <a:path w="3489960" h="1676400">
                <a:moveTo>
                  <a:pt x="0" y="838200"/>
                </a:moveTo>
                <a:lnTo>
                  <a:pt x="1744979" y="0"/>
                </a:lnTo>
                <a:lnTo>
                  <a:pt x="3489960" y="838200"/>
                </a:lnTo>
                <a:lnTo>
                  <a:pt x="1744979" y="1676400"/>
                </a:lnTo>
                <a:lnTo>
                  <a:pt x="0" y="838200"/>
                </a:lnTo>
                <a:close/>
              </a:path>
            </a:pathLst>
          </a:custGeom>
          <a:ln w="60960">
            <a:solidFill>
              <a:srgbClr val="014E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67835" y="2213292"/>
            <a:ext cx="15201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15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1950" spc="5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1950" spc="25" dirty="0">
                <a:solidFill>
                  <a:srgbClr val="014EA0"/>
                </a:solidFill>
                <a:latin typeface="Verdana"/>
                <a:cs typeface="Verdana"/>
              </a:rPr>
              <a:t>PB7</a:t>
            </a:r>
            <a:r>
              <a:rPr sz="1950" spc="-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1950" spc="20" dirty="0">
                <a:solidFill>
                  <a:srgbClr val="014EA0"/>
                </a:solidFill>
                <a:latin typeface="Verdana"/>
                <a:cs typeface="Verdana"/>
              </a:rPr>
              <a:t>==1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68440" y="3429000"/>
            <a:ext cx="2186940" cy="1066800"/>
          </a:xfrm>
          <a:prstGeom prst="rect">
            <a:avLst/>
          </a:prstGeom>
          <a:ln w="60959">
            <a:solidFill>
              <a:srgbClr val="40404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Times New Roman"/>
              <a:cs typeface="Times New Roman"/>
            </a:endParaRPr>
          </a:p>
          <a:p>
            <a:pPr marL="15240" algn="ctr">
              <a:lnSpc>
                <a:spcPct val="100000"/>
              </a:lnSpc>
            </a:pPr>
            <a:r>
              <a:rPr sz="1800" spc="15" dirty="0">
                <a:solidFill>
                  <a:srgbClr val="404040"/>
                </a:solidFill>
                <a:latin typeface="Verdana"/>
                <a:cs typeface="Verdana"/>
              </a:rPr>
              <a:t>SHOW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404040"/>
                </a:solidFill>
                <a:latin typeface="Verdana"/>
                <a:cs typeface="Verdana"/>
              </a:rPr>
              <a:t>“H”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endParaRPr sz="1800">
              <a:latin typeface="Verdana"/>
              <a:cs typeface="Verdana"/>
            </a:endParaRPr>
          </a:p>
          <a:p>
            <a:pPr marL="20955" algn="ctr">
              <a:lnSpc>
                <a:spcPct val="100000"/>
              </a:lnSpc>
              <a:spcBef>
                <a:spcPts val="5"/>
              </a:spcBef>
            </a:pPr>
            <a:r>
              <a:rPr sz="1800" spc="10" dirty="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Verdana"/>
                <a:cs typeface="Verdana"/>
              </a:rPr>
              <a:t>7-SEG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404040"/>
                </a:solidFill>
                <a:latin typeface="Verdana"/>
                <a:cs typeface="Verdana"/>
              </a:rPr>
              <a:t>DISP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100" y="3429000"/>
            <a:ext cx="2179320" cy="1066800"/>
          </a:xfrm>
          <a:prstGeom prst="rect">
            <a:avLst/>
          </a:prstGeom>
          <a:ln w="60960">
            <a:solidFill>
              <a:srgbClr val="40404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Times New Roman"/>
              <a:cs typeface="Times New Roman"/>
            </a:endParaRPr>
          </a:p>
          <a:p>
            <a:pPr marL="158750" marR="143510" indent="175260">
              <a:lnSpc>
                <a:spcPct val="100000"/>
              </a:lnSpc>
            </a:pPr>
            <a:r>
              <a:rPr sz="1800" spc="15" dirty="0">
                <a:solidFill>
                  <a:srgbClr val="404040"/>
                </a:solidFill>
                <a:latin typeface="Verdana"/>
                <a:cs typeface="Verdana"/>
              </a:rPr>
              <a:t>SHOW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“0” </a:t>
            </a:r>
            <a:r>
              <a:rPr sz="1800" spc="10" dirty="0">
                <a:solidFill>
                  <a:srgbClr val="404040"/>
                </a:solidFill>
                <a:latin typeface="Verdana"/>
                <a:cs typeface="Verdana"/>
              </a:rPr>
              <a:t>IN </a:t>
            </a:r>
            <a:r>
              <a:rPr sz="18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Verdana"/>
                <a:cs typeface="Verdana"/>
              </a:rPr>
              <a:t>7-SEG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404040"/>
                </a:solidFill>
                <a:latin typeface="Verdana"/>
                <a:cs typeface="Verdana"/>
              </a:rPr>
              <a:t>DISP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17320" y="2346959"/>
            <a:ext cx="6340475" cy="1084580"/>
          </a:xfrm>
          <a:custGeom>
            <a:avLst/>
            <a:gdLst/>
            <a:ahLst/>
            <a:cxnLst/>
            <a:rect l="l" t="t" r="r" b="b"/>
            <a:pathLst>
              <a:path w="6340475" h="1084579">
                <a:moveTo>
                  <a:pt x="1365758" y="0"/>
                </a:moveTo>
                <a:lnTo>
                  <a:pt x="91440" y="0"/>
                </a:lnTo>
                <a:lnTo>
                  <a:pt x="79540" y="2387"/>
                </a:lnTo>
                <a:lnTo>
                  <a:pt x="69862" y="8915"/>
                </a:lnTo>
                <a:lnTo>
                  <a:pt x="63334" y="18592"/>
                </a:lnTo>
                <a:lnTo>
                  <a:pt x="60960" y="30480"/>
                </a:lnTo>
                <a:lnTo>
                  <a:pt x="60960" y="898906"/>
                </a:lnTo>
                <a:lnTo>
                  <a:pt x="0" y="898906"/>
                </a:lnTo>
                <a:lnTo>
                  <a:pt x="91440" y="1081786"/>
                </a:lnTo>
                <a:lnTo>
                  <a:pt x="167640" y="929386"/>
                </a:lnTo>
                <a:lnTo>
                  <a:pt x="182880" y="898906"/>
                </a:lnTo>
                <a:lnTo>
                  <a:pt x="121920" y="898906"/>
                </a:lnTo>
                <a:lnTo>
                  <a:pt x="121920" y="60960"/>
                </a:lnTo>
                <a:lnTo>
                  <a:pt x="1365758" y="60960"/>
                </a:lnTo>
                <a:lnTo>
                  <a:pt x="1365758" y="30480"/>
                </a:lnTo>
                <a:lnTo>
                  <a:pt x="1365758" y="0"/>
                </a:lnTo>
                <a:close/>
              </a:path>
              <a:path w="6340475" h="1084579">
                <a:moveTo>
                  <a:pt x="6339967" y="901700"/>
                </a:moveTo>
                <a:lnTo>
                  <a:pt x="6279007" y="901700"/>
                </a:lnTo>
                <a:lnTo>
                  <a:pt x="6279007" y="60960"/>
                </a:lnTo>
                <a:lnTo>
                  <a:pt x="6279007" y="30480"/>
                </a:lnTo>
                <a:lnTo>
                  <a:pt x="6276594" y="18592"/>
                </a:lnTo>
                <a:lnTo>
                  <a:pt x="6270053" y="8915"/>
                </a:lnTo>
                <a:lnTo>
                  <a:pt x="6260350" y="2387"/>
                </a:lnTo>
                <a:lnTo>
                  <a:pt x="6248527" y="0"/>
                </a:lnTo>
                <a:lnTo>
                  <a:pt x="4853940" y="0"/>
                </a:lnTo>
                <a:lnTo>
                  <a:pt x="4853940" y="60960"/>
                </a:lnTo>
                <a:lnTo>
                  <a:pt x="6218047" y="60960"/>
                </a:lnTo>
                <a:lnTo>
                  <a:pt x="6218047" y="901700"/>
                </a:lnTo>
                <a:lnTo>
                  <a:pt x="6157087" y="901700"/>
                </a:lnTo>
                <a:lnTo>
                  <a:pt x="6248527" y="1084580"/>
                </a:lnTo>
                <a:lnTo>
                  <a:pt x="6324727" y="932180"/>
                </a:lnTo>
                <a:lnTo>
                  <a:pt x="6339967" y="90170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97320" y="1925637"/>
            <a:ext cx="46418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E82728"/>
                </a:solidFill>
                <a:latin typeface="Verdana"/>
                <a:cs typeface="Verdana"/>
              </a:rPr>
              <a:t>Y</a:t>
            </a:r>
            <a:r>
              <a:rPr sz="1800" spc="-5" dirty="0">
                <a:solidFill>
                  <a:srgbClr val="E82728"/>
                </a:solidFill>
                <a:latin typeface="Verdana"/>
                <a:cs typeface="Verdana"/>
              </a:rPr>
              <a:t>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81225" y="1927288"/>
            <a:ext cx="370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E82728"/>
                </a:solidFill>
                <a:latin typeface="Verdana"/>
                <a:cs typeface="Verdana"/>
              </a:rPr>
              <a:t>NO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1889" y="516191"/>
            <a:ext cx="2553335" cy="3688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ORG</a:t>
            </a:r>
            <a:r>
              <a:rPr sz="24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Verdana"/>
                <a:cs typeface="Verdana"/>
              </a:rPr>
              <a:t>0x00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solidFill>
                  <a:srgbClr val="014EA0"/>
                </a:solidFill>
                <a:latin typeface="Verdana"/>
                <a:cs typeface="Verdana"/>
              </a:rPr>
              <a:t>BSF</a:t>
            </a:r>
            <a:r>
              <a:rPr sz="2400" spc="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240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2400">
              <a:latin typeface="Verdana"/>
              <a:cs typeface="Verdana"/>
            </a:endParaRPr>
          </a:p>
          <a:p>
            <a:pPr marL="12700" marR="47752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solidFill>
                  <a:srgbClr val="014EA0"/>
                </a:solidFill>
                <a:latin typeface="Verdana"/>
                <a:cs typeface="Verdana"/>
              </a:rPr>
              <a:t>BSF</a:t>
            </a:r>
            <a:r>
              <a:rPr sz="2400" spc="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014EA0"/>
                </a:solidFill>
                <a:latin typeface="Verdana"/>
                <a:cs typeface="Verdana"/>
              </a:rPr>
              <a:t>TRISB,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7 </a:t>
            </a:r>
            <a:r>
              <a:rPr sz="2400" spc="-8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CLRF </a:t>
            </a:r>
            <a:r>
              <a:rPr sz="2400" spc="-10" dirty="0">
                <a:solidFill>
                  <a:srgbClr val="014EA0"/>
                </a:solidFill>
                <a:latin typeface="Verdana"/>
                <a:cs typeface="Verdana"/>
              </a:rPr>
              <a:t>TRISA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 CLRF </a:t>
            </a:r>
            <a:r>
              <a:rPr sz="2400" spc="-10" dirty="0">
                <a:solidFill>
                  <a:srgbClr val="014EA0"/>
                </a:solidFill>
                <a:latin typeface="Verdana"/>
                <a:cs typeface="Verdana"/>
              </a:rPr>
              <a:t>TRISD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400" spc="-10" dirty="0">
                <a:solidFill>
                  <a:srgbClr val="014EA0"/>
                </a:solidFill>
                <a:latin typeface="Verdana"/>
                <a:cs typeface="Verdana"/>
              </a:rPr>
              <a:t>BCF</a:t>
            </a:r>
            <a:r>
              <a:rPr sz="2400" spc="-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 5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solidFill>
                  <a:srgbClr val="014EA0"/>
                </a:solidFill>
                <a:latin typeface="Verdana"/>
                <a:cs typeface="Verdana"/>
              </a:rPr>
              <a:t>BTFSC</a:t>
            </a:r>
            <a:r>
              <a:rPr sz="24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014EA0"/>
                </a:solidFill>
                <a:latin typeface="Verdana"/>
                <a:cs typeface="Verdana"/>
              </a:rPr>
              <a:t>PORTB,</a:t>
            </a:r>
            <a:r>
              <a:rPr sz="2400" spc="-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7</a:t>
            </a:r>
            <a:endParaRPr sz="2400">
              <a:latin typeface="Verdana"/>
              <a:cs typeface="Verdana"/>
            </a:endParaRPr>
          </a:p>
          <a:p>
            <a:pPr marL="226060">
              <a:lnSpc>
                <a:spcPct val="100000"/>
              </a:lnSpc>
              <a:spcBef>
                <a:spcPts val="5"/>
              </a:spcBef>
            </a:pPr>
            <a:r>
              <a:rPr sz="2400" spc="-35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400" spc="-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SHOWH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35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40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14EA0"/>
                </a:solidFill>
                <a:latin typeface="Verdana"/>
                <a:cs typeface="Verdana"/>
              </a:rPr>
              <a:t>SHOWZ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85460" y="199707"/>
            <a:ext cx="2821305" cy="4055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SHOWH</a:t>
            </a:r>
            <a:endParaRPr sz="2400" dirty="0">
              <a:latin typeface="Verdana"/>
              <a:cs typeface="Verdana"/>
            </a:endParaRPr>
          </a:p>
          <a:p>
            <a:pPr marL="469900" marR="5080">
              <a:lnSpc>
                <a:spcPct val="100000"/>
              </a:lnSpc>
              <a:spcBef>
                <a:spcPts val="5"/>
              </a:spcBef>
            </a:pPr>
            <a:r>
              <a:rPr sz="2400" spc="-35" dirty="0">
                <a:solidFill>
                  <a:srgbClr val="014EA0"/>
                </a:solidFill>
                <a:latin typeface="Verdana"/>
                <a:cs typeface="Verdana"/>
              </a:rPr>
              <a:t>MOVLW</a:t>
            </a:r>
            <a:r>
              <a:rPr sz="2400" spc="5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10" dirty="0" smtClean="0">
                <a:solidFill>
                  <a:srgbClr val="014EA0"/>
                </a:solidFill>
                <a:latin typeface="Verdana"/>
                <a:cs typeface="Verdana"/>
              </a:rPr>
              <a:t>0x</a:t>
            </a:r>
            <a:r>
              <a:rPr lang="en-US" sz="2400" spc="-10" dirty="0" smtClean="0">
                <a:solidFill>
                  <a:srgbClr val="014EA0"/>
                </a:solidFill>
                <a:latin typeface="Verdana"/>
                <a:cs typeface="Verdana"/>
              </a:rPr>
              <a:t>3C</a:t>
            </a:r>
            <a:r>
              <a:rPr sz="2400" spc="-10" dirty="0" smtClean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 smtClean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MOVWF </a:t>
            </a:r>
            <a:r>
              <a:rPr sz="2400" spc="-40" dirty="0">
                <a:solidFill>
                  <a:srgbClr val="014EA0"/>
                </a:solidFill>
                <a:latin typeface="Verdana"/>
                <a:cs typeface="Verdana"/>
              </a:rPr>
              <a:t>PORTA </a:t>
            </a:r>
            <a:r>
              <a:rPr sz="2400" spc="-8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14EA0"/>
                </a:solidFill>
                <a:latin typeface="Verdana"/>
                <a:cs typeface="Verdana"/>
              </a:rPr>
              <a:t>MOVLW</a:t>
            </a:r>
            <a:r>
              <a:rPr sz="2400" spc="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014EA0"/>
                </a:solidFill>
                <a:latin typeface="Verdana"/>
                <a:cs typeface="Verdana"/>
              </a:rPr>
              <a:t>0x76 </a:t>
            </a:r>
            <a:r>
              <a:rPr sz="2400" spc="-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MOVWF</a:t>
            </a:r>
            <a:r>
              <a:rPr sz="2400" spc="-6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014EA0"/>
                </a:solidFill>
                <a:latin typeface="Verdana"/>
                <a:cs typeface="Verdana"/>
              </a:rPr>
              <a:t>PORTD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400" spc="-35" dirty="0">
                <a:solidFill>
                  <a:srgbClr val="014EA0"/>
                </a:solidFill>
                <a:latin typeface="Verdana"/>
                <a:cs typeface="Verdana"/>
              </a:rPr>
              <a:t>GOTO </a:t>
            </a:r>
            <a:r>
              <a:rPr sz="2400" spc="-15" dirty="0">
                <a:solidFill>
                  <a:srgbClr val="014EA0"/>
                </a:solidFill>
                <a:latin typeface="Verdana"/>
                <a:cs typeface="Verdana"/>
              </a:rPr>
              <a:t>MAIN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SHOWZ</a:t>
            </a:r>
            <a:endParaRPr sz="2400" dirty="0">
              <a:latin typeface="Verdana"/>
              <a:cs typeface="Verdana"/>
            </a:endParaRPr>
          </a:p>
          <a:p>
            <a:pPr marL="469900" marR="5080">
              <a:lnSpc>
                <a:spcPct val="100000"/>
              </a:lnSpc>
              <a:spcBef>
                <a:spcPts val="5"/>
              </a:spcBef>
            </a:pPr>
            <a:r>
              <a:rPr sz="2400" spc="-35">
                <a:solidFill>
                  <a:srgbClr val="014EA0"/>
                </a:solidFill>
                <a:latin typeface="Verdana"/>
                <a:cs typeface="Verdana"/>
              </a:rPr>
              <a:t>MOVLW</a:t>
            </a:r>
            <a:r>
              <a:rPr sz="2400" spc="6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10" smtClean="0">
                <a:solidFill>
                  <a:srgbClr val="014EA0"/>
                </a:solidFill>
                <a:latin typeface="Verdana"/>
                <a:cs typeface="Verdana"/>
              </a:rPr>
              <a:t>0x</a:t>
            </a:r>
            <a:r>
              <a:rPr lang="en-US" sz="2400" spc="-10" smtClean="0">
                <a:solidFill>
                  <a:srgbClr val="014EA0"/>
                </a:solidFill>
                <a:latin typeface="Verdana"/>
                <a:cs typeface="Verdana"/>
              </a:rPr>
              <a:t>3C</a:t>
            </a:r>
            <a:r>
              <a:rPr sz="2400" spc="-10" smtClean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smtClean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MOVWF </a:t>
            </a:r>
            <a:r>
              <a:rPr sz="2400" spc="-40" dirty="0">
                <a:solidFill>
                  <a:srgbClr val="014EA0"/>
                </a:solidFill>
                <a:latin typeface="Verdana"/>
                <a:cs typeface="Verdana"/>
              </a:rPr>
              <a:t>PORTA </a:t>
            </a:r>
            <a:r>
              <a:rPr sz="2400" spc="-8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14EA0"/>
                </a:solidFill>
                <a:latin typeface="Verdana"/>
                <a:cs typeface="Verdana"/>
              </a:rPr>
              <a:t>MOVLW</a:t>
            </a:r>
            <a:r>
              <a:rPr sz="2400" spc="5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14EA0"/>
                </a:solidFill>
                <a:latin typeface="Verdana"/>
                <a:cs typeface="Verdana"/>
              </a:rPr>
              <a:t>0x3F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 MOVWF</a:t>
            </a:r>
            <a:r>
              <a:rPr sz="2400" spc="-6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014EA0"/>
                </a:solidFill>
                <a:latin typeface="Verdana"/>
                <a:cs typeface="Verdana"/>
              </a:rPr>
              <a:t>PORTD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94328" y="4229100"/>
            <a:ext cx="3556635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3705">
              <a:lnSpc>
                <a:spcPts val="2725"/>
              </a:lnSpc>
              <a:spcBef>
                <a:spcPts val="100"/>
              </a:spcBef>
            </a:pPr>
            <a:r>
              <a:rPr sz="2400" spc="-35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40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014EA0"/>
                </a:solidFill>
                <a:latin typeface="Verdana"/>
                <a:cs typeface="Verdana"/>
              </a:rPr>
              <a:t>MAIN</a:t>
            </a:r>
            <a:endParaRPr lang="en-US" sz="2400" spc="-15" dirty="0">
              <a:solidFill>
                <a:srgbClr val="014EA0"/>
              </a:solidFill>
              <a:latin typeface="Verdana"/>
              <a:cs typeface="Verdana"/>
            </a:endParaRPr>
          </a:p>
          <a:p>
            <a:pPr marL="1703705">
              <a:lnSpc>
                <a:spcPts val="2725"/>
              </a:lnSpc>
              <a:spcBef>
                <a:spcPts val="100"/>
              </a:spcBef>
            </a:pPr>
            <a:r>
              <a:rPr lang="en-US" sz="2400" spc="-15" dirty="0">
                <a:latin typeface="Verdana"/>
                <a:cs typeface="Verdana"/>
              </a:rPr>
              <a:t>END</a:t>
            </a:r>
            <a:endParaRPr lang="en-GB" sz="2400" spc="-15" dirty="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13660" y="4457700"/>
            <a:ext cx="388620" cy="289560"/>
          </a:xfrm>
          <a:custGeom>
            <a:avLst/>
            <a:gdLst/>
            <a:ahLst/>
            <a:cxnLst/>
            <a:rect l="l" t="t" r="r" b="b"/>
            <a:pathLst>
              <a:path w="388619" h="289560">
                <a:moveTo>
                  <a:pt x="291464" y="0"/>
                </a:moveTo>
                <a:lnTo>
                  <a:pt x="97154" y="0"/>
                </a:lnTo>
                <a:lnTo>
                  <a:pt x="97154" y="144779"/>
                </a:lnTo>
                <a:lnTo>
                  <a:pt x="0" y="144779"/>
                </a:lnTo>
                <a:lnTo>
                  <a:pt x="194309" y="289560"/>
                </a:lnTo>
                <a:lnTo>
                  <a:pt x="388619" y="144779"/>
                </a:lnTo>
                <a:lnTo>
                  <a:pt x="291464" y="144779"/>
                </a:lnTo>
                <a:lnTo>
                  <a:pt x="291464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2420" y="1249680"/>
            <a:ext cx="8595360" cy="3528060"/>
            <a:chOff x="312420" y="1249680"/>
            <a:chExt cx="8595360" cy="35280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420" y="1249680"/>
              <a:ext cx="8595360" cy="35280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7220" y="1950719"/>
              <a:ext cx="8290559" cy="2674620"/>
            </a:xfrm>
            <a:custGeom>
              <a:avLst/>
              <a:gdLst/>
              <a:ahLst/>
              <a:cxnLst/>
              <a:rect l="l" t="t" r="r" b="b"/>
              <a:pathLst>
                <a:path w="8290559" h="2674620">
                  <a:moveTo>
                    <a:pt x="3108960" y="1524000"/>
                  </a:moveTo>
                  <a:lnTo>
                    <a:pt x="2545080" y="1524000"/>
                  </a:lnTo>
                  <a:lnTo>
                    <a:pt x="2545080" y="1280160"/>
                  </a:lnTo>
                  <a:lnTo>
                    <a:pt x="0" y="1280160"/>
                  </a:lnTo>
                  <a:lnTo>
                    <a:pt x="0" y="2072640"/>
                  </a:lnTo>
                  <a:lnTo>
                    <a:pt x="2545080" y="2072640"/>
                  </a:lnTo>
                  <a:lnTo>
                    <a:pt x="2545080" y="1821180"/>
                  </a:lnTo>
                  <a:lnTo>
                    <a:pt x="3108960" y="1821180"/>
                  </a:lnTo>
                  <a:lnTo>
                    <a:pt x="3108960" y="1524000"/>
                  </a:lnTo>
                  <a:close/>
                </a:path>
                <a:path w="8290559" h="2674620">
                  <a:moveTo>
                    <a:pt x="7673340" y="2011680"/>
                  </a:moveTo>
                  <a:lnTo>
                    <a:pt x="5120640" y="2011680"/>
                  </a:lnTo>
                  <a:lnTo>
                    <a:pt x="5120640" y="2674620"/>
                  </a:lnTo>
                  <a:lnTo>
                    <a:pt x="7673340" y="2674620"/>
                  </a:lnTo>
                  <a:lnTo>
                    <a:pt x="7673340" y="2011680"/>
                  </a:lnTo>
                  <a:close/>
                </a:path>
                <a:path w="8290559" h="2674620">
                  <a:moveTo>
                    <a:pt x="8290560" y="0"/>
                  </a:moveTo>
                  <a:lnTo>
                    <a:pt x="4899660" y="0"/>
                  </a:lnTo>
                  <a:lnTo>
                    <a:pt x="4899660" y="1409700"/>
                  </a:lnTo>
                  <a:lnTo>
                    <a:pt x="8290560" y="1409700"/>
                  </a:lnTo>
                  <a:lnTo>
                    <a:pt x="8290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19933" y="214947"/>
            <a:ext cx="411543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10" dirty="0">
                <a:solidFill>
                  <a:srgbClr val="404040"/>
                </a:solidFill>
              </a:rPr>
              <a:t>MCU</a:t>
            </a:r>
            <a:r>
              <a:rPr sz="4800" spc="-35" dirty="0">
                <a:solidFill>
                  <a:srgbClr val="404040"/>
                </a:solidFill>
              </a:rPr>
              <a:t> </a:t>
            </a:r>
            <a:r>
              <a:rPr sz="4800" dirty="0">
                <a:solidFill>
                  <a:srgbClr val="404040"/>
                </a:solidFill>
              </a:rPr>
              <a:t>SYSTEM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652144" y="3293427"/>
            <a:ext cx="22339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E82728"/>
                </a:solidFill>
                <a:latin typeface="Verdana"/>
                <a:cs typeface="Verdana"/>
              </a:rPr>
              <a:t>PUSH</a:t>
            </a:r>
            <a:r>
              <a:rPr sz="2400" spc="-2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E82728"/>
                </a:solidFill>
                <a:latin typeface="Verdana"/>
                <a:cs typeface="Verdana"/>
              </a:rPr>
              <a:t>BUTTON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6680" y="3644265"/>
            <a:ext cx="793750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50" spc="-45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3150" spc="5" dirty="0">
                <a:solidFill>
                  <a:srgbClr val="E82728"/>
                </a:solidFill>
                <a:latin typeface="Verdana"/>
                <a:cs typeface="Verdana"/>
              </a:rPr>
              <a:t>A</a:t>
            </a:r>
            <a:r>
              <a:rPr sz="3150" spc="20" dirty="0">
                <a:solidFill>
                  <a:srgbClr val="E82728"/>
                </a:solidFill>
                <a:latin typeface="Verdana"/>
                <a:cs typeface="Verdana"/>
              </a:rPr>
              <a:t>0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10300" y="3208020"/>
            <a:ext cx="2202180" cy="769620"/>
          </a:xfrm>
          <a:custGeom>
            <a:avLst/>
            <a:gdLst/>
            <a:ahLst/>
            <a:cxnLst/>
            <a:rect l="l" t="t" r="r" b="b"/>
            <a:pathLst>
              <a:path w="2202179" h="769620">
                <a:moveTo>
                  <a:pt x="2202179" y="0"/>
                </a:moveTo>
                <a:lnTo>
                  <a:pt x="0" y="0"/>
                </a:lnTo>
                <a:lnTo>
                  <a:pt x="0" y="769620"/>
                </a:lnTo>
                <a:lnTo>
                  <a:pt x="2202179" y="769620"/>
                </a:lnTo>
                <a:lnTo>
                  <a:pt x="22021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98005" y="3089275"/>
            <a:ext cx="1868170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50" spc="30" dirty="0">
                <a:solidFill>
                  <a:srgbClr val="E82728"/>
                </a:solidFill>
                <a:latin typeface="Verdana"/>
                <a:cs typeface="Verdana"/>
              </a:rPr>
              <a:t>LEDS</a:t>
            </a:r>
            <a:r>
              <a:rPr sz="3150" spc="-5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E82728"/>
                </a:solidFill>
                <a:latin typeface="Verdana"/>
                <a:cs typeface="Verdana"/>
              </a:rPr>
              <a:t>ON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19240" y="3562350"/>
            <a:ext cx="141922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50" spc="15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3150" spc="35" dirty="0">
                <a:solidFill>
                  <a:srgbClr val="E82728"/>
                </a:solidFill>
                <a:latin typeface="Verdana"/>
                <a:cs typeface="Verdana"/>
              </a:rPr>
              <a:t>O</a:t>
            </a:r>
            <a:r>
              <a:rPr sz="3150" spc="-100" dirty="0">
                <a:solidFill>
                  <a:srgbClr val="E82728"/>
                </a:solidFill>
                <a:latin typeface="Verdana"/>
                <a:cs typeface="Verdana"/>
              </a:rPr>
              <a:t>R</a:t>
            </a:r>
            <a:r>
              <a:rPr sz="3150" spc="35" dirty="0">
                <a:solidFill>
                  <a:srgbClr val="E82728"/>
                </a:solidFill>
                <a:latin typeface="Verdana"/>
                <a:cs typeface="Verdana"/>
              </a:rPr>
              <a:t>T</a:t>
            </a:r>
            <a:r>
              <a:rPr sz="3150" spc="25" dirty="0">
                <a:solidFill>
                  <a:srgbClr val="E82728"/>
                </a:solidFill>
                <a:latin typeface="Verdana"/>
                <a:cs typeface="Verdana"/>
              </a:rPr>
              <a:t>D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0110" y="440690"/>
            <a:ext cx="739711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30" dirty="0">
                <a:solidFill>
                  <a:srgbClr val="404040"/>
                </a:solidFill>
              </a:rPr>
              <a:t>IF</a:t>
            </a:r>
            <a:r>
              <a:rPr sz="4000" spc="-80" dirty="0">
                <a:solidFill>
                  <a:srgbClr val="404040"/>
                </a:solidFill>
              </a:rPr>
              <a:t> </a:t>
            </a:r>
            <a:r>
              <a:rPr sz="4000" spc="-50" dirty="0">
                <a:solidFill>
                  <a:srgbClr val="404040"/>
                </a:solidFill>
              </a:rPr>
              <a:t>STATEMENT</a:t>
            </a:r>
            <a:r>
              <a:rPr sz="4000" spc="-65" dirty="0">
                <a:solidFill>
                  <a:srgbClr val="404040"/>
                </a:solidFill>
              </a:rPr>
              <a:t> </a:t>
            </a:r>
            <a:r>
              <a:rPr sz="4000" spc="30" dirty="0">
                <a:solidFill>
                  <a:srgbClr val="404040"/>
                </a:solidFill>
              </a:rPr>
              <a:t>IN</a:t>
            </a:r>
            <a:r>
              <a:rPr sz="4000" spc="-50" dirty="0">
                <a:solidFill>
                  <a:srgbClr val="404040"/>
                </a:solidFill>
              </a:rPr>
              <a:t> </a:t>
            </a:r>
            <a:r>
              <a:rPr sz="4000" spc="-35" dirty="0">
                <a:solidFill>
                  <a:srgbClr val="404040"/>
                </a:solidFill>
              </a:rPr>
              <a:t>ASSEMBLY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2781300" y="1539239"/>
            <a:ext cx="3489960" cy="1676400"/>
          </a:xfrm>
          <a:custGeom>
            <a:avLst/>
            <a:gdLst/>
            <a:ahLst/>
            <a:cxnLst/>
            <a:rect l="l" t="t" r="r" b="b"/>
            <a:pathLst>
              <a:path w="3489960" h="1676400">
                <a:moveTo>
                  <a:pt x="0" y="838200"/>
                </a:moveTo>
                <a:lnTo>
                  <a:pt x="1744979" y="0"/>
                </a:lnTo>
                <a:lnTo>
                  <a:pt x="3489960" y="838200"/>
                </a:lnTo>
                <a:lnTo>
                  <a:pt x="1744979" y="1676400"/>
                </a:lnTo>
                <a:lnTo>
                  <a:pt x="0" y="838200"/>
                </a:lnTo>
                <a:close/>
              </a:path>
            </a:pathLst>
          </a:custGeom>
          <a:ln w="60960">
            <a:solidFill>
              <a:srgbClr val="014E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75328" y="2213292"/>
            <a:ext cx="151320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15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1950" spc="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1950" spc="10" dirty="0">
                <a:solidFill>
                  <a:srgbClr val="014EA0"/>
                </a:solidFill>
                <a:latin typeface="Verdana"/>
                <a:cs typeface="Verdana"/>
              </a:rPr>
              <a:t>PA0</a:t>
            </a:r>
            <a:r>
              <a:rPr sz="1950" spc="-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1950" spc="20" dirty="0">
                <a:solidFill>
                  <a:srgbClr val="014EA0"/>
                </a:solidFill>
                <a:latin typeface="Verdana"/>
                <a:cs typeface="Verdana"/>
              </a:rPr>
              <a:t>==1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68440" y="3429000"/>
            <a:ext cx="2186940" cy="1066800"/>
          </a:xfrm>
          <a:prstGeom prst="rect">
            <a:avLst/>
          </a:prstGeom>
          <a:ln w="60959">
            <a:solidFill>
              <a:srgbClr val="40404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Times New Roman"/>
              <a:cs typeface="Times New Roman"/>
            </a:endParaRPr>
          </a:p>
          <a:p>
            <a:pPr marL="474345">
              <a:lnSpc>
                <a:spcPct val="100000"/>
              </a:lnSpc>
            </a:pPr>
            <a:r>
              <a:rPr sz="1800" spc="5" dirty="0">
                <a:solidFill>
                  <a:srgbClr val="404040"/>
                </a:solidFill>
                <a:latin typeface="Verdana"/>
                <a:cs typeface="Verdana"/>
              </a:rPr>
              <a:t>EVEN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BITS</a:t>
            </a:r>
            <a:endParaRPr sz="1800">
              <a:latin typeface="Verdana"/>
              <a:cs typeface="Verdana"/>
            </a:endParaRPr>
          </a:p>
          <a:p>
            <a:pPr marL="512445">
              <a:lnSpc>
                <a:spcPct val="100000"/>
              </a:lnSpc>
              <a:spcBef>
                <a:spcPts val="5"/>
              </a:spcBef>
            </a:pPr>
            <a:r>
              <a:rPr sz="1800" spc="1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Verdana"/>
                <a:cs typeface="Verdana"/>
              </a:rPr>
              <a:t>PORTD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100" y="3429000"/>
            <a:ext cx="2179320" cy="1066800"/>
          </a:xfrm>
          <a:prstGeom prst="rect">
            <a:avLst/>
          </a:prstGeom>
          <a:ln w="60960">
            <a:solidFill>
              <a:srgbClr val="40404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Times New Roman"/>
              <a:cs typeface="Times New Roman"/>
            </a:endParaRPr>
          </a:p>
          <a:p>
            <a:pPr marL="501650" marR="493395" indent="7620">
              <a:lnSpc>
                <a:spcPct val="100000"/>
              </a:lnSpc>
            </a:pPr>
            <a:r>
              <a:rPr sz="1800" spc="5" dirty="0">
                <a:solidFill>
                  <a:srgbClr val="404040"/>
                </a:solidFill>
                <a:latin typeface="Verdana"/>
                <a:cs typeface="Verdana"/>
              </a:rPr>
              <a:t>ODD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BITS </a:t>
            </a:r>
            <a:r>
              <a:rPr sz="1800" spc="-6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Verdana"/>
                <a:cs typeface="Verdana"/>
              </a:rPr>
              <a:t>PORTD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17320" y="2346959"/>
            <a:ext cx="6340475" cy="1084580"/>
          </a:xfrm>
          <a:custGeom>
            <a:avLst/>
            <a:gdLst/>
            <a:ahLst/>
            <a:cxnLst/>
            <a:rect l="l" t="t" r="r" b="b"/>
            <a:pathLst>
              <a:path w="6340475" h="1084579">
                <a:moveTo>
                  <a:pt x="1365758" y="0"/>
                </a:moveTo>
                <a:lnTo>
                  <a:pt x="91440" y="0"/>
                </a:lnTo>
                <a:lnTo>
                  <a:pt x="79540" y="2387"/>
                </a:lnTo>
                <a:lnTo>
                  <a:pt x="69862" y="8915"/>
                </a:lnTo>
                <a:lnTo>
                  <a:pt x="63334" y="18592"/>
                </a:lnTo>
                <a:lnTo>
                  <a:pt x="60960" y="30480"/>
                </a:lnTo>
                <a:lnTo>
                  <a:pt x="60960" y="898906"/>
                </a:lnTo>
                <a:lnTo>
                  <a:pt x="0" y="898906"/>
                </a:lnTo>
                <a:lnTo>
                  <a:pt x="91440" y="1081786"/>
                </a:lnTo>
                <a:lnTo>
                  <a:pt x="167640" y="929386"/>
                </a:lnTo>
                <a:lnTo>
                  <a:pt x="182880" y="898906"/>
                </a:lnTo>
                <a:lnTo>
                  <a:pt x="121920" y="898906"/>
                </a:lnTo>
                <a:lnTo>
                  <a:pt x="121920" y="60960"/>
                </a:lnTo>
                <a:lnTo>
                  <a:pt x="1365758" y="60960"/>
                </a:lnTo>
                <a:lnTo>
                  <a:pt x="1365758" y="30480"/>
                </a:lnTo>
                <a:lnTo>
                  <a:pt x="1365758" y="0"/>
                </a:lnTo>
                <a:close/>
              </a:path>
              <a:path w="6340475" h="1084579">
                <a:moveTo>
                  <a:pt x="6339967" y="901700"/>
                </a:moveTo>
                <a:lnTo>
                  <a:pt x="6279007" y="901700"/>
                </a:lnTo>
                <a:lnTo>
                  <a:pt x="6279007" y="60960"/>
                </a:lnTo>
                <a:lnTo>
                  <a:pt x="6279007" y="30480"/>
                </a:lnTo>
                <a:lnTo>
                  <a:pt x="6276594" y="18592"/>
                </a:lnTo>
                <a:lnTo>
                  <a:pt x="6270053" y="8915"/>
                </a:lnTo>
                <a:lnTo>
                  <a:pt x="6260350" y="2387"/>
                </a:lnTo>
                <a:lnTo>
                  <a:pt x="6248527" y="0"/>
                </a:lnTo>
                <a:lnTo>
                  <a:pt x="4853940" y="0"/>
                </a:lnTo>
                <a:lnTo>
                  <a:pt x="4853940" y="60960"/>
                </a:lnTo>
                <a:lnTo>
                  <a:pt x="6218047" y="60960"/>
                </a:lnTo>
                <a:lnTo>
                  <a:pt x="6218047" y="901700"/>
                </a:lnTo>
                <a:lnTo>
                  <a:pt x="6157087" y="901700"/>
                </a:lnTo>
                <a:lnTo>
                  <a:pt x="6248527" y="1084580"/>
                </a:lnTo>
                <a:lnTo>
                  <a:pt x="6324727" y="932180"/>
                </a:lnTo>
                <a:lnTo>
                  <a:pt x="6339967" y="90170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97320" y="1925637"/>
            <a:ext cx="46418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E82728"/>
                </a:solidFill>
                <a:latin typeface="Verdana"/>
                <a:cs typeface="Verdana"/>
              </a:rPr>
              <a:t>Y</a:t>
            </a:r>
            <a:r>
              <a:rPr sz="1800" spc="-5" dirty="0">
                <a:solidFill>
                  <a:srgbClr val="E82728"/>
                </a:solidFill>
                <a:latin typeface="Verdana"/>
                <a:cs typeface="Verdana"/>
              </a:rPr>
              <a:t>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81225" y="1927288"/>
            <a:ext cx="370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E82728"/>
                </a:solidFill>
                <a:latin typeface="Verdana"/>
                <a:cs typeface="Verdana"/>
              </a:rPr>
              <a:t>NO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6095" y="3032760"/>
            <a:ext cx="306197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5" dirty="0">
                <a:solidFill>
                  <a:srgbClr val="E82728"/>
                </a:solidFill>
                <a:latin typeface="Verdana"/>
                <a:cs typeface="Verdana"/>
              </a:rPr>
              <a:t>THANK</a:t>
            </a:r>
            <a:r>
              <a:rPr sz="4000" spc="-1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E82728"/>
                </a:solidFill>
                <a:latin typeface="Verdana"/>
                <a:cs typeface="Verdana"/>
              </a:rPr>
              <a:t>YOU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313</Words>
  <Application>Microsoft Office PowerPoint</Application>
  <PresentationFormat>On-screen Show (16:9)</PresentationFormat>
  <Paragraphs>89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Calibri</vt:lpstr>
      <vt:lpstr>Times New Roman</vt:lpstr>
      <vt:lpstr>Verdana</vt:lpstr>
      <vt:lpstr>Wingdings</vt:lpstr>
      <vt:lpstr>Office Theme</vt:lpstr>
      <vt:lpstr>CLASS 5</vt:lpstr>
      <vt:lpstr>Quiz review</vt:lpstr>
      <vt:lpstr>PowerPoint Presentation</vt:lpstr>
      <vt:lpstr>CLASS – WEEK 4</vt:lpstr>
      <vt:lpstr>IF STATEMENT</vt:lpstr>
      <vt:lpstr>IF STATEMENT</vt:lpstr>
      <vt:lpstr>IF STATEMENT</vt:lpstr>
      <vt:lpstr>IF STATEMENT</vt:lpstr>
      <vt:lpstr>IF STATEMENT</vt:lpstr>
      <vt:lpstr>IF STATEMENT IN ASSEMBLY</vt:lpstr>
      <vt:lpstr>PowerPoint Presentation</vt:lpstr>
      <vt:lpstr>BTFSC (Bit Test File Skip if Clear)</vt:lpstr>
      <vt:lpstr>PowerPoint Presentation</vt:lpstr>
      <vt:lpstr>MCU SYSTEM</vt:lpstr>
      <vt:lpstr>PowerPoint Presentation</vt:lpstr>
      <vt:lpstr>PowerPoint Presentation</vt:lpstr>
      <vt:lpstr>MCU SYSTEM</vt:lpstr>
      <vt:lpstr>IF STATEMENT IN ASSEMBLY</vt:lpstr>
      <vt:lpstr>PowerPoint Presentation</vt:lpstr>
      <vt:lpstr>MCU SYSTEM</vt:lpstr>
      <vt:lpstr>IF STATEMENT IN ASSEMBLY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hiba-hassan 123456</dc:creator>
  <cp:lastModifiedBy>Eng Mohamed Youssif</cp:lastModifiedBy>
  <cp:revision>10</cp:revision>
  <dcterms:created xsi:type="dcterms:W3CDTF">2022-02-22T05:44:12Z</dcterms:created>
  <dcterms:modified xsi:type="dcterms:W3CDTF">2025-11-16T09:09:57Z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2020-11-17T00:00:00Z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2022-02-22T00:00:00Z</vt:filetime>
  </property>
</Properties>
</file>