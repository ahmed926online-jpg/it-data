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89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3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6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7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7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1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4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4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3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7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3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F077-3BF5-46B1-88AF-89903965BDA5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133FD-5282-4B43-AD9F-1F63FF8F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Section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Running time vs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4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Order</a:t>
            </a:r>
            <a:r>
              <a:rPr lang="en-US" dirty="0" smtClean="0"/>
              <a:t> is the dominant factor in the running time without constants</a:t>
            </a:r>
          </a:p>
          <a:p>
            <a:pPr>
              <a:buFontTx/>
              <a:buChar char="-"/>
            </a:pPr>
            <a:r>
              <a:rPr lang="en-US" dirty="0" smtClean="0"/>
              <a:t>2n + 4		</a:t>
            </a:r>
            <a:r>
              <a:rPr lang="en-US" dirty="0" smtClean="0">
                <a:sym typeface="Wingdings" panose="05000000000000000000" pitchFamily="2" charset="2"/>
              </a:rPr>
              <a:t> O(n)</a:t>
            </a:r>
          </a:p>
          <a:p>
            <a:pPr>
              <a:buFontTx/>
              <a:buChar char="-"/>
            </a:pPr>
            <a:r>
              <a:rPr lang="en-US" dirty="0" smtClean="0">
                <a:sym typeface="Wingdings" panose="05000000000000000000" pitchFamily="2" charset="2"/>
              </a:rPr>
              <a:t>5n^2 + 5 		 O(n^2)</a:t>
            </a:r>
          </a:p>
          <a:p>
            <a:pPr>
              <a:buFontTx/>
              <a:buChar char="-"/>
            </a:pPr>
            <a:r>
              <a:rPr lang="en-US" dirty="0" smtClean="0">
                <a:sym typeface="Wingdings" panose="05000000000000000000" pitchFamily="2" charset="2"/>
              </a:rPr>
              <a:t>5logn + n		 O(n)</a:t>
            </a:r>
          </a:p>
          <a:p>
            <a:pPr>
              <a:buFontTx/>
              <a:buChar char="-"/>
            </a:pPr>
            <a:r>
              <a:rPr lang="en-US" dirty="0" smtClean="0">
                <a:sym typeface="Wingdings" panose="05000000000000000000" pitchFamily="2" charset="2"/>
              </a:rPr>
              <a:t>!n + n^3		 O(!n)</a:t>
            </a:r>
          </a:p>
          <a:p>
            <a:pPr>
              <a:buFontTx/>
              <a:buChar char="-"/>
            </a:pPr>
            <a:r>
              <a:rPr lang="en-US" dirty="0" smtClean="0">
                <a:sym typeface="Wingdings" panose="05000000000000000000" pitchFamily="2" charset="2"/>
              </a:rPr>
              <a:t>4n^3 + n + 10^6   O(n^3)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Growth rate</a:t>
            </a:r>
            <a:r>
              <a:rPr lang="en-US" dirty="0">
                <a:solidFill>
                  <a:prstClr val="black"/>
                </a:solidFill>
              </a:rPr>
              <a:t> of a function f(x) means how fast the value of f(x) increasing or decreasing as the value of x increases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452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942" t="22687" r="22644" b="11868"/>
          <a:stretch/>
        </p:blipFill>
        <p:spPr>
          <a:xfrm>
            <a:off x="838200" y="1854200"/>
            <a:ext cx="10515600" cy="46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3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882" t="28292" r="21631" b="20874"/>
          <a:stretch/>
        </p:blipFill>
        <p:spPr>
          <a:xfrm>
            <a:off x="1123406" y="1793966"/>
            <a:ext cx="10230394" cy="445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76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order ignore all constants ??? </a:t>
            </a:r>
          </a:p>
          <a:p>
            <a:r>
              <a:rPr lang="en-US" dirty="0" smtClean="0"/>
              <a:t>Order give us indication how algorithm do with large input size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</a:t>
            </a:r>
          </a:p>
          <a:p>
            <a:pPr marL="0" indent="0">
              <a:buNone/>
            </a:pPr>
            <a:r>
              <a:rPr lang="en-US" dirty="0" smtClean="0"/>
              <a:t>10^6 N	vs	20N^2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9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Order can computed from running time but it waste our time !!!</a:t>
            </a:r>
          </a:p>
          <a:p>
            <a:r>
              <a:rPr lang="en-US" dirty="0" smtClean="0"/>
              <a:t>Order calculation is easier than running time</a:t>
            </a:r>
          </a:p>
          <a:p>
            <a:r>
              <a:rPr lang="en-US" dirty="0" smtClean="0"/>
              <a:t>Order has different way for computing and it evaluated for</a:t>
            </a:r>
          </a:p>
          <a:p>
            <a:pPr>
              <a:buFontTx/>
              <a:buChar char="-"/>
            </a:pPr>
            <a:r>
              <a:rPr lang="en-US" dirty="0" smtClean="0"/>
              <a:t>Statements, Conditions and loops</a:t>
            </a:r>
          </a:p>
          <a:p>
            <a:pPr>
              <a:buFontTx/>
              <a:buChar char="-"/>
            </a:pPr>
            <a:r>
              <a:rPr lang="en-US" dirty="0" smtClean="0"/>
              <a:t>Recursion functions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5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Statements 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</a:p>
          <a:p>
            <a:pPr>
              <a:buFontTx/>
              <a:buChar char="-"/>
            </a:pPr>
            <a:r>
              <a:rPr lang="en-US" dirty="0" smtClean="0"/>
              <a:t>Except 	let Max = </a:t>
            </a:r>
            <a:r>
              <a:rPr lang="en-US" dirty="0" err="1" smtClean="0"/>
              <a:t>getMax</a:t>
            </a:r>
            <a:r>
              <a:rPr lang="en-US" dirty="0" smtClean="0"/>
              <a:t>(A)	</a:t>
            </a:r>
            <a:r>
              <a:rPr lang="en-US" dirty="0" smtClean="0">
                <a:sym typeface="Wingdings" panose="05000000000000000000" pitchFamily="2" charset="2"/>
              </a:rPr>
              <a:t> O(?)</a:t>
            </a:r>
          </a:p>
          <a:p>
            <a:pPr lvl="0"/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Conditions	   O(body)</a:t>
            </a:r>
          </a:p>
          <a:p>
            <a:pPr lvl="0">
              <a:buFontTx/>
              <a:buChar char="-"/>
            </a:pPr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Case of if statement with else statement or multiple </a:t>
            </a:r>
            <a:r>
              <a:rPr lang="en-US" dirty="0" err="1" smtClean="0">
                <a:solidFill>
                  <a:prstClr val="black"/>
                </a:solidFill>
                <a:sym typeface="Wingdings" panose="05000000000000000000" pitchFamily="2" charset="2"/>
              </a:rPr>
              <a:t>elseif</a:t>
            </a:r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 statements </a:t>
            </a:r>
          </a:p>
          <a:p>
            <a:pPr marL="0" lvl="0" indent="0">
              <a:buNone/>
            </a:pPr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O(?)</a:t>
            </a: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Loops 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O(body * number of iterations)</a:t>
            </a:r>
          </a:p>
          <a:p>
            <a:pPr marL="0" lvl="0" indent="0">
              <a:buNone/>
            </a:pPr>
            <a:r>
              <a:rPr 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- In case of loop with constant number of iterations   O(?) </a:t>
            </a:r>
            <a:endParaRPr lang="en-US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lvl="0" indent="0">
              <a:buNone/>
            </a:pPr>
            <a:endParaRPr lang="en-US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08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514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Ex1</a:t>
            </a:r>
          </a:p>
          <a:p>
            <a:pPr marL="0" indent="0">
              <a:buNone/>
            </a:pPr>
            <a:r>
              <a:rPr lang="en-US" dirty="0" smtClean="0"/>
              <a:t>Max = -</a:t>
            </a:r>
            <a:r>
              <a:rPr lang="en-US" dirty="0" err="1" smtClean="0"/>
              <a:t>inf</a:t>
            </a: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 I = 1 to N		</a:t>
            </a:r>
          </a:p>
          <a:p>
            <a:pPr marL="0" indent="0">
              <a:buNone/>
            </a:pPr>
            <a:r>
              <a:rPr lang="en-US" dirty="0" smtClean="0"/>
              <a:t>	if A[</a:t>
            </a:r>
            <a:r>
              <a:rPr lang="en-US" dirty="0" err="1" smtClean="0"/>
              <a:t>i</a:t>
            </a:r>
            <a:r>
              <a:rPr lang="en-US" dirty="0" smtClean="0"/>
              <a:t>] &gt; Max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Max = A[</a:t>
            </a:r>
            <a:r>
              <a:rPr lang="en-US" dirty="0" err="1" smtClean="0"/>
              <a:t>i</a:t>
            </a:r>
            <a:r>
              <a:rPr lang="en-US" dirty="0" smtClean="0"/>
              <a:t>]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endif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Endfor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Return Max	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</a:p>
          <a:p>
            <a:pPr marL="0" indent="0">
              <a:buNone/>
            </a:pPr>
            <a:endParaRPr lang="en-US" b="1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Order is O(N)</a:t>
            </a: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4608771" y="3596287"/>
            <a:ext cx="289559" cy="10349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0614" y="3852167"/>
            <a:ext cx="1459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 </a:t>
            </a:r>
            <a:r>
              <a:rPr lang="en-US" sz="2800" dirty="0" smtClean="0">
                <a:sym typeface="Wingdings" panose="05000000000000000000" pitchFamily="2" charset="2"/>
              </a:rPr>
              <a:t>O(1)</a:t>
            </a:r>
            <a:endParaRPr lang="en-US" sz="2800" dirty="0"/>
          </a:p>
        </p:txBody>
      </p:sp>
      <p:sp>
        <p:nvSpPr>
          <p:cNvPr id="6" name="Right Brace 5"/>
          <p:cNvSpPr/>
          <p:nvPr/>
        </p:nvSpPr>
        <p:spPr>
          <a:xfrm>
            <a:off x="6959600" y="3098801"/>
            <a:ext cx="550333" cy="1930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91213" y="3852167"/>
            <a:ext cx="279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 </a:t>
            </a:r>
            <a:r>
              <a:rPr lang="en-US" sz="2800" dirty="0" smtClean="0">
                <a:sym typeface="Wingdings" panose="05000000000000000000" pitchFamily="2" charset="2"/>
              </a:rPr>
              <a:t>O(n)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206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Ex2</a:t>
            </a:r>
          </a:p>
          <a:p>
            <a:pPr marL="0" indent="0">
              <a:buNone/>
            </a:pPr>
            <a:r>
              <a:rPr lang="en-US" dirty="0" smtClean="0"/>
              <a:t>Sum = 0		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I = 1 to N		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Sum = Sum + A[</a:t>
            </a:r>
            <a:r>
              <a:rPr lang="en-US" dirty="0" err="1" smtClean="0"/>
              <a:t>i</a:t>
            </a:r>
            <a:r>
              <a:rPr lang="en-US" dirty="0" smtClean="0"/>
              <a:t>]		</a:t>
            </a:r>
          </a:p>
          <a:p>
            <a:pPr marL="0" indent="0">
              <a:buNone/>
            </a:pPr>
            <a:r>
              <a:rPr lang="en-US" dirty="0" err="1" smtClean="0"/>
              <a:t>Endfor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Return Sum		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Order is O(N)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5071533" y="3022600"/>
            <a:ext cx="287867" cy="117686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52534" y="3349423"/>
            <a:ext cx="1591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  <a:sym typeface="Wingdings" panose="05000000000000000000" pitchFamily="2" charset="2"/>
              </a:rPr>
              <a:t> O(n)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40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322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Ex3</a:t>
            </a:r>
          </a:p>
          <a:p>
            <a:pPr marL="0" indent="0">
              <a:buNone/>
            </a:pPr>
            <a:r>
              <a:rPr lang="en-US" dirty="0" smtClean="0"/>
              <a:t>Sum = 0		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I = 1 to N 				</a:t>
            </a:r>
          </a:p>
          <a:p>
            <a:pPr marL="0" indent="0">
              <a:buNone/>
            </a:pPr>
            <a:r>
              <a:rPr lang="en-US" dirty="0" smtClean="0"/>
              <a:t>	For J = 1 to I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Sum = Sum + 1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endfor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endfor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Return Sum				</a:t>
            </a:r>
            <a:r>
              <a:rPr lang="en-US" dirty="0" smtClean="0">
                <a:sym typeface="Wingdings" panose="05000000000000000000" pitchFamily="2" charset="2"/>
              </a:rPr>
              <a:t> O(1)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Order is O(N^2)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5317067" y="3107267"/>
            <a:ext cx="220133" cy="8720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67400" y="3281690"/>
            <a:ext cx="1591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  <a:sym typeface="Wingdings" panose="05000000000000000000" pitchFamily="2" charset="2"/>
              </a:rPr>
              <a:t> O(n)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7649633" y="2751667"/>
            <a:ext cx="334434" cy="17272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77200" y="3353657"/>
            <a:ext cx="201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  <a:sym typeface="Wingdings" panose="05000000000000000000" pitchFamily="2" charset="2"/>
              </a:rPr>
              <a:t> </a:t>
            </a:r>
            <a:r>
              <a:rPr lang="en-US" sz="2800" dirty="0" smtClean="0">
                <a:solidFill>
                  <a:prstClr val="black"/>
                </a:solidFill>
                <a:sym typeface="Wingdings" panose="05000000000000000000" pitchFamily="2" charset="2"/>
              </a:rPr>
              <a:t>O(n^2)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6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268" y="524934"/>
            <a:ext cx="10515600" cy="614679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Ex4</a:t>
            </a:r>
          </a:p>
          <a:p>
            <a:pPr marL="0" indent="0">
              <a:buNone/>
            </a:pPr>
            <a:r>
              <a:rPr lang="en-US" dirty="0" smtClean="0"/>
              <a:t>Switch(choice)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1: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 N				</a:t>
            </a:r>
            <a:r>
              <a:rPr lang="en-US" sz="4000" dirty="0">
                <a:solidFill>
                  <a:prstClr val="black"/>
                </a:solidFill>
                <a:sym typeface="Wingdings" panose="05000000000000000000" pitchFamily="2" charset="2"/>
              </a:rPr>
              <a:t> O(1)</a:t>
            </a:r>
            <a:endParaRPr lang="en-US" sz="40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2: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Max = </a:t>
            </a:r>
            <a:r>
              <a:rPr lang="en-US" dirty="0" err="1" smtClean="0"/>
              <a:t>GetMax</a:t>
            </a:r>
            <a:r>
              <a:rPr lang="en-US" dirty="0" smtClean="0"/>
              <a:t>(A, N)		</a:t>
            </a:r>
            <a:r>
              <a:rPr lang="en-US" sz="4000" dirty="0">
                <a:solidFill>
                  <a:prstClr val="black"/>
                </a:solidFill>
                <a:sym typeface="Wingdings" panose="05000000000000000000" pitchFamily="2" charset="2"/>
              </a:rPr>
              <a:t> O(n)</a:t>
            </a:r>
            <a:endParaRPr lang="en-US" sz="40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 Max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case 3: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sum = 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for I = 1 to N</a:t>
            </a:r>
            <a:endParaRPr lang="ar-EG" dirty="0" smtClean="0"/>
          </a:p>
          <a:p>
            <a:pPr marL="0" indent="0">
              <a:buNone/>
            </a:pPr>
            <a:r>
              <a:rPr lang="ar-EG" dirty="0"/>
              <a:t>	</a:t>
            </a:r>
            <a:r>
              <a:rPr lang="ar-EG" dirty="0" smtClean="0"/>
              <a:t>		</a:t>
            </a:r>
            <a:r>
              <a:rPr lang="en-US" dirty="0" smtClean="0"/>
              <a:t>if sum &lt; </a:t>
            </a:r>
            <a:r>
              <a:rPr lang="en-US" dirty="0" err="1" smtClean="0"/>
              <a:t>GetMax</a:t>
            </a:r>
            <a:r>
              <a:rPr lang="en-US" dirty="0" smtClean="0"/>
              <a:t>(A,N)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sum += A[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endif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endfor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print sum</a:t>
            </a:r>
          </a:p>
          <a:p>
            <a:pPr marL="0" indent="0">
              <a:buNone/>
            </a:pPr>
            <a:r>
              <a:rPr lang="en-US" dirty="0" err="1" smtClean="0"/>
              <a:t>Endswitch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Order is O(N^2)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5147733" y="2252133"/>
            <a:ext cx="93134" cy="6773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5901267" y="4114800"/>
            <a:ext cx="177800" cy="863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90733" y="4289223"/>
            <a:ext cx="1481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  <a:sym typeface="Wingdings" panose="05000000000000000000" pitchFamily="2" charset="2"/>
              </a:rPr>
              <a:t> </a:t>
            </a:r>
            <a:r>
              <a:rPr lang="en-US" sz="2800" dirty="0" smtClean="0">
                <a:solidFill>
                  <a:prstClr val="black"/>
                </a:solidFill>
                <a:sym typeface="Wingdings" panose="05000000000000000000" pitchFamily="2" charset="2"/>
              </a:rPr>
              <a:t>O(n)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7958667" y="3708400"/>
            <a:ext cx="381000" cy="183726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466667" y="4365423"/>
            <a:ext cx="1888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  <a:sym typeface="Wingdings" panose="05000000000000000000" pitchFamily="2" charset="2"/>
              </a:rPr>
              <a:t> </a:t>
            </a:r>
            <a:r>
              <a:rPr lang="en-US" sz="2800" dirty="0" smtClean="0">
                <a:solidFill>
                  <a:prstClr val="black"/>
                </a:solidFill>
                <a:sym typeface="Wingdings" panose="05000000000000000000" pitchFamily="2" charset="2"/>
              </a:rPr>
              <a:t>O(n^2)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60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118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Section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2</dc:title>
  <dc:creator>Laptop Market</dc:creator>
  <cp:lastModifiedBy>Laptop Market</cp:lastModifiedBy>
  <cp:revision>9</cp:revision>
  <dcterms:created xsi:type="dcterms:W3CDTF">2022-09-07T13:25:40Z</dcterms:created>
  <dcterms:modified xsi:type="dcterms:W3CDTF">2022-09-07T14:58:03Z</dcterms:modified>
</cp:coreProperties>
</file>