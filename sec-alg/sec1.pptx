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FB518-74A5-4B60-8400-50B6F9585E1B}" type="datetimeFigureOut">
              <a:rPr lang="en-CA" smtClean="0"/>
              <a:t>2025-07-05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46CB1-1849-4B13-A38E-7DE3F1D00CAB}" type="slidenum">
              <a:rPr lang="en-CA" smtClean="0"/>
              <a:t>‹#›</a:t>
            </a:fld>
            <a:endParaRPr lang="en-CA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4212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FB518-74A5-4B60-8400-50B6F9585E1B}" type="datetimeFigureOut">
              <a:rPr lang="en-CA" smtClean="0"/>
              <a:t>2025-07-05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46CB1-1849-4B13-A38E-7DE3F1D00C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0127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FB518-74A5-4B60-8400-50B6F9585E1B}" type="datetimeFigureOut">
              <a:rPr lang="en-CA" smtClean="0"/>
              <a:t>2025-07-05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46CB1-1849-4B13-A38E-7DE3F1D00CAB}" type="slidenum">
              <a:rPr lang="en-CA" smtClean="0"/>
              <a:t>‹#›</a:t>
            </a:fld>
            <a:endParaRPr lang="en-CA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3785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FB518-74A5-4B60-8400-50B6F9585E1B}" type="datetimeFigureOut">
              <a:rPr lang="en-CA" smtClean="0"/>
              <a:t>2025-07-05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46CB1-1849-4B13-A38E-7DE3F1D00C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2960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FB518-74A5-4B60-8400-50B6F9585E1B}" type="datetimeFigureOut">
              <a:rPr lang="en-CA" smtClean="0"/>
              <a:t>2025-07-05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46CB1-1849-4B13-A38E-7DE3F1D00C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7893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FB518-74A5-4B60-8400-50B6F9585E1B}" type="datetimeFigureOut">
              <a:rPr lang="en-CA" smtClean="0"/>
              <a:t>2025-07-05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46CB1-1849-4B13-A38E-7DE3F1D00C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7054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FB518-74A5-4B60-8400-50B6F9585E1B}" type="datetimeFigureOut">
              <a:rPr lang="en-CA" smtClean="0"/>
              <a:t>2025-07-05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46CB1-1849-4B13-A38E-7DE3F1D00C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7040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1BFB518-74A5-4B60-8400-50B6F9585E1B}" type="datetimeFigureOut">
              <a:rPr lang="en-CA" smtClean="0"/>
              <a:t>2025-07-05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EB46CB1-1849-4B13-A38E-7DE3F1D00C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32912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FB518-74A5-4B60-8400-50B6F9585E1B}" type="datetimeFigureOut">
              <a:rPr lang="en-CA" smtClean="0"/>
              <a:t>2025-07-05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46CB1-1849-4B13-A38E-7DE3F1D00C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02549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FB518-74A5-4B60-8400-50B6F9585E1B}" type="datetimeFigureOut">
              <a:rPr lang="en-CA" smtClean="0"/>
              <a:t>2025-07-05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46CB1-1849-4B13-A38E-7DE3F1D00C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2075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FB518-74A5-4B60-8400-50B6F9585E1B}" type="datetimeFigureOut">
              <a:rPr lang="en-CA" smtClean="0"/>
              <a:t>2025-07-05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46CB1-1849-4B13-A38E-7DE3F1D00CA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602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1BFB518-74A5-4B60-8400-50B6F9585E1B}" type="datetimeFigureOut">
              <a:rPr lang="en-CA" smtClean="0"/>
              <a:t>2025-07-05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EB46CB1-1849-4B13-A38E-7DE3F1D00CAB}" type="slidenum">
              <a:rPr lang="en-CA" smtClean="0"/>
              <a:t>‹#›</a:t>
            </a:fld>
            <a:endParaRPr lang="en-CA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0037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A4BEE-A5B7-2FCC-47D7-E246B4C672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95E151-E524-C427-C1AC-A77F7F5B6A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b="1" dirty="0"/>
              <a:t>Section 1</a:t>
            </a:r>
          </a:p>
        </p:txBody>
      </p:sp>
    </p:spTree>
    <p:extLst>
      <p:ext uri="{BB962C8B-B14F-4D97-AF65-F5344CB8AC3E}">
        <p14:creationId xmlns:p14="http://schemas.microsoft.com/office/powerpoint/2010/main" val="3494643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354AB4F-2B3A-EEB4-FC0E-88CFC8889103}"/>
              </a:ext>
            </a:extLst>
          </p:cNvPr>
          <p:cNvSpPr txBox="1"/>
          <p:nvPr/>
        </p:nvSpPr>
        <p:spPr>
          <a:xfrm>
            <a:off x="762000" y="883920"/>
            <a:ext cx="111252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Definition</a:t>
            </a:r>
          </a:p>
          <a:p>
            <a:r>
              <a:rPr lang="en-US" sz="2400" dirty="0"/>
              <a:t>Algorithm is a </a:t>
            </a:r>
            <a:r>
              <a:rPr lang="en-US" sz="2400" b="1" dirty="0"/>
              <a:t>sequence of unambiguous instructions</a:t>
            </a:r>
            <a:r>
              <a:rPr lang="en-US" sz="2400" dirty="0"/>
              <a:t> for solving a problem. Each step must be clear, precise, and executable.</a:t>
            </a:r>
            <a:endParaRPr lang="en-CA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D236BD-13D5-E55D-29D8-3037523B69FC}"/>
              </a:ext>
            </a:extLst>
          </p:cNvPr>
          <p:cNvSpPr txBox="1"/>
          <p:nvPr/>
        </p:nvSpPr>
        <p:spPr>
          <a:xfrm>
            <a:off x="762000" y="2336800"/>
            <a:ext cx="111252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Key Philosophy</a:t>
            </a:r>
          </a:p>
          <a:p>
            <a:r>
              <a:rPr lang="en-US" sz="2400" b="1" dirty="0"/>
              <a:t>"Think before coding"</a:t>
            </a:r>
            <a:r>
              <a:rPr lang="en-US" sz="2400" dirty="0"/>
              <a:t> - Always emphasize algorithm design and planning before jumping into implementation. Strategy first, code second.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4513BE-BBCE-859E-5A35-DB5BE46F6D10}"/>
              </a:ext>
            </a:extLst>
          </p:cNvPr>
          <p:cNvSpPr txBox="1"/>
          <p:nvPr/>
        </p:nvSpPr>
        <p:spPr>
          <a:xfrm>
            <a:off x="762000" y="3878055"/>
            <a:ext cx="11125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Academic &amp; Professional Importance</a:t>
            </a:r>
          </a:p>
          <a:p>
            <a:r>
              <a:rPr lang="en-US" sz="2800" dirty="0"/>
              <a:t>Essential foundation for </a:t>
            </a:r>
            <a:r>
              <a:rPr lang="en-US" sz="2800" b="1" dirty="0"/>
              <a:t>CS students</a:t>
            </a:r>
            <a:r>
              <a:rPr lang="en-US" sz="2800" dirty="0"/>
              <a:t> and crucial for </a:t>
            </a:r>
            <a:r>
              <a:rPr lang="en-US" sz="2800" b="1" dirty="0"/>
              <a:t>technical interviews</a:t>
            </a:r>
            <a:r>
              <a:rPr lang="en-US" sz="2800" dirty="0"/>
              <a:t> in most technology companies.</a:t>
            </a:r>
          </a:p>
        </p:txBody>
      </p:sp>
    </p:spTree>
    <p:extLst>
      <p:ext uri="{BB962C8B-B14F-4D97-AF65-F5344CB8AC3E}">
        <p14:creationId xmlns:p14="http://schemas.microsoft.com/office/powerpoint/2010/main" val="1616903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A081A8-D4BB-4797-3A49-F1A87923F0AA}"/>
              </a:ext>
            </a:extLst>
          </p:cNvPr>
          <p:cNvSpPr txBox="1"/>
          <p:nvPr/>
        </p:nvSpPr>
        <p:spPr>
          <a:xfrm>
            <a:off x="762000" y="883920"/>
            <a:ext cx="111252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Dual Focus</a:t>
            </a:r>
          </a:p>
          <a:p>
            <a:r>
              <a:rPr lang="en-US" sz="2400" dirty="0"/>
              <a:t>Algorithm analysis concentrates on two main aspects:</a:t>
            </a:r>
            <a:endParaRPr lang="en-CA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D31E8A-3BD4-9727-8F66-2EF278A51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582" y="1891665"/>
            <a:ext cx="9210675" cy="14287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2F3712-132A-0557-2D88-066828721C88}"/>
              </a:ext>
            </a:extLst>
          </p:cNvPr>
          <p:cNvSpPr txBox="1"/>
          <p:nvPr/>
        </p:nvSpPr>
        <p:spPr>
          <a:xfrm>
            <a:off x="762000" y="3657600"/>
            <a:ext cx="9916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Analysis should be </a:t>
            </a:r>
            <a:r>
              <a:rPr lang="en-US" sz="2400" b="1" dirty="0"/>
              <a:t>independent of hardware, language, or compiler</a:t>
            </a:r>
            <a:r>
              <a:rPr lang="en-US" sz="2400" dirty="0"/>
              <a:t>. We measure algorithmic efficiency in a way that transcends specific computing environments.</a:t>
            </a:r>
            <a:endParaRPr lang="en-CA" sz="2400" b="1" dirty="0"/>
          </a:p>
        </p:txBody>
      </p:sp>
    </p:spTree>
    <p:extLst>
      <p:ext uri="{BB962C8B-B14F-4D97-AF65-F5344CB8AC3E}">
        <p14:creationId xmlns:p14="http://schemas.microsoft.com/office/powerpoint/2010/main" val="217473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3483FB-5EF7-9084-6B68-9619D0B7F5D8}"/>
              </a:ext>
            </a:extLst>
          </p:cNvPr>
          <p:cNvSpPr txBox="1"/>
          <p:nvPr/>
        </p:nvSpPr>
        <p:spPr>
          <a:xfrm>
            <a:off x="599440" y="88721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1" i="0" dirty="0">
                <a:effectLst/>
              </a:rPr>
              <a:t>Running Time vs Execution Time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14CAEF-D9A4-22AB-0726-27E31C4C7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02" y="1553527"/>
            <a:ext cx="9286875" cy="1524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955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B8120-6F70-5249-7B02-5B7ADD68D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F7E1D2-AAF0-13FF-B20B-7AAE1BDFB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207" y="1650047"/>
            <a:ext cx="8201025" cy="408622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0F0AA27-DDD4-0D8A-EB8C-A8BB499EEA8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548640" y="447040"/>
            <a:ext cx="10058400" cy="674688"/>
          </a:xfrm>
        </p:spPr>
        <p:txBody>
          <a:bodyPr>
            <a:normAutofit/>
          </a:bodyPr>
          <a:lstStyle/>
          <a:p>
            <a:r>
              <a:rPr lang="en-CA" sz="3200" b="1" dirty="0">
                <a:solidFill>
                  <a:schemeClr val="tx1"/>
                </a:solidFill>
              </a:rPr>
              <a:t>Compute the Running Time for those algorithms: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7A659B-5CDD-310C-C8D2-D81CF0A3C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7887" y="2935921"/>
            <a:ext cx="4848225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203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511B568-B836-5517-97DC-F1834321E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70" y="568642"/>
            <a:ext cx="4649470" cy="55511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A8DFB30-5BB2-E323-1FFD-F372099937AB}"/>
              </a:ext>
            </a:extLst>
          </p:cNvPr>
          <p:cNvSpPr txBox="1"/>
          <p:nvPr/>
        </p:nvSpPr>
        <p:spPr>
          <a:xfrm>
            <a:off x="5455920" y="710882"/>
            <a:ext cx="2570480" cy="147732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Loop Analysis (2n+2):</a:t>
            </a:r>
          </a:p>
          <a:p>
            <a:r>
              <a:rPr lang="en-US" dirty="0"/>
              <a:t>• Initialization: 1 step</a:t>
            </a:r>
            <a:br>
              <a:rPr lang="en-US" dirty="0"/>
            </a:br>
            <a:r>
              <a:rPr lang="en-US" dirty="0"/>
              <a:t>• Increments: n steps</a:t>
            </a:r>
            <a:br>
              <a:rPr lang="en-US" dirty="0"/>
            </a:br>
            <a:r>
              <a:rPr lang="en-US" dirty="0"/>
              <a:t>• Comparisons: n+1 steps</a:t>
            </a:r>
          </a:p>
          <a:p>
            <a:endParaRPr lang="en-CA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381057-700A-A098-C8C2-D40D16858016}"/>
              </a:ext>
            </a:extLst>
          </p:cNvPr>
          <p:cNvSpPr txBox="1"/>
          <p:nvPr/>
        </p:nvSpPr>
        <p:spPr>
          <a:xfrm>
            <a:off x="8093710" y="1934210"/>
            <a:ext cx="3021330" cy="258532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Inside Loop (per iteration):</a:t>
            </a:r>
          </a:p>
          <a:p>
            <a:r>
              <a:rPr lang="en-US" dirty="0"/>
              <a:t>• Condition check: 2 steps</a:t>
            </a:r>
          </a:p>
          <a:p>
            <a:r>
              <a:rPr lang="en-US" dirty="0"/>
              <a:t>  - Access A[</a:t>
            </a:r>
            <a:r>
              <a:rPr lang="en-US" dirty="0" err="1"/>
              <a:t>i</a:t>
            </a:r>
            <a:r>
              <a:rPr lang="en-US" dirty="0"/>
              <a:t>]: 1 step</a:t>
            </a:r>
          </a:p>
          <a:p>
            <a:r>
              <a:rPr lang="en-US" dirty="0"/>
              <a:t>  - Compare A[</a:t>
            </a:r>
            <a:r>
              <a:rPr lang="en-US" dirty="0" err="1"/>
              <a:t>i</a:t>
            </a:r>
            <a:r>
              <a:rPr lang="en-US" dirty="0"/>
              <a:t>] &gt; Max: 1 step</a:t>
            </a:r>
          </a:p>
          <a:p>
            <a:r>
              <a:rPr lang="en-US" dirty="0"/>
              <a:t>• Assignment: 2 steps</a:t>
            </a:r>
          </a:p>
          <a:p>
            <a:r>
              <a:rPr lang="en-US" dirty="0"/>
              <a:t>  - Access A[</a:t>
            </a:r>
            <a:r>
              <a:rPr lang="en-US" dirty="0" err="1"/>
              <a:t>i</a:t>
            </a:r>
            <a:r>
              <a:rPr lang="en-US" dirty="0"/>
              <a:t>]: 1 step</a:t>
            </a:r>
          </a:p>
          <a:p>
            <a:r>
              <a:rPr lang="en-US" dirty="0"/>
              <a:t>  - Store in Max: 1 step</a:t>
            </a:r>
          </a:p>
          <a:p>
            <a:r>
              <a:rPr lang="en-US" dirty="0"/>
              <a:t>• Total per iteration: 4 steps</a:t>
            </a:r>
          </a:p>
          <a:p>
            <a:r>
              <a:rPr lang="en-US" dirty="0"/>
              <a:t>• Executed n times = 4n steps</a:t>
            </a:r>
            <a:endParaRPr lang="en-CA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5F8D66-7459-1231-6A8A-B403BDE940F9}"/>
              </a:ext>
            </a:extLst>
          </p:cNvPr>
          <p:cNvSpPr txBox="1"/>
          <p:nvPr/>
        </p:nvSpPr>
        <p:spPr>
          <a:xfrm>
            <a:off x="5455920" y="4642434"/>
            <a:ext cx="3383280" cy="14773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CA" dirty="0"/>
              <a:t>Final Calculation:</a:t>
            </a:r>
          </a:p>
          <a:p>
            <a:r>
              <a:rPr lang="en-CA" dirty="0"/>
              <a:t>• Loop overhead: 2n+2 steps</a:t>
            </a:r>
          </a:p>
          <a:p>
            <a:r>
              <a:rPr lang="en-CA" dirty="0"/>
              <a:t>• Inside loop operations: 4n steps</a:t>
            </a:r>
          </a:p>
          <a:p>
            <a:r>
              <a:rPr lang="en-CA" dirty="0"/>
              <a:t>• Constants: 1+1 = 2 steps</a:t>
            </a:r>
          </a:p>
          <a:p>
            <a:r>
              <a:rPr lang="en-CA" dirty="0"/>
              <a:t>• Total: (2n+2) + 4n + 2 = 6n+4</a:t>
            </a:r>
          </a:p>
        </p:txBody>
      </p:sp>
    </p:spTree>
    <p:extLst>
      <p:ext uri="{BB962C8B-B14F-4D97-AF65-F5344CB8AC3E}">
        <p14:creationId xmlns:p14="http://schemas.microsoft.com/office/powerpoint/2010/main" val="1138859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ED607-3408-8BA0-F03D-A97143216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19C518C-063D-E4B5-8C3E-0287C007C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477" y="1604962"/>
            <a:ext cx="8086725" cy="36480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661DA5-B6D6-4A53-1B3E-DC38240CA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564" y="2833687"/>
            <a:ext cx="4867275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47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5438C-996C-8E17-3CD5-D119E95A2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FCAE9EF-0305-28EB-D274-0B5F2AF4202F}"/>
              </a:ext>
            </a:extLst>
          </p:cNvPr>
          <p:cNvSpPr txBox="1"/>
          <p:nvPr/>
        </p:nvSpPr>
        <p:spPr>
          <a:xfrm>
            <a:off x="5455920" y="710882"/>
            <a:ext cx="2570480" cy="147732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Loop Analysis (2n+2):</a:t>
            </a:r>
          </a:p>
          <a:p>
            <a:r>
              <a:rPr lang="en-US" dirty="0"/>
              <a:t>• Initialization: 1 step</a:t>
            </a:r>
            <a:br>
              <a:rPr lang="en-US" dirty="0"/>
            </a:br>
            <a:r>
              <a:rPr lang="en-US" dirty="0"/>
              <a:t>• Increments: n steps</a:t>
            </a:r>
            <a:br>
              <a:rPr lang="en-US" dirty="0"/>
            </a:br>
            <a:r>
              <a:rPr lang="en-US" dirty="0"/>
              <a:t>• Comparisons: n+1 steps</a:t>
            </a:r>
          </a:p>
          <a:p>
            <a:endParaRPr lang="en-CA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0F40D2-D84B-368E-2117-5F629CD04CAA}"/>
              </a:ext>
            </a:extLst>
          </p:cNvPr>
          <p:cNvSpPr txBox="1"/>
          <p:nvPr/>
        </p:nvSpPr>
        <p:spPr>
          <a:xfrm>
            <a:off x="8205470" y="2320290"/>
            <a:ext cx="3021330" cy="175432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/>
              <a:t>Inside Loop (per iteration):</a:t>
            </a:r>
          </a:p>
          <a:p>
            <a:r>
              <a:rPr lang="en-US" dirty="0"/>
              <a:t>• Access Sum: 1 step</a:t>
            </a:r>
            <a:br>
              <a:rPr lang="en-US" dirty="0"/>
            </a:br>
            <a:r>
              <a:rPr lang="en-US" dirty="0"/>
              <a:t>• Access A[</a:t>
            </a:r>
            <a:r>
              <a:rPr lang="en-US" dirty="0" err="1"/>
              <a:t>i</a:t>
            </a:r>
            <a:r>
              <a:rPr lang="en-US" dirty="0"/>
              <a:t>]: 1 step</a:t>
            </a:r>
            <a:br>
              <a:rPr lang="en-US" dirty="0"/>
            </a:br>
            <a:r>
              <a:rPr lang="en-US" dirty="0"/>
              <a:t>• Addition: 1 step</a:t>
            </a:r>
            <a:br>
              <a:rPr lang="en-US" dirty="0"/>
            </a:br>
            <a:r>
              <a:rPr lang="en-US" dirty="0"/>
              <a:t>• Total per iteration: 3 steps</a:t>
            </a:r>
            <a:br>
              <a:rPr lang="en-US" dirty="0"/>
            </a:br>
            <a:r>
              <a:rPr lang="en-US" dirty="0"/>
              <a:t>• Executed n times = </a:t>
            </a:r>
            <a:r>
              <a:rPr lang="en-US" b="1" dirty="0"/>
              <a:t>3n steps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3844C9-4117-8700-643D-53DD0F555970}"/>
              </a:ext>
            </a:extLst>
          </p:cNvPr>
          <p:cNvSpPr txBox="1"/>
          <p:nvPr/>
        </p:nvSpPr>
        <p:spPr>
          <a:xfrm>
            <a:off x="5410203" y="4429074"/>
            <a:ext cx="3383280" cy="14773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CA" b="1" dirty="0"/>
              <a:t>Final Calculation:</a:t>
            </a:r>
          </a:p>
          <a:p>
            <a:r>
              <a:rPr lang="en-CA" dirty="0"/>
              <a:t>• Loop overhead: 2n+2 steps</a:t>
            </a:r>
            <a:br>
              <a:rPr lang="en-CA" dirty="0"/>
            </a:br>
            <a:r>
              <a:rPr lang="en-CA" dirty="0"/>
              <a:t>• Inside loop operations: 3n steps</a:t>
            </a:r>
            <a:br>
              <a:rPr lang="en-CA" dirty="0"/>
            </a:br>
            <a:r>
              <a:rPr lang="en-CA" dirty="0"/>
              <a:t>• Constants: 1+1 = 2 steps</a:t>
            </a:r>
            <a:br>
              <a:rPr lang="en-CA" dirty="0"/>
            </a:br>
            <a:r>
              <a:rPr lang="en-CA" dirty="0"/>
              <a:t>• Total: (2n+2) + 3n + 2 = </a:t>
            </a:r>
            <a:r>
              <a:rPr lang="en-CA" b="1" dirty="0"/>
              <a:t>5n+4</a:t>
            </a:r>
            <a:endParaRPr lang="en-CA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BA05A3-0AB6-8EFD-2624-79F9BB3C2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56" y="876869"/>
            <a:ext cx="4734503" cy="411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644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D7E24-4593-0502-86FB-E78810A59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0E7241D-65F9-E6FB-0CD7-2AE117721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826" y="1457325"/>
            <a:ext cx="7953375" cy="39433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2B519AB-DDCA-E0C1-BEA4-925383CC6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8002" y="3104832"/>
            <a:ext cx="501967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95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21E30-63D6-A9D8-9390-37BADDEDF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ED1436E-2659-B72F-2EAC-EFA66B9B574C}"/>
              </a:ext>
            </a:extLst>
          </p:cNvPr>
          <p:cNvSpPr txBox="1"/>
          <p:nvPr/>
        </p:nvSpPr>
        <p:spPr>
          <a:xfrm>
            <a:off x="4429760" y="660082"/>
            <a:ext cx="2570480" cy="147732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Loop Analysis (2n+2):</a:t>
            </a:r>
          </a:p>
          <a:p>
            <a:r>
              <a:rPr lang="en-US" dirty="0"/>
              <a:t>• Initialization: 1 step</a:t>
            </a:r>
            <a:br>
              <a:rPr lang="en-US" dirty="0"/>
            </a:br>
            <a:r>
              <a:rPr lang="en-US" dirty="0"/>
              <a:t>• Increments: n steps</a:t>
            </a:r>
            <a:br>
              <a:rPr lang="en-US" dirty="0"/>
            </a:br>
            <a:r>
              <a:rPr lang="en-US" dirty="0"/>
              <a:t>• Comparisons: n+1 steps</a:t>
            </a:r>
          </a:p>
          <a:p>
            <a:endParaRPr lang="en-CA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F73258-EB99-9A77-4825-05F17851E945}"/>
              </a:ext>
            </a:extLst>
          </p:cNvPr>
          <p:cNvSpPr txBox="1"/>
          <p:nvPr/>
        </p:nvSpPr>
        <p:spPr>
          <a:xfrm>
            <a:off x="8325489" y="1012754"/>
            <a:ext cx="3021330" cy="34163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CA" b="1" dirty="0"/>
              <a:t>Inner Loop (per outer iteration):</a:t>
            </a:r>
            <a:endParaRPr lang="en-CA" dirty="0"/>
          </a:p>
          <a:p>
            <a:r>
              <a:rPr lang="en-CA" dirty="0"/>
              <a:t>Initialization: 1 step (j = 1)</a:t>
            </a:r>
          </a:p>
          <a:p>
            <a:r>
              <a:rPr lang="en-CA" dirty="0"/>
              <a:t>Increments: n steps (</a:t>
            </a:r>
            <a:r>
              <a:rPr lang="en-CA" dirty="0" err="1"/>
              <a:t>j++</a:t>
            </a:r>
            <a:r>
              <a:rPr lang="en-CA" dirty="0"/>
              <a:t>)</a:t>
            </a:r>
          </a:p>
          <a:p>
            <a:r>
              <a:rPr lang="en-CA" dirty="0"/>
              <a:t>Comparisons: n+1 steps (j ≤ N check)</a:t>
            </a:r>
          </a:p>
          <a:p>
            <a:r>
              <a:rPr lang="en-CA" dirty="0"/>
              <a:t>Count increment: n steps (count = count + 1)</a:t>
            </a:r>
          </a:p>
          <a:p>
            <a:r>
              <a:rPr lang="en-CA" dirty="0"/>
              <a:t>Total per outer iteration: </a:t>
            </a:r>
            <a:r>
              <a:rPr lang="en-CA" b="1" dirty="0"/>
              <a:t>4n+2 steps</a:t>
            </a:r>
            <a:endParaRPr lang="en-CA" dirty="0"/>
          </a:p>
          <a:p>
            <a:r>
              <a:rPr lang="en-CA" dirty="0"/>
              <a:t>Executed n times = </a:t>
            </a:r>
            <a:r>
              <a:rPr lang="en-CA" b="1" dirty="0"/>
              <a:t>(4n+2)n = 4n²+2n steps</a:t>
            </a:r>
            <a:endParaRPr lang="en-CA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834083-8C77-69AF-4CD5-065A7A4FEB58}"/>
              </a:ext>
            </a:extLst>
          </p:cNvPr>
          <p:cNvSpPr txBox="1"/>
          <p:nvPr/>
        </p:nvSpPr>
        <p:spPr>
          <a:xfrm>
            <a:off x="4404360" y="3889594"/>
            <a:ext cx="3383280" cy="23083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CA" b="1" dirty="0"/>
              <a:t>Final Calculation:</a:t>
            </a:r>
            <a:endParaRPr lang="en-CA" dirty="0"/>
          </a:p>
          <a:p>
            <a:r>
              <a:rPr lang="en-CA" dirty="0"/>
              <a:t>Outer loop overhead: 2n+2 steps</a:t>
            </a:r>
          </a:p>
          <a:p>
            <a:r>
              <a:rPr lang="en-CA" dirty="0"/>
              <a:t>Inner loop operations: 4n²+2n steps</a:t>
            </a:r>
          </a:p>
          <a:p>
            <a:r>
              <a:rPr lang="en-CA" dirty="0"/>
              <a:t>Constants: 1+1 = 2 steps (count initialization + return)</a:t>
            </a:r>
          </a:p>
          <a:p>
            <a:r>
              <a:rPr lang="en-CA" dirty="0"/>
              <a:t>Total: (2n+2) + (4n²+2n) + 2 = </a:t>
            </a:r>
            <a:r>
              <a:rPr lang="en-CA" b="1" dirty="0"/>
              <a:t>4n²+4n+4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63A430-BA24-33F7-C585-C6F7B0E967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1045"/>
          <a:stretch>
            <a:fillRect/>
          </a:stretch>
        </p:blipFill>
        <p:spPr>
          <a:xfrm>
            <a:off x="233045" y="825728"/>
            <a:ext cx="2723515" cy="47434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96BF8D-1FD2-6A32-6168-B42A614623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919"/>
          <a:stretch>
            <a:fillRect/>
          </a:stretch>
        </p:blipFill>
        <p:spPr>
          <a:xfrm>
            <a:off x="2611119" y="825728"/>
            <a:ext cx="1473835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906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FDA32-0D7D-0D96-2ED7-A7C5B5A9F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A24D2A-49C5-BDFB-E433-350C267FE133}"/>
              </a:ext>
            </a:extLst>
          </p:cNvPr>
          <p:cNvSpPr txBox="1"/>
          <p:nvPr/>
        </p:nvSpPr>
        <p:spPr>
          <a:xfrm>
            <a:off x="457200" y="769878"/>
            <a:ext cx="1101344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Algorithm Analysis Must Care With Three Concepts:</a:t>
            </a:r>
          </a:p>
          <a:p>
            <a:pPr>
              <a:buNone/>
            </a:pP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Worst Case:</a:t>
            </a:r>
            <a:r>
              <a:rPr lang="en-US" sz="2400" dirty="0"/>
              <a:t> </a:t>
            </a:r>
          </a:p>
          <a:p>
            <a:r>
              <a:rPr lang="en-US" sz="2400" dirty="0"/>
              <a:t>Analyze the maximum number of operations the algorithm will perform for any input of size n. This gives us the upper bound guarantee.</a:t>
            </a:r>
          </a:p>
          <a:p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Large Input Size:</a:t>
            </a:r>
            <a:r>
              <a:rPr lang="en-US" sz="2400" dirty="0"/>
              <a:t> </a:t>
            </a:r>
          </a:p>
          <a:p>
            <a:r>
              <a:rPr lang="en-US" sz="2400" dirty="0"/>
              <a:t>Focus on how the algorithm behaves as the input size grows very large (approaches infinity). Small input sizes don't reveal the true scalability.</a:t>
            </a:r>
          </a:p>
          <a:p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Constants Are Not Important:</a:t>
            </a:r>
            <a:r>
              <a:rPr lang="en-US" sz="2400" dirty="0"/>
              <a:t> </a:t>
            </a:r>
          </a:p>
          <a:p>
            <a:r>
              <a:rPr lang="en-US" sz="2400" dirty="0"/>
              <a:t>Ignore constant factors and lower-order terms. For example, 4n² + 4n + 4 simplifies to O(n²) because the n² term dominates for large n.</a:t>
            </a:r>
          </a:p>
        </p:txBody>
      </p:sp>
    </p:spTree>
    <p:extLst>
      <p:ext uri="{BB962C8B-B14F-4D97-AF65-F5344CB8AC3E}">
        <p14:creationId xmlns:p14="http://schemas.microsoft.com/office/powerpoint/2010/main" val="3713793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6C76C-3C85-5300-D6EE-C82E9D01D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B5CD0D-6B2C-5BA7-70C9-1323ECB3CCE2}"/>
              </a:ext>
            </a:extLst>
          </p:cNvPr>
          <p:cNvSpPr txBox="1"/>
          <p:nvPr/>
        </p:nvSpPr>
        <p:spPr>
          <a:xfrm>
            <a:off x="457200" y="553114"/>
            <a:ext cx="6532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Algorithm analysis covers these key areas: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4C44B51-278C-3814-9B93-9FA33D705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" y="1201063"/>
            <a:ext cx="1044448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Statements, Conditions and Loops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statements: O(1)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Conditional statements: analyze worst case branch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 loops: O(n)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Nested loops: O(n²), O(n³), etc.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Sequential statements: sum the complexities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Recursion Functions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using recurrence relations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Master theorem for divide-and-conquer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Tree method for visualization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Examples: binary search O(log n), merge sort O(n log 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256591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</TotalTime>
  <Words>694</Words>
  <Application>Microsoft Office PowerPoint</Application>
  <PresentationFormat>Widescreen</PresentationFormat>
  <Paragraphs>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Retrospect</vt:lpstr>
      <vt:lpstr>Algorithms</vt:lpstr>
      <vt:lpstr>PowerPoint Presentation</vt:lpstr>
      <vt:lpstr>PowerPoint Presentation</vt:lpstr>
      <vt:lpstr>PowerPoint Presentation</vt:lpstr>
      <vt:lpstr>Compute the Running Time for those algorithms: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Asmaa Khamis</dc:creator>
  <cp:lastModifiedBy>Asmaa Khamis</cp:lastModifiedBy>
  <cp:revision>1</cp:revision>
  <dcterms:created xsi:type="dcterms:W3CDTF">2025-07-05T19:17:08Z</dcterms:created>
  <dcterms:modified xsi:type="dcterms:W3CDTF">2025-07-05T22:37:43Z</dcterms:modified>
</cp:coreProperties>
</file>