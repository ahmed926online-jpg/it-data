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6"/>
  </p:notesMasterIdLst>
  <p:handoutMasterIdLst>
    <p:handoutMasterId r:id="rId37"/>
  </p:handout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3" r:id="rId14"/>
    <p:sldId id="274" r:id="rId15"/>
    <p:sldId id="275" r:id="rId16"/>
    <p:sldId id="276" r:id="rId17"/>
    <p:sldId id="277" r:id="rId18"/>
    <p:sldId id="278" r:id="rId19"/>
    <p:sldId id="270" r:id="rId20"/>
    <p:sldId id="271" r:id="rId21"/>
    <p:sldId id="272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6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Operating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Sec 1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7A42-BE86-A027-4965-7C1F3582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an Operating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CDAA73-654C-5895-EA9D-414721C6F8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01182"/>
            <a:ext cx="1008211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Hardware &amp; Software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all resources (CPU, Memory, I/O devices)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OS → No program can run</a:t>
            </a:r>
          </a:p>
        </p:txBody>
      </p:sp>
    </p:spTree>
    <p:extLst>
      <p:ext uri="{BB962C8B-B14F-4D97-AF65-F5344CB8AC3E}">
        <p14:creationId xmlns:p14="http://schemas.microsoft.com/office/powerpoint/2010/main" val="194299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F9FE-7938-2E40-2E57-60FDAB47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Functions of an OS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D82907D-13CC-384E-D721-6C203A00311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1024" y="2489885"/>
            <a:ext cx="501791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 Management</a:t>
            </a:r>
          </a:p>
          <a:p>
            <a:pPr marL="324000" lvl="1" indent="0" fontAlgn="base"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Creates, schedules, and terminates processes</a:t>
            </a:r>
          </a:p>
          <a:p>
            <a:pPr marL="324000" lvl="1" indent="0" fontAlgn="base"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 Music + Browser running together</a:t>
            </a:r>
          </a:p>
          <a:p>
            <a:pPr fontAlgn="base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Memory Management</a:t>
            </a:r>
          </a:p>
          <a:p>
            <a:pPr marL="324000" lvl="1" indent="0" fontAlgn="base"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Allocates &amp; frees RAM</a:t>
            </a:r>
          </a:p>
          <a:p>
            <a:pPr marL="324000" lvl="1" indent="0" fontAlgn="base"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Prevents processes from interfering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F84B6CF-732F-FE47-A287-FBA447F92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754" y="2474495"/>
            <a:ext cx="5346163" cy="268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File System Management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Organizes data into files &amp; directories</a:t>
            </a: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Controls access permissions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Device Management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Coordinates I/O devices (keyboard, mouse, printer)</a:t>
            </a: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drivers for communication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9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C970-9CD7-8532-F0A2-2761C568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Types of Operating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15FC-3AFA-2080-DEE8-00850D64A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Single-tasking vs. Multi-tasking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Single-user vs. Multi-user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Windows → User-friendly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Linux → Open-source, widely used in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MacOS → Apple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Android / iOS → Mobile 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4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04E2-7EA7-1A70-F80B-51122B00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740F4-5010-5D83-78F8-02117FF6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Open-source → Learn from real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Lightweight &amp; efficient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in servers, supercomputers, cloud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Perfect for learning OS concepts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31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196A2-B41A-49B6-34FA-57D0CF84AFE6}"/>
              </a:ext>
            </a:extLst>
          </p:cNvPr>
          <p:cNvSpPr txBox="1"/>
          <p:nvPr/>
        </p:nvSpPr>
        <p:spPr>
          <a:xfrm>
            <a:off x="2170854" y="2967335"/>
            <a:ext cx="78502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1">
                    <a:lumMod val="50000"/>
                  </a:schemeClr>
                </a:solidFill>
              </a:rPr>
              <a:t>Steps to install VM &amp; Linux </a:t>
            </a:r>
          </a:p>
        </p:txBody>
      </p:sp>
    </p:spTree>
    <p:extLst>
      <p:ext uri="{BB962C8B-B14F-4D97-AF65-F5344CB8AC3E}">
        <p14:creationId xmlns:p14="http://schemas.microsoft.com/office/powerpoint/2010/main" val="236798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236C2-A9A9-E47B-12E0-1C373D42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014075"/>
            <a:ext cx="10783805" cy="482984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2D91AB-8F88-CB4A-F154-8421817FD512}"/>
              </a:ext>
            </a:extLst>
          </p:cNvPr>
          <p:cNvCxnSpPr/>
          <p:nvPr/>
        </p:nvCxnSpPr>
        <p:spPr>
          <a:xfrm flipH="1">
            <a:off x="4079631" y="2827606"/>
            <a:ext cx="2419643" cy="225083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97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6B118-9742-00A6-480E-0B4DBCBE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04" y="1190513"/>
            <a:ext cx="11760591" cy="391728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F2F06E-D871-9B55-92C2-EDB3FD83ADE6}"/>
              </a:ext>
            </a:extLst>
          </p:cNvPr>
          <p:cNvCxnSpPr>
            <a:cxnSpLocks/>
          </p:cNvCxnSpPr>
          <p:nvPr/>
        </p:nvCxnSpPr>
        <p:spPr>
          <a:xfrm>
            <a:off x="8032652" y="1674056"/>
            <a:ext cx="323557" cy="160170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0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F8E9A8-CFA5-1808-754C-588CBBC6C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37" y="836398"/>
            <a:ext cx="11788726" cy="54271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BAC0A3-BA30-3F56-CB9E-BD07EF95C1E7}"/>
              </a:ext>
            </a:extLst>
          </p:cNvPr>
          <p:cNvCxnSpPr/>
          <p:nvPr/>
        </p:nvCxnSpPr>
        <p:spPr>
          <a:xfrm>
            <a:off x="1730326" y="4178105"/>
            <a:ext cx="548640" cy="450166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88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84C39-D949-9548-BB23-27A7D7BB1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348" y="1252066"/>
            <a:ext cx="6217365" cy="486738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1BA1AA-237A-E7AE-663C-EA679C589997}"/>
              </a:ext>
            </a:extLst>
          </p:cNvPr>
          <p:cNvCxnSpPr/>
          <p:nvPr/>
        </p:nvCxnSpPr>
        <p:spPr>
          <a:xfrm>
            <a:off x="6865034" y="4846279"/>
            <a:ext cx="98474" cy="75965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371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79F8F-0185-48C3-2BA1-072CA21B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234" y="911979"/>
            <a:ext cx="6306970" cy="513712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8578FC5-01F0-B187-A2B0-98D328BF3CAF}"/>
              </a:ext>
            </a:extLst>
          </p:cNvPr>
          <p:cNvSpPr/>
          <p:nvPr/>
        </p:nvSpPr>
        <p:spPr>
          <a:xfrm>
            <a:off x="3207434" y="4389121"/>
            <a:ext cx="365760" cy="3516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AEEC3-CC87-D3BD-B762-7031AB4380FE}"/>
              </a:ext>
            </a:extLst>
          </p:cNvPr>
          <p:cNvSpPr txBox="1"/>
          <p:nvPr/>
        </p:nvSpPr>
        <p:spPr>
          <a:xfrm>
            <a:off x="2841674" y="42725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171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8745A-5E9F-657E-3246-F4292457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38" y="893166"/>
            <a:ext cx="6499274" cy="512342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ED4A9C-1EA1-D0D6-5435-A65130A46DA4}"/>
              </a:ext>
            </a:extLst>
          </p:cNvPr>
          <p:cNvCxnSpPr>
            <a:cxnSpLocks/>
          </p:cNvCxnSpPr>
          <p:nvPr/>
        </p:nvCxnSpPr>
        <p:spPr>
          <a:xfrm flipH="1">
            <a:off x="7272997" y="4656406"/>
            <a:ext cx="407963" cy="74558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4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CE67-DEE5-C892-5674-BFCFD447C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" y="1100321"/>
            <a:ext cx="5438983" cy="434232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CC374D-AB3B-9873-422E-B1F9CD0D1874}"/>
              </a:ext>
            </a:extLst>
          </p:cNvPr>
          <p:cNvCxnSpPr>
            <a:cxnSpLocks/>
          </p:cNvCxnSpPr>
          <p:nvPr/>
        </p:nvCxnSpPr>
        <p:spPr>
          <a:xfrm flipH="1">
            <a:off x="4276579" y="4107766"/>
            <a:ext cx="422031" cy="71745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62FDD4D-BA15-0F73-B115-EB02A073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529" y="1100321"/>
            <a:ext cx="5608321" cy="43807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DF0E8C-41C4-E0A3-AE24-4C636D87BBA1}"/>
              </a:ext>
            </a:extLst>
          </p:cNvPr>
          <p:cNvCxnSpPr>
            <a:cxnSpLocks/>
          </p:cNvCxnSpPr>
          <p:nvPr/>
        </p:nvCxnSpPr>
        <p:spPr>
          <a:xfrm flipH="1">
            <a:off x="10379613" y="4107766"/>
            <a:ext cx="422031" cy="71745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0F7BDB-649F-064C-BF17-6B620AA058B5}"/>
              </a:ext>
            </a:extLst>
          </p:cNvPr>
          <p:cNvSpPr txBox="1"/>
          <p:nvPr/>
        </p:nvSpPr>
        <p:spPr>
          <a:xfrm>
            <a:off x="3242245" y="5842447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0EB-6A8C-6502-C286-44901E87506C}"/>
              </a:ext>
            </a:extLst>
          </p:cNvPr>
          <p:cNvSpPr txBox="1"/>
          <p:nvPr/>
        </p:nvSpPr>
        <p:spPr>
          <a:xfrm>
            <a:off x="8949756" y="5842447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218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9DEC1-4309-456F-C119-2256A63BF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8" y="1210590"/>
            <a:ext cx="5425711" cy="4205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FC7D3A-2141-9553-98FC-600440F6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33" y="1210590"/>
            <a:ext cx="5343549" cy="420547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008C72-F367-7117-15E2-629855B38420}"/>
              </a:ext>
            </a:extLst>
          </p:cNvPr>
          <p:cNvCxnSpPr/>
          <p:nvPr/>
        </p:nvCxnSpPr>
        <p:spPr>
          <a:xfrm flipH="1">
            <a:off x="4445391" y="4332849"/>
            <a:ext cx="323557" cy="54864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A91D2A-A35E-A05F-6067-A8C698AE2EAE}"/>
              </a:ext>
            </a:extLst>
          </p:cNvPr>
          <p:cNvSpPr txBox="1"/>
          <p:nvPr/>
        </p:nvSpPr>
        <p:spPr>
          <a:xfrm>
            <a:off x="2981880" y="5565448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BF5BA-7302-8398-18D4-8C958932C19A}"/>
              </a:ext>
            </a:extLst>
          </p:cNvPr>
          <p:cNvSpPr txBox="1"/>
          <p:nvPr/>
        </p:nvSpPr>
        <p:spPr>
          <a:xfrm>
            <a:off x="8771174" y="5565448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964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9E4BA-C0A5-4C6D-8DB7-2C5F1EB15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94" y="1172182"/>
            <a:ext cx="6316393" cy="495103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E365E0-6E95-7333-1772-4B7359D8A202}"/>
              </a:ext>
            </a:extLst>
          </p:cNvPr>
          <p:cNvSpPr/>
          <p:nvPr/>
        </p:nvSpPr>
        <p:spPr>
          <a:xfrm>
            <a:off x="6597748" y="5528602"/>
            <a:ext cx="1223889" cy="6189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E7D309-CF6B-6535-51D7-5579FE89D077}"/>
              </a:ext>
            </a:extLst>
          </p:cNvPr>
          <p:cNvCxnSpPr/>
          <p:nvPr/>
        </p:nvCxnSpPr>
        <p:spPr>
          <a:xfrm flipH="1">
            <a:off x="7329268" y="4726745"/>
            <a:ext cx="492369" cy="68931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7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1F5CF-5303-B34C-E2A5-A13F1CFB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56" y="1026942"/>
            <a:ext cx="9880733" cy="48955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A7C0E6-6A3B-51BA-70E4-92563FC9F076}"/>
              </a:ext>
            </a:extLst>
          </p:cNvPr>
          <p:cNvCxnSpPr/>
          <p:nvPr/>
        </p:nvCxnSpPr>
        <p:spPr>
          <a:xfrm flipH="1">
            <a:off x="4149969" y="2954215"/>
            <a:ext cx="2236763" cy="3094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ECA45-1989-CD55-91E1-93454356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7" y="1398817"/>
            <a:ext cx="11633982" cy="426493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D186FA-F7BA-9D23-4C6D-42EABC63678D}"/>
              </a:ext>
            </a:extLst>
          </p:cNvPr>
          <p:cNvCxnSpPr/>
          <p:nvPr/>
        </p:nvCxnSpPr>
        <p:spPr>
          <a:xfrm>
            <a:off x="5894363" y="3770142"/>
            <a:ext cx="647114" cy="773723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009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285B9-C558-B0B9-3866-A79511FC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17" y="1194597"/>
            <a:ext cx="11727766" cy="477017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B09870-6A8A-4D49-210C-64E1B1031AA2}"/>
              </a:ext>
            </a:extLst>
          </p:cNvPr>
          <p:cNvCxnSpPr>
            <a:cxnSpLocks/>
          </p:cNvCxnSpPr>
          <p:nvPr/>
        </p:nvCxnSpPr>
        <p:spPr>
          <a:xfrm flipH="1">
            <a:off x="3770142" y="3530991"/>
            <a:ext cx="1209821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946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943660-BFAA-7C2C-663B-C0B8718C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159" y="679609"/>
            <a:ext cx="5915682" cy="6066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1CC9A7-7D52-23A1-BB1B-5EB401C20CE5}"/>
              </a:ext>
            </a:extLst>
          </p:cNvPr>
          <p:cNvSpPr txBox="1"/>
          <p:nvPr/>
        </p:nvSpPr>
        <p:spPr>
          <a:xfrm>
            <a:off x="3889359" y="679609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9176E-E763-C4FC-C804-07974F5373CC}"/>
              </a:ext>
            </a:extLst>
          </p:cNvPr>
          <p:cNvSpPr txBox="1"/>
          <p:nvPr/>
        </p:nvSpPr>
        <p:spPr>
          <a:xfrm>
            <a:off x="4925881" y="567063"/>
            <a:ext cx="397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0267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91022-E043-4C52-339E-4DA2BF420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64" y="1209822"/>
            <a:ext cx="9601198" cy="46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21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9864B-3AB8-5656-008B-30C34513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72" y="649688"/>
            <a:ext cx="9129932" cy="6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19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A887C-40FE-80E7-1D33-D6648581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15" y="903849"/>
            <a:ext cx="10052617" cy="505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89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65AF3-4445-2C94-9557-38CC9488A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539" y="1012875"/>
            <a:ext cx="10235063" cy="51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34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C771A-F8E2-522E-7637-D97CE669C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34" y="1009357"/>
            <a:ext cx="9655080" cy="483928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DD4FBF-C664-DF73-D46F-AFB8120A9600}"/>
              </a:ext>
            </a:extLst>
          </p:cNvPr>
          <p:cNvCxnSpPr/>
          <p:nvPr/>
        </p:nvCxnSpPr>
        <p:spPr>
          <a:xfrm flipH="1">
            <a:off x="9622302" y="4994031"/>
            <a:ext cx="407963" cy="407963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18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51E3BE-F38B-5BEC-A604-C86361E1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298" y="953086"/>
            <a:ext cx="9867423" cy="495182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E5B1A3-1DB7-2DE3-2CEC-0B42EC65D085}"/>
              </a:ext>
            </a:extLst>
          </p:cNvPr>
          <p:cNvCxnSpPr>
            <a:cxnSpLocks/>
          </p:cNvCxnSpPr>
          <p:nvPr/>
        </p:nvCxnSpPr>
        <p:spPr>
          <a:xfrm flipH="1">
            <a:off x="9636369" y="4712677"/>
            <a:ext cx="464234" cy="68931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714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0569AB-A6F4-BCE5-F2AE-8D19276DE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649939"/>
            <a:ext cx="7802064" cy="601111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0C946E-6B53-B1D5-4F08-B80E9186D8B7}"/>
              </a:ext>
            </a:extLst>
          </p:cNvPr>
          <p:cNvCxnSpPr/>
          <p:nvPr/>
        </p:nvCxnSpPr>
        <p:spPr>
          <a:xfrm flipH="1">
            <a:off x="5036234" y="815926"/>
            <a:ext cx="604911" cy="32355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321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71C34-6336-1497-6FDD-C5E08AC8D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09572"/>
            <a:ext cx="11320432" cy="587740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466F8F-32CC-F454-6225-64B4FDD88D60}"/>
              </a:ext>
            </a:extLst>
          </p:cNvPr>
          <p:cNvCxnSpPr/>
          <p:nvPr/>
        </p:nvCxnSpPr>
        <p:spPr>
          <a:xfrm flipH="1">
            <a:off x="2039815" y="914400"/>
            <a:ext cx="1153551" cy="295422"/>
          </a:xfrm>
          <a:prstGeom prst="straightConnector1">
            <a:avLst/>
          </a:prstGeom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32B332-C6FA-00C1-E1F5-CA33C96F5F3B}"/>
              </a:ext>
            </a:extLst>
          </p:cNvPr>
          <p:cNvSpPr txBox="1"/>
          <p:nvPr/>
        </p:nvSpPr>
        <p:spPr>
          <a:xfrm>
            <a:off x="3404382" y="6620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2966F9-4E93-3A42-1F30-39C9D8A82A38}"/>
              </a:ext>
            </a:extLst>
          </p:cNvPr>
          <p:cNvCxnSpPr/>
          <p:nvPr/>
        </p:nvCxnSpPr>
        <p:spPr>
          <a:xfrm>
            <a:off x="8257735" y="5092505"/>
            <a:ext cx="689317" cy="464233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CE5294-EA90-B1F1-7D77-34D31C263493}"/>
              </a:ext>
            </a:extLst>
          </p:cNvPr>
          <p:cNvSpPr txBox="1"/>
          <p:nvPr/>
        </p:nvSpPr>
        <p:spPr>
          <a:xfrm>
            <a:off x="7948246" y="472674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50554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BE45F-5153-CFD1-0DEC-44FE4B18E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91" y="876001"/>
            <a:ext cx="10921107" cy="570621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699689-938C-A2FF-67EA-9A06232BDADA}"/>
              </a:ext>
            </a:extLst>
          </p:cNvPr>
          <p:cNvCxnSpPr/>
          <p:nvPr/>
        </p:nvCxnSpPr>
        <p:spPr>
          <a:xfrm>
            <a:off x="8328074" y="5373858"/>
            <a:ext cx="534572" cy="32355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432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AB95E-D9EF-D291-055B-0A6EC742B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21" y="967321"/>
            <a:ext cx="10686757" cy="550126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5C0ECC-A997-DCAD-7E3D-4851B3F3B7F1}"/>
              </a:ext>
            </a:extLst>
          </p:cNvPr>
          <p:cNvCxnSpPr/>
          <p:nvPr/>
        </p:nvCxnSpPr>
        <p:spPr>
          <a:xfrm>
            <a:off x="2278966" y="2729132"/>
            <a:ext cx="703385" cy="16881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3A6A13-0BF9-EC68-A568-0860FD97DD4E}"/>
              </a:ext>
            </a:extLst>
          </p:cNvPr>
          <p:cNvCxnSpPr/>
          <p:nvPr/>
        </p:nvCxnSpPr>
        <p:spPr>
          <a:xfrm>
            <a:off x="8876714" y="5162843"/>
            <a:ext cx="0" cy="49236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73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51278-DD5D-BF55-48E9-C13A8FF92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529" y="804939"/>
            <a:ext cx="8323420" cy="54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07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54</TotalTime>
  <Words>176</Words>
  <Application>Microsoft Office PowerPoint</Application>
  <PresentationFormat>Widescreen</PresentationFormat>
  <Paragraphs>45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Gill Sans MT</vt:lpstr>
      <vt:lpstr>Wingdings 2</vt:lpstr>
      <vt:lpstr>Custom</vt:lpstr>
      <vt:lpstr>Operating system </vt:lpstr>
      <vt:lpstr>What is an Operating System</vt:lpstr>
      <vt:lpstr>Functions of an OS</vt:lpstr>
      <vt:lpstr>Types of Operating Systems</vt:lpstr>
      <vt:lpstr>Why Linux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fatmaomar</dc:creator>
  <cp:lastModifiedBy>fatmaomar</cp:lastModifiedBy>
  <cp:revision>2</cp:revision>
  <dcterms:created xsi:type="dcterms:W3CDTF">2025-09-27T17:54:31Z</dcterms:created>
  <dcterms:modified xsi:type="dcterms:W3CDTF">2025-09-27T18:49:13Z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