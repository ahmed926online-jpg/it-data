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lecture by explaining that algorithms are not just code; they are precise plans for solving problems. Preview that the lecture will move from definitions to design and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expectations. Chapter 1 is the foundation before complexity analysis, sorting, searching, divide-and-conquer, greedy methods, and dynamic programming.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examples from daily life. Emphasize that algorithms are the logical engines behind software systems and that programming languages change, but algorithmic thinking transfers.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term carefully. Stress finite, well-defined, and unambiguous. Use the recipe analogy to make the definition memorable.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students practice identifying the four parts before they write pseudocode. This habit prevents vague algorithms.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A=7, B=5. Ask students: where is the input? processing? output? Why is this an algorithm, not a program?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each property with an example. For definiteness, compare “choose a good number” with “choose the smallest number.” For finiteness, mention infinite loops.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table as an interactive check. Ask students to identify the violated property before showing the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representation depends on audience and purpose. In exams and design discussions, pseudocode is often preferred because it focuses on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pseudocode should emphasize logic, not language syntax. Flowcharts are useful for visualizing branching and loops.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Maximum in a list as example: the algorithm stores the largest value seen so far; the program is the Python/C++/Java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components are building blocks. Give an example for each: READ grade, average calculation, IF pass/fail, FOR each element, RETURN 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trace several marks. Make clear that the same algorithm handles all valid marks, not just the two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all eight design-process ideas from the chapter but group implement, test, and improve to keep the slide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example A=[8,3,12,5,9]. Ask what max should be initially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values one by one. Highlight that 2 and 7 do not change max because they are not greater than the current 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students trace result each iteration. Emphasize the edge case 0! = 1 and that the loop may not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how many comparisons if target is first? if target is absent? Explain why −1 commonly means not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pair transformation. Explain termination: the remainder is always smaller than the divisor, so the second value eventually reaches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review checklist before coding. Ask students to apply it to their own pseudocode.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live activities. They are adapted from the chapter exercises and reinforce tracing, design, definiteness, and GCD.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connecting Chapter 1 to Chapter 2: once we know how to describe an algorithm, we can analyze how its time and memory grow.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isometric_3d_vector_illustration_on_a_dark_batch_3.png">    </p:cNvPr>
          <p:cNvPicPr>
            <a:picLocks noChangeAspect="1"/>
          </p:cNvPicPr>
          <p:nvPr/>
        </p:nvPicPr>
        <p:blipFill>
          <a:blip r:embed="rId1"/>
          <a:srcRect l="23623" r="23623" t="0" b="0"/>
          <a:stretch/>
        </p:blipFill>
        <p:spPr>
          <a:xfrm>
            <a:off x="5760720" y="0"/>
            <a:ext cx="642823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109728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 to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21792" y="260604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6F3FF"/>
                </a:solidFill>
              </a:rPr>
              <a:t>Algorithms Analysis and Design • CS311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6F3FF"/>
                </a:solidFill>
              </a:rPr>
              <a:t>Chapter 1 Lecture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21792" y="3703320"/>
            <a:ext cx="4480560" cy="420624"/>
          </a:xfrm>
          <a:prstGeom prst="roundRect">
            <a:avLst>
              <a:gd name="adj" fmla="val 17391"/>
            </a:avLst>
          </a:prstGeom>
          <a:solidFill>
            <a:srgbClr val="0A66C2"/>
          </a:solidFill>
          <a:ln>
            <a:solidFill>
              <a:srgbClr val="0A66C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problem thinking to precise steps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Roadmap: What we will build today</a:t>
            </a:r>
            <a:endParaRPr lang="en-US" sz="2900" dirty="0"/>
          </a:p>
        </p:txBody>
      </p:sp>
      <p:pic>
        <p:nvPicPr>
          <p:cNvPr id="6" name="Image 0" descr="/mnt/data/wide_clean_modern_vector_3d_styled_illustration_batch_1.png">    </p:cNvPr>
          <p:cNvPicPr>
            <a:picLocks noChangeAspect="1"/>
          </p:cNvPicPr>
          <p:nvPr/>
        </p:nvPicPr>
        <p:blipFill>
          <a:blip r:embed="rId1"/>
          <a:srcRect l="0" r="0" t="33496" b="33496"/>
          <a:stretch/>
        </p:blipFill>
        <p:spPr>
          <a:xfrm>
            <a:off x="320040" y="1261872"/>
            <a:ext cx="11567160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79476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A66C2"/>
          </a:solidFill>
          <a:ln>
            <a:solidFill>
              <a:srgbClr val="0A66C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834640" y="379476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2B3A8"/>
          </a:solidFill>
          <a:ln>
            <a:solidFill>
              <a:srgbClr val="12B3A8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Properties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937760" y="379476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040880" y="379476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Process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144000" y="379476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14400" y="4526280"/>
            <a:ext cx="1042416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0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an algorithm and identify its role in Computer Science.</a:t>
            </a:r>
            <a:endParaRPr lang="en-US" sz="2000" dirty="0"/>
          </a:p>
          <a:p>
            <a:r>
              <a:rPr lang="en-US" sz="20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five essential algorithm characteristics.</a:t>
            </a:r>
            <a:endParaRPr lang="en-US" sz="2000" dirty="0"/>
          </a:p>
          <a:p>
            <a:r>
              <a:rPr lang="en-US" sz="20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and trace algorithms using pseudocode, flowcharts, and examples.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Study Algorithms?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2148840" cy="621792"/>
          </a:xfrm>
          <a:prstGeom prst="roundRect">
            <a:avLst>
              <a:gd name="adj" fmla="val 11765"/>
            </a:avLst>
          </a:prstGeom>
          <a:solidFill>
            <a:srgbClr val="EAF6FF"/>
          </a:solidFill>
          <a:ln w="12700"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engines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08960" y="1325880"/>
            <a:ext cx="2148840" cy="621792"/>
          </a:xfrm>
          <a:prstGeom prst="roundRect">
            <a:avLst>
              <a:gd name="adj" fmla="val 11765"/>
            </a:avLst>
          </a:prstGeom>
          <a:solidFill>
            <a:srgbClr val="E7FBF8"/>
          </a:solidFill>
          <a:ln w="12700">
            <a:solidFill>
              <a:srgbClr val="A9EE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 apps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32120" y="1325880"/>
            <a:ext cx="2468880" cy="621792"/>
          </a:xfrm>
          <a:prstGeom prst="roundRect">
            <a:avLst>
              <a:gd name="adj" fmla="val 11765"/>
            </a:avLst>
          </a:prstGeom>
          <a:solidFill>
            <a:srgbClr val="FFF7E6"/>
          </a:solidFill>
          <a:ln w="12700">
            <a:solidFill>
              <a:srgbClr val="FFD5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systems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21040" y="1325880"/>
            <a:ext cx="2148840" cy="621792"/>
          </a:xfrm>
          <a:prstGeom prst="roundRect">
            <a:avLst>
              <a:gd name="adj" fmla="val 11765"/>
            </a:avLst>
          </a:prstGeom>
          <a:solidFill>
            <a:srgbClr val="F2EEFF"/>
          </a:solidFill>
          <a:ln w="12700">
            <a:solidFill>
              <a:srgbClr val="D0BE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tools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08960" y="3054096"/>
            <a:ext cx="5989320" cy="512064"/>
          </a:xfrm>
          <a:prstGeom prst="roundRect">
            <a:avLst>
              <a:gd name="adj" fmla="val 14286"/>
            </a:avLst>
          </a:prstGeom>
          <a:solidFill>
            <a:srgbClr val="0B1E3D"/>
          </a:solidFill>
          <a:ln>
            <a:solidFill>
              <a:srgbClr val="0B1E3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transform inputs into useful outputs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51560" y="3977640"/>
            <a:ext cx="101498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9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algorithmic idea can be implemented in Python, C++, Java, or another language.</a:t>
            </a:r>
            <a:endParaRPr lang="en-US" sz="1900" dirty="0"/>
          </a:p>
          <a:p>
            <a:r>
              <a:rPr lang="en-US" sz="19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 goal is to think before implementation: What is given? What is required? Will it stop?</a:t>
            </a:r>
            <a:endParaRPr lang="en-US" sz="1900" dirty="0"/>
          </a:p>
          <a:p>
            <a:r>
              <a:rPr lang="en-US" sz="19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correct algorithms may solve the same problem with very different efficiency.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an Algorithm?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EAF6FF"/>
          </a:solidFill>
          <a:ln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 finite sequence of well-defined, unambiguous instructions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solving a problem or performing a computation.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3035808"/>
            <a:ext cx="1554480" cy="0"/>
          </a:xfrm>
          <a:prstGeom prst="line">
            <a:avLst/>
          </a:prstGeom>
          <a:noFill/>
          <a:ln w="27940">
            <a:solidFill>
              <a:srgbClr val="15C3F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886200" y="3035808"/>
            <a:ext cx="1691640" cy="0"/>
          </a:xfrm>
          <a:prstGeom prst="line">
            <a:avLst/>
          </a:prstGeom>
          <a:noFill/>
          <a:ln w="27940">
            <a:solidFill>
              <a:srgbClr val="15C3F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675120" y="3035808"/>
            <a:ext cx="1737360" cy="0"/>
          </a:xfrm>
          <a:prstGeom prst="line">
            <a:avLst/>
          </a:prstGeom>
          <a:noFill/>
          <a:ln w="27940">
            <a:solidFill>
              <a:srgbClr val="15C3F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22960" y="2606040"/>
            <a:ext cx="1325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9ED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A66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017520" y="2606040"/>
            <a:ext cx="1325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9ED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B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532120" y="2606040"/>
            <a:ext cx="1737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9ED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412480" y="2606040"/>
            <a:ext cx="14173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9ED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60120" y="4297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Recipe analogy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4709160"/>
            <a:ext cx="374904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Ingredients = input data</a:t>
            </a:r>
            <a:endParaRPr lang="en-US" sz="1800" dirty="0"/>
          </a:p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Ordered actions = algorithm steps</a:t>
            </a:r>
            <a:endParaRPr lang="en-US" sz="1800" dirty="0"/>
          </a:p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dish = output result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4297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Computer analogy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470916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Data, operations, decision rules</a:t>
            </a:r>
            <a:endParaRPr lang="en-US" sz="1800" dirty="0"/>
          </a:p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result produced after finite steps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Writing: Separate the Problem into Four Parts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EAF6FF"/>
          </a:solidFill>
          <a:ln w="12700">
            <a:solidFill>
              <a:srgbClr val="9ED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58368" y="2057400"/>
            <a:ext cx="22402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243044"/>
                </a:solidFill>
              </a:rPr>
              <a:t>What task must be solved?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319272" y="132588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E7FBF8"/>
          </a:solidFill>
          <a:ln w="12700">
            <a:solidFill>
              <a:srgbClr val="A9EE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319272" y="2057400"/>
            <a:ext cx="22402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243044"/>
                </a:solidFill>
              </a:rPr>
              <a:t>What data is supplied?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980176" y="132588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D5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980176" y="2057400"/>
            <a:ext cx="22402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243044"/>
                </a:solidFill>
              </a:rPr>
              <a:t>What operations are performed?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641080" y="132588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2700">
            <a:solidFill>
              <a:srgbClr val="9DEC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641080" y="2057400"/>
            <a:ext cx="22402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243044"/>
                </a:solidFill>
              </a:rPr>
              <a:t>What final result is produced?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2697480" y="1572768"/>
            <a:ext cx="457200" cy="0"/>
          </a:xfrm>
          <a:prstGeom prst="line">
            <a:avLst/>
          </a:prstGeom>
          <a:noFill/>
          <a:ln w="25400">
            <a:solidFill>
              <a:srgbClr val="15C3F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58384" y="1572768"/>
            <a:ext cx="457200" cy="0"/>
          </a:xfrm>
          <a:prstGeom prst="line">
            <a:avLst/>
          </a:prstGeom>
          <a:noFill/>
          <a:ln w="25400">
            <a:solidFill>
              <a:srgbClr val="15C3F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19288" y="1572768"/>
            <a:ext cx="457200" cy="0"/>
          </a:xfrm>
          <a:prstGeom prst="line">
            <a:avLst/>
          </a:prstGeom>
          <a:noFill/>
          <a:ln w="25400">
            <a:solidFill>
              <a:srgbClr val="15C3F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7240" y="3703320"/>
            <a:ext cx="1065276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2461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66C2"/>
                </a:solidFill>
              </a:rPr>
              <a:t>Example 1: Sum of Two Numbers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2960" y="3886200"/>
            <a:ext cx="448056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Problem: Add two numbers</a:t>
            </a:r>
            <a:endParaRPr lang="en-US" sz="1800" dirty="0"/>
          </a:p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Input: A and B</a:t>
            </a:r>
            <a:endParaRPr lang="en-US" sz="1800" dirty="0"/>
          </a:p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Processing: A + B</a:t>
            </a:r>
            <a:endParaRPr lang="en-US" sz="1800" dirty="0"/>
          </a:p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Sum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32461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B3A8"/>
                </a:solidFill>
              </a:rPr>
              <a:t>Example 2: Maximum in a List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00800" y="3886200"/>
            <a:ext cx="480060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Problem: Find the largest value</a:t>
            </a:r>
            <a:endParaRPr lang="en-US" sz="1800" dirty="0"/>
          </a:p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Input: List A[0…n−1]</a:t>
            </a:r>
            <a:endParaRPr lang="en-US" sz="1800" dirty="0"/>
          </a:p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Processing: compare and update max</a:t>
            </a:r>
            <a:endParaRPr lang="en-US" sz="1800" dirty="0"/>
          </a:p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Largest element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Example: Add Two Numbers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49808" y="13258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Problem: Given two numbers, compute their sum.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0B1E3D"/>
          </a:solidFill>
          <a:ln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Algorithm AddTwoNumbers(A, B)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Sum ← A + 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Sum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196596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FF7E6"/>
          </a:solidFill>
          <a:ln w="12700">
            <a:solidFill>
              <a:srgbClr val="FFD5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= 7 and B = 5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Sum = 12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995160" y="3794760"/>
            <a:ext cx="3429000" cy="548640"/>
          </a:xfrm>
          <a:prstGeom prst="roundRect">
            <a:avLst>
              <a:gd name="adj" fmla="val 13333"/>
            </a:avLst>
          </a:prstGeom>
          <a:solidFill>
            <a:srgbClr val="E7FBF8"/>
          </a:solidFill>
          <a:ln w="12700">
            <a:solidFill>
              <a:srgbClr val="A9EE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B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Language-independent logic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4754880"/>
            <a:ext cx="1060704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9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algorithm does not depend on a specific programming language.</a:t>
            </a:r>
            <a:endParaRPr lang="en-US" sz="1900" dirty="0"/>
          </a:p>
          <a:p>
            <a:r>
              <a:rPr lang="en-US" sz="19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Later, the same logic can be implemented in Python, C++, Java, etc.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Essential Characteristics of Algorithms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A66C2"/>
          </a:solidFill>
          <a:ln>
            <a:solidFill>
              <a:srgbClr val="0A66C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44752" y="14904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Input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337560" y="1453896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243044"/>
                </a:solidFill>
              </a:rPr>
              <a:t>Zero, one, or many values; valid domain is clear.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2B3A8"/>
          </a:solidFill>
          <a:ln>
            <a:solidFill>
              <a:srgbClr val="12B3A8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44752" y="23134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Output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37560" y="2276856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243044"/>
                </a:solidFill>
              </a:rPr>
              <a:t>At least one result related to the input.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4752" y="3136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Definiteness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37560" y="3099816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243044"/>
                </a:solidFill>
              </a:rPr>
              <a:t>Every step has one clear interpretation.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731520" y="3886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4752" y="39593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Finiteness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37560" y="3922776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243044"/>
                </a:solidFill>
              </a:rPr>
              <a:t>The process terminates after finite steps.</a:t>
            </a:r>
            <a:endParaRPr lang="en-US" sz="1820" dirty="0"/>
          </a:p>
        </p:txBody>
      </p:sp>
      <p:sp>
        <p:nvSpPr>
          <p:cNvPr id="18" name="Text 16"/>
          <p:cNvSpPr/>
          <p:nvPr/>
        </p:nvSpPr>
        <p:spPr>
          <a:xfrm>
            <a:off x="731520" y="4709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4752" y="47823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Effectiveness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337560" y="4745736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243044"/>
                </a:solidFill>
              </a:rPr>
              <a:t>Operations are basic and executable in finite time.</a:t>
            </a:r>
            <a:endParaRPr lang="en-US" sz="1820" dirty="0"/>
          </a:p>
        </p:txBody>
      </p:sp>
      <p:sp>
        <p:nvSpPr>
          <p:cNvPr id="21" name="Text 19"/>
          <p:cNvSpPr/>
          <p:nvPr/>
        </p:nvSpPr>
        <p:spPr>
          <a:xfrm>
            <a:off x="1097280" y="5687568"/>
            <a:ext cx="9966960" cy="566928"/>
          </a:xfrm>
          <a:prstGeom prst="roundRect">
            <a:avLst>
              <a:gd name="adj" fmla="val 12903"/>
            </a:avLst>
          </a:prstGeom>
          <a:solidFill>
            <a:srgbClr val="EAF6FF"/>
          </a:solidFill>
          <a:ln w="12700"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66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procedure is not automatically an algorithm.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A66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must satisfy these properties.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 Algorithm or Not?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4434840" cy="438912"/>
          </a:xfrm>
          <a:prstGeom prst="roundRect">
            <a:avLst>
              <a:gd name="adj" fmla="val 16667"/>
            </a:avLst>
          </a:prstGeom>
          <a:solidFill>
            <a:srgbClr val="0B1E3D"/>
          </a:solidFill>
          <a:ln w="12700">
            <a:solidFill>
              <a:srgbClr val="0B1E3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Procedure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57800" y="132588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0B1E3D"/>
          </a:solidFill>
          <a:ln w="12700">
            <a:solidFill>
              <a:srgbClr val="0B1E3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Verdict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69480" y="1325880"/>
            <a:ext cx="4297680" cy="438912"/>
          </a:xfrm>
          <a:prstGeom prst="roundRect">
            <a:avLst>
              <a:gd name="adj" fmla="val 16667"/>
            </a:avLst>
          </a:prstGeom>
          <a:solidFill>
            <a:srgbClr val="0B1E3D"/>
          </a:solidFill>
          <a:ln w="12700">
            <a:solidFill>
              <a:srgbClr val="0B1E3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4434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4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6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n, repeat n times, print result.</a:t>
            </a:r>
            <a:endParaRPr lang="en-US" sz="1460" dirty="0"/>
          </a:p>
        </p:txBody>
      </p:sp>
      <p:sp>
        <p:nvSpPr>
          <p:cNvPr id="10" name="Text 8"/>
          <p:cNvSpPr/>
          <p:nvPr/>
        </p:nvSpPr>
        <p:spPr>
          <a:xfrm>
            <a:off x="5257800" y="1847088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12700">
            <a:solidFill>
              <a:srgbClr val="9DEC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</a:t>
            </a:r>
            <a:endParaRPr lang="en-US" sz="1460" dirty="0"/>
          </a:p>
        </p:txBody>
      </p:sp>
      <p:sp>
        <p:nvSpPr>
          <p:cNvPr id="11" name="Text 9"/>
          <p:cNvSpPr/>
          <p:nvPr/>
        </p:nvSpPr>
        <p:spPr>
          <a:xfrm>
            <a:off x="7269480" y="1847088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4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6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stopping point are defined</a:t>
            </a:r>
            <a:endParaRPr lang="en-US" sz="1460" dirty="0"/>
          </a:p>
        </p:txBody>
      </p:sp>
      <p:sp>
        <p:nvSpPr>
          <p:cNvPr id="12" name="Text 10"/>
          <p:cNvSpPr/>
          <p:nvPr/>
        </p:nvSpPr>
        <p:spPr>
          <a:xfrm>
            <a:off x="640080" y="2596896"/>
            <a:ext cx="4434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4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6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adding 1 forever.</a:t>
            </a:r>
            <a:endParaRPr lang="en-US" sz="1460" dirty="0"/>
          </a:p>
        </p:txBody>
      </p:sp>
      <p:sp>
        <p:nvSpPr>
          <p:cNvPr id="13" name="Text 11"/>
          <p:cNvSpPr/>
          <p:nvPr/>
        </p:nvSpPr>
        <p:spPr>
          <a:xfrm>
            <a:off x="5257800" y="2596896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FF1F2"/>
          </a:solidFill>
          <a:ln w="12700">
            <a:solidFill>
              <a:srgbClr val="FEB7B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valid</a:t>
            </a:r>
            <a:endParaRPr lang="en-US" sz="1460" dirty="0"/>
          </a:p>
        </p:txBody>
      </p:sp>
      <p:sp>
        <p:nvSpPr>
          <p:cNvPr id="14" name="Text 12"/>
          <p:cNvSpPr/>
          <p:nvPr/>
        </p:nvSpPr>
        <p:spPr>
          <a:xfrm>
            <a:off x="7269480" y="2596896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4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6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violates finiteness</a:t>
            </a:r>
            <a:endParaRPr lang="en-US" sz="1460" dirty="0"/>
          </a:p>
        </p:txBody>
      </p:sp>
      <p:sp>
        <p:nvSpPr>
          <p:cNvPr id="15" name="Text 13"/>
          <p:cNvSpPr/>
          <p:nvPr/>
        </p:nvSpPr>
        <p:spPr>
          <a:xfrm>
            <a:off x="640080" y="3346704"/>
            <a:ext cx="4434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4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6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a number that looks nice.</a:t>
            </a:r>
            <a:endParaRPr lang="en-US" sz="1460" dirty="0"/>
          </a:p>
        </p:txBody>
      </p:sp>
      <p:sp>
        <p:nvSpPr>
          <p:cNvPr id="16" name="Text 14"/>
          <p:cNvSpPr/>
          <p:nvPr/>
        </p:nvSpPr>
        <p:spPr>
          <a:xfrm>
            <a:off x="5257800" y="3346704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FF1F2"/>
          </a:solidFill>
          <a:ln w="12700">
            <a:solidFill>
              <a:srgbClr val="FEB7B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valid</a:t>
            </a:r>
            <a:endParaRPr lang="en-US" sz="1460" dirty="0"/>
          </a:p>
        </p:txBody>
      </p:sp>
      <p:sp>
        <p:nvSpPr>
          <p:cNvPr id="17" name="Text 15"/>
          <p:cNvSpPr/>
          <p:nvPr/>
        </p:nvSpPr>
        <p:spPr>
          <a:xfrm>
            <a:off x="7269480" y="3346704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4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6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ambiguous; violates definiteness</a:t>
            </a:r>
            <a:endParaRPr lang="en-US" sz="1460" dirty="0"/>
          </a:p>
        </p:txBody>
      </p:sp>
      <p:sp>
        <p:nvSpPr>
          <p:cNvPr id="18" name="Text 16"/>
          <p:cNvSpPr/>
          <p:nvPr/>
        </p:nvSpPr>
        <p:spPr>
          <a:xfrm>
            <a:off x="640080" y="4096512"/>
            <a:ext cx="4434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4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6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two values, add them, print sum.</a:t>
            </a:r>
            <a:endParaRPr lang="en-US" sz="1460" dirty="0"/>
          </a:p>
        </p:txBody>
      </p:sp>
      <p:sp>
        <p:nvSpPr>
          <p:cNvPr id="19" name="Text 17"/>
          <p:cNvSpPr/>
          <p:nvPr/>
        </p:nvSpPr>
        <p:spPr>
          <a:xfrm>
            <a:off x="5257800" y="4096512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12700">
            <a:solidFill>
              <a:srgbClr val="9DEC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</a:t>
            </a:r>
            <a:endParaRPr lang="en-US" sz="1460" dirty="0"/>
          </a:p>
        </p:txBody>
      </p:sp>
      <p:sp>
        <p:nvSpPr>
          <p:cNvPr id="20" name="Text 18"/>
          <p:cNvSpPr/>
          <p:nvPr/>
        </p:nvSpPr>
        <p:spPr>
          <a:xfrm>
            <a:off x="7269480" y="4096512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4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6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clear, finite, executable</a:t>
            </a:r>
            <a:endParaRPr lang="en-US" sz="1460" dirty="0"/>
          </a:p>
        </p:txBody>
      </p:sp>
      <p:sp>
        <p:nvSpPr>
          <p:cNvPr id="21" name="Text 19"/>
          <p:cNvSpPr/>
          <p:nvPr/>
        </p:nvSpPr>
        <p:spPr>
          <a:xfrm>
            <a:off x="2148840" y="5596128"/>
            <a:ext cx="7680960" cy="530352"/>
          </a:xfrm>
          <a:prstGeom prst="roundRect">
            <a:avLst>
              <a:gd name="adj" fmla="val 13793"/>
            </a:avLst>
          </a:prstGeom>
          <a:solidFill>
            <a:srgbClr val="0B1E3D"/>
          </a:solidFill>
          <a:ln w="12700">
            <a:solidFill>
              <a:srgbClr val="0B1E3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discussion: Which property is missing?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Ways to Write and Represent Algorithms</a:t>
            </a:r>
            <a:endParaRPr lang="en-US" sz="2900" dirty="0"/>
          </a:p>
        </p:txBody>
      </p:sp>
      <p:pic>
        <p:nvPicPr>
          <p:cNvPr id="6" name="Image 0" descr="/mnt/data/wide_clean_modern_3d_cgi_infographic_scene_on_a_batch_2.png">    </p:cNvPr>
          <p:cNvPicPr>
            <a:picLocks noChangeAspect="1"/>
          </p:cNvPicPr>
          <p:nvPr/>
        </p:nvPicPr>
        <p:blipFill>
          <a:blip r:embed="rId1"/>
          <a:srcRect l="0" r="0" t="26505" b="26505"/>
          <a:stretch/>
        </p:blipFill>
        <p:spPr>
          <a:xfrm>
            <a:off x="566928" y="1252728"/>
            <a:ext cx="1106424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46177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AF6FF"/>
          </a:solidFill>
          <a:ln w="12700">
            <a:solidFill>
              <a:srgbClr val="9ED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Language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5138928"/>
            <a:ext cx="2377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243044"/>
                </a:solidFill>
              </a:rPr>
              <a:t>easy to understand, but may be vague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3584448" y="46177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7FBF8"/>
          </a:solidFill>
          <a:ln w="12700">
            <a:solidFill>
              <a:srgbClr val="A9EE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Pseudocode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584448" y="5138928"/>
            <a:ext cx="2377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243044"/>
                </a:solidFill>
              </a:rPr>
              <a:t>structured, language-independent logic</a:t>
            </a:r>
            <a:endParaRPr lang="en-US" sz="1420" dirty="0"/>
          </a:p>
        </p:txBody>
      </p:sp>
      <p:sp>
        <p:nvSpPr>
          <p:cNvPr id="11" name="Text 8"/>
          <p:cNvSpPr/>
          <p:nvPr/>
        </p:nvSpPr>
        <p:spPr>
          <a:xfrm>
            <a:off x="6437376" y="46177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F7E6"/>
          </a:solidFill>
          <a:ln w="12700">
            <a:solidFill>
              <a:srgbClr val="FFD5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Flowchart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37376" y="5138928"/>
            <a:ext cx="2377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243044"/>
                </a:solidFill>
              </a:rPr>
              <a:t>visualizes sequence, decisions, and loops</a:t>
            </a:r>
            <a:endParaRPr lang="en-US" sz="1420" dirty="0"/>
          </a:p>
        </p:txBody>
      </p:sp>
      <p:sp>
        <p:nvSpPr>
          <p:cNvPr id="13" name="Text 10"/>
          <p:cNvSpPr/>
          <p:nvPr/>
        </p:nvSpPr>
        <p:spPr>
          <a:xfrm>
            <a:off x="9290304" y="46177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2EEFF"/>
          </a:solidFill>
          <a:ln w="12700">
            <a:solidFill>
              <a:srgbClr val="D0BE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Code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290304" y="5138928"/>
            <a:ext cx="2377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243044"/>
                </a:solidFill>
              </a:rPr>
              <a:t>executable implementation with exact syntax</a:t>
            </a:r>
            <a:endParaRPr lang="en-US" sz="1420" dirty="0"/>
          </a:p>
        </p:txBody>
      </p:sp>
      <p:sp>
        <p:nvSpPr>
          <p:cNvPr id="16" name="Text 12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Pseudocode and Flowcharts: Make the Logic Visible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4846320" cy="1874520"/>
          </a:xfrm>
          <a:prstGeom prst="roundRect">
            <a:avLst>
              <a:gd name="adj" fmla="val 3902"/>
            </a:avLst>
          </a:prstGeom>
          <a:solidFill>
            <a:srgbClr val="0B1E3D"/>
          </a:solidFill>
          <a:ln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Algorithm AddTwoNumbers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Input: A, 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Sum ← A + 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Output Sum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52360" y="1828800"/>
            <a:ext cx="0" cy="411480"/>
          </a:xfrm>
          <a:prstGeom prst="line">
            <a:avLst/>
          </a:prstGeom>
          <a:noFill/>
          <a:ln w="22860">
            <a:solidFill>
              <a:srgbClr val="15C3F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452360" y="2834640"/>
            <a:ext cx="0" cy="411480"/>
          </a:xfrm>
          <a:prstGeom prst="line">
            <a:avLst/>
          </a:prstGeom>
          <a:noFill/>
          <a:ln w="22860">
            <a:solidFill>
              <a:srgbClr val="15C3F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52360" y="3840480"/>
            <a:ext cx="0" cy="411480"/>
          </a:xfrm>
          <a:prstGeom prst="line">
            <a:avLst/>
          </a:prstGeom>
          <a:noFill/>
          <a:ln w="22860">
            <a:solidFill>
              <a:srgbClr val="15C3F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537960" y="141732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9ED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66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82512" y="224028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EAF6FF"/>
          </a:solidFill>
          <a:ln w="12700">
            <a:solidFill>
              <a:srgbClr val="9ED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A, 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82512" y="324612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FFF7E6"/>
          </a:solidFill>
          <a:ln w="12700">
            <a:solidFill>
              <a:srgbClr val="FFD5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 ← A + 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82512" y="425196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E7FBF8"/>
          </a:solidFill>
          <a:ln w="12700">
            <a:solidFill>
              <a:srgbClr val="A9EE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Sum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251960"/>
            <a:ext cx="480060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indentation to show blocks.</a:t>
            </a:r>
            <a:endParaRPr lang="en-US" sz="1800" dirty="0"/>
          </a:p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diamonds for decisions and arrows for control flow.</a:t>
            </a:r>
            <a:endParaRPr lang="en-US" sz="1800" dirty="0"/>
          </a:p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first; code second.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 vs. Program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080760" y="1280160"/>
            <a:ext cx="0" cy="4343400"/>
          </a:xfrm>
          <a:prstGeom prst="line">
            <a:avLst/>
          </a:prstGeom>
          <a:noFill/>
          <a:ln w="2540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325880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0A66C2"/>
          </a:solidFill>
          <a:ln>
            <a:solidFill>
              <a:srgbClr val="0A66C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4434840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0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solution method</a:t>
            </a:r>
            <a:endParaRPr lang="en-US" sz="2000" dirty="0"/>
          </a:p>
          <a:p>
            <a:r>
              <a:rPr lang="en-US" sz="20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Language-independent</a:t>
            </a:r>
            <a:endParaRPr lang="en-US" sz="2000" dirty="0"/>
          </a:p>
          <a:p>
            <a:r>
              <a:rPr lang="en-US" sz="20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Focus: correct logic and strategy</a:t>
            </a:r>
            <a:endParaRPr lang="en-US" sz="2000" dirty="0"/>
          </a:p>
          <a:p>
            <a:r>
              <a:rPr lang="en-US" sz="20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Cannot be executed directly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818120" y="1325880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12B3A8"/>
          </a:solidFill>
          <a:ln>
            <a:solidFill>
              <a:srgbClr val="12B3A8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20840" y="2240280"/>
            <a:ext cx="4434840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0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Executable implementation</a:t>
            </a:r>
            <a:endParaRPr lang="en-US" sz="2000" dirty="0"/>
          </a:p>
          <a:p>
            <a:r>
              <a:rPr lang="en-US" sz="20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Written in a specific language</a:t>
            </a:r>
            <a:endParaRPr lang="en-US" sz="2000" dirty="0"/>
          </a:p>
          <a:p>
            <a:r>
              <a:rPr lang="en-US" sz="20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Focus: syntax, data types, libraries</a:t>
            </a:r>
            <a:endParaRPr lang="en-US" sz="2000" dirty="0"/>
          </a:p>
          <a:p>
            <a:r>
              <a:rPr lang="en-US" sz="20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compiled/interpreted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23160" y="5532120"/>
            <a:ext cx="7315200" cy="585216"/>
          </a:xfrm>
          <a:prstGeom prst="roundRect">
            <a:avLst>
              <a:gd name="adj" fmla="val 12500"/>
            </a:avLst>
          </a:prstGeom>
          <a:solidFill>
            <a:srgbClr val="0B1E3D"/>
          </a:solidFill>
          <a:ln w="12700">
            <a:solidFill>
              <a:srgbClr val="0B1E3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algorithm → many possible programs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Components of Introductory Algorithms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2423160" y="2761488"/>
            <a:ext cx="365760" cy="0"/>
          </a:xfrm>
          <a:prstGeom prst="line">
            <a:avLst/>
          </a:prstGeom>
          <a:noFill/>
          <a:ln w="22860">
            <a:solidFill>
              <a:srgbClr val="15C3F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80560" y="2761488"/>
            <a:ext cx="365760" cy="0"/>
          </a:xfrm>
          <a:prstGeom prst="line">
            <a:avLst/>
          </a:prstGeom>
          <a:noFill/>
          <a:ln w="22860">
            <a:solidFill>
              <a:srgbClr val="15C3F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537960" y="2761488"/>
            <a:ext cx="365760" cy="0"/>
          </a:xfrm>
          <a:prstGeom prst="line">
            <a:avLst/>
          </a:prstGeom>
          <a:noFill/>
          <a:ln w="22860">
            <a:solidFill>
              <a:srgbClr val="15C3F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595360" y="2761488"/>
            <a:ext cx="365760" cy="0"/>
          </a:xfrm>
          <a:prstGeom prst="line">
            <a:avLst/>
          </a:prstGeom>
          <a:noFill/>
          <a:ln w="22860">
            <a:solidFill>
              <a:srgbClr val="15C3F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85800" y="233172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EAF6FF"/>
          </a:solidFill>
          <a:ln w="12700">
            <a:solidFill>
              <a:srgbClr val="9ED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85800" y="3090672"/>
            <a:ext cx="1737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243044"/>
                </a:solidFill>
              </a:rPr>
              <a:t>Acquire data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2926080" y="233172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E7FBF8"/>
          </a:solidFill>
          <a:ln w="12700">
            <a:solidFill>
              <a:srgbClr val="A9EE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Computation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926080" y="3090672"/>
            <a:ext cx="1737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243044"/>
                </a:solidFill>
              </a:rPr>
              <a:t>Arithmetic / logic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5166360" y="233172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FF7E6"/>
          </a:solidFill>
          <a:ln w="12700">
            <a:solidFill>
              <a:srgbClr val="FFD5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166360" y="3090672"/>
            <a:ext cx="1737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243044"/>
                </a:solidFill>
              </a:rPr>
              <a:t>IF–THEN–ELSE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7406640" y="233172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2EEFF"/>
          </a:solidFill>
          <a:ln w="12700">
            <a:solidFill>
              <a:srgbClr val="D0BE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Iteration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406640" y="3090672"/>
            <a:ext cx="1737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243044"/>
                </a:solidFill>
              </a:rPr>
              <a:t>Repeat operations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9646920" y="233172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2700">
            <a:solidFill>
              <a:srgbClr val="9DEC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646920" y="3090672"/>
            <a:ext cx="1737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243044"/>
                </a:solidFill>
              </a:rPr>
              <a:t>Report result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1051560" y="4572000"/>
            <a:ext cx="10058400" cy="658368"/>
          </a:xfrm>
          <a:prstGeom prst="roundRect">
            <a:avLst>
              <a:gd name="adj" fmla="val 11111"/>
            </a:avLst>
          </a:prstGeom>
          <a:solidFill>
            <a:srgbClr val="EAF6FF"/>
          </a:solidFill>
          <a:ln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Example: IF mark ≥ 50 THEN output "Pass" ELSE output "Fail"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Example: Student Grade Classification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0B1E3D"/>
          </a:solidFill>
          <a:ln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Algorithm ClassifyGrade(mark)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if mark ≥ 50 then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output "Pass"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else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output "Fail"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end if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417320"/>
            <a:ext cx="4206240" cy="1508760"/>
          </a:xfrm>
          <a:prstGeom prst="roundRect">
            <a:avLst>
              <a:gd name="adj" fmla="val 4848"/>
            </a:avLst>
          </a:prstGeom>
          <a:solidFill>
            <a:srgbClr val="E7FBF8"/>
          </a:solidFill>
          <a:ln w="12700">
            <a:solidFill>
              <a:srgbClr val="A9EE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1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= 72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 ≥ 50 is true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Pass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0" y="3429000"/>
            <a:ext cx="4206240" cy="1508760"/>
          </a:xfrm>
          <a:prstGeom prst="roundRect">
            <a:avLst>
              <a:gd name="adj" fmla="val 4848"/>
            </a:avLst>
          </a:prstGeom>
          <a:solidFill>
            <a:srgbClr val="FFF7E6"/>
          </a:solidFill>
          <a:ln w="12700">
            <a:solidFill>
              <a:srgbClr val="FFD5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2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= 43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 ≥ 50 is false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Fail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1014984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algorithm combines input, selection, and output.</a:t>
            </a:r>
            <a:endParaRPr lang="en-US" sz="1800" dirty="0"/>
          </a:p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condition determines which branch is executed.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 Design Process: From Idea to Improvement</a:t>
            </a:r>
            <a:endParaRPr lang="en-US" sz="2900" dirty="0"/>
          </a:p>
        </p:txBody>
      </p:sp>
      <p:pic>
        <p:nvPicPr>
          <p:cNvPr id="6" name="Image 0" descr="/mnt/data/a_clean_isometric_3d_vector_illustration_on_a_dark_batch_3.png">    </p:cNvPr>
          <p:cNvPicPr>
            <a:picLocks noChangeAspect="1"/>
          </p:cNvPicPr>
          <p:nvPr/>
        </p:nvPicPr>
        <p:blipFill>
          <a:blip r:embed="rId1"/>
          <a:srcRect l="10252" r="10252" t="0" b="0"/>
          <a:stretch/>
        </p:blipFill>
        <p:spPr>
          <a:xfrm>
            <a:off x="6355080" y="1143000"/>
            <a:ext cx="516636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234440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0A66C2"/>
          </a:solidFill>
          <a:ln>
            <a:solidFill>
              <a:srgbClr val="0A66C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98448" y="12710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044"/>
                </a:solidFill>
              </a:rPr>
              <a:t>Understand the problem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" y="1947672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12B3A8"/>
          </a:solidFill>
          <a:ln>
            <a:solidFill>
              <a:srgbClr val="12B3A8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98448" y="19842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044"/>
                </a:solidFill>
              </a:rPr>
              <a:t>Develop a strategy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9808" y="2660904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98448" y="2697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044"/>
                </a:solidFill>
              </a:rPr>
              <a:t>Design the algorithm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9808" y="3374136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98448" y="34107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3044"/>
                </a:solidFill>
              </a:rPr>
              <a:t>Justify correctness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49808" y="4087368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98448" y="4123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3044"/>
                </a:solidFill>
              </a:rPr>
              <a:t>Analyze efficiency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49808" y="4800600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98448" y="48371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3044"/>
                </a:solidFill>
              </a:rPr>
              <a:t>Implement, test, improve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51560" y="5715000"/>
            <a:ext cx="9966960" cy="502920"/>
          </a:xfrm>
          <a:prstGeom prst="roundRect">
            <a:avLst>
              <a:gd name="adj" fmla="val 14545"/>
            </a:avLst>
          </a:prstGeom>
          <a:solidFill>
            <a:srgbClr val="EAF6FF"/>
          </a:solidFill>
          <a:ln w="12700"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66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solutions rarely begin with code.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Design Case: Find the Largest Value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list: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= [8, 3, 12, 5, 9]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26280" y="1645920"/>
            <a:ext cx="685800" cy="0"/>
          </a:xfrm>
          <a:prstGeom prst="line">
            <a:avLst/>
          </a:prstGeom>
          <a:noFill/>
          <a:ln w="25400">
            <a:solidFill>
              <a:srgbClr val="15C3F9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257800" y="114300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E7FBF8"/>
          </a:solidFill>
          <a:ln w="12700">
            <a:solidFill>
              <a:srgbClr val="A9EE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Strategy: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once and remember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largest value seen so far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549640" y="1645920"/>
            <a:ext cx="594360" cy="0"/>
          </a:xfrm>
          <a:prstGeom prst="line">
            <a:avLst/>
          </a:prstGeom>
          <a:noFill/>
          <a:ln w="25400">
            <a:solidFill>
              <a:srgbClr val="15C3F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235440" y="12344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7E6"/>
          </a:solidFill>
          <a:ln w="12700">
            <a:solidFill>
              <a:srgbClr val="FFD5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51560" y="2743200"/>
            <a:ext cx="10058400" cy="749808"/>
          </a:xfrm>
          <a:prstGeom prst="roundRect">
            <a:avLst>
              <a:gd name="adj" fmla="val 9756"/>
            </a:avLst>
          </a:prstGeom>
          <a:solidFill>
            <a:srgbClr val="F0FDF4"/>
          </a:solidFill>
          <a:ln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Correctness idea: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After processing the first k elements, max stores the largest among those k elements.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94560" y="3840480"/>
            <a:ext cx="7772400" cy="621792"/>
          </a:xfrm>
          <a:prstGeom prst="roundRect">
            <a:avLst>
              <a:gd name="adj" fmla="val 11765"/>
            </a:avLst>
          </a:prstGeom>
          <a:solidFill>
            <a:srgbClr val="EAF6FF"/>
          </a:solidFill>
          <a:ln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Termination: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The scan ends after the last element.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4983480"/>
            <a:ext cx="1033272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0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example shows how to design before coding.</a:t>
            </a:r>
            <a:endParaRPr lang="en-US" sz="2000" dirty="0"/>
          </a:p>
          <a:p>
            <a:r>
              <a:rPr lang="en-US" sz="20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prepares students to analyze algorithms later.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1: Maximum Number in a List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5257800" cy="2468880"/>
          </a:xfrm>
          <a:prstGeom prst="roundRect">
            <a:avLst>
              <a:gd name="adj" fmla="val 2963"/>
            </a:avLst>
          </a:prstGeom>
          <a:solidFill>
            <a:srgbClr val="0B1E3D"/>
          </a:solidFill>
          <a:ln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Algorithm Maximum(A)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max ← A[0]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i ← 1 to length(A) − 1 do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if A[i] &gt; max then max ← A[i]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return max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8745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EAF6FF"/>
          </a:solidFill>
          <a:ln w="12700">
            <a:solidFill>
              <a:srgbClr val="9ED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91656" y="26974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</a:rPr>
              <a:t>Start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60920" y="18745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EAF6FF"/>
          </a:solidFill>
          <a:ln w="12700">
            <a:solidFill>
              <a:srgbClr val="9ED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51776" y="26974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</a:rPr>
              <a:t>after 11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21040" y="18745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EAF6FF"/>
          </a:solidFill>
          <a:ln w="12700">
            <a:solidFill>
              <a:srgbClr val="9ED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11896" y="26974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</a:rPr>
              <a:t>after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281160" y="18745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FFE08A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272016" y="26974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</a:rPr>
              <a:t>after 15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241280" y="18745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EAF6FF"/>
          </a:solidFill>
          <a:ln w="12700">
            <a:solidFill>
              <a:srgbClr val="9ED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232136" y="26974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</a:rPr>
              <a:t>after 7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37960" y="3749040"/>
            <a:ext cx="4343400" cy="82296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12700">
            <a:solidFill>
              <a:srgbClr val="9DEC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for A = [4, 11, 2, 15, 7]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result = 15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66C2"/>
                </a:solidFill>
              </a:rPr>
              <a:t>Why it works: max always stores the greatest element examined so far.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2: Factorial of a Number</a:t>
            </a:r>
            <a:endParaRPr lang="en-US" sz="2900" dirty="0"/>
          </a:p>
        </p:txBody>
      </p:sp>
      <p:pic>
        <p:nvPicPr>
          <p:cNvPr id="6" name="Image 0" descr="/mnt/data/a_clean_modern_colorful_3d_isometric_soft_shaded_batch_4.png">    </p:cNvPr>
          <p:cNvPicPr>
            <a:picLocks noChangeAspect="1"/>
          </p:cNvPicPr>
          <p:nvPr/>
        </p:nvPicPr>
        <p:blipFill>
          <a:blip r:embed="rId1"/>
          <a:srcRect l="45000" r="3459" t="0" b="55000"/>
          <a:stretch/>
        </p:blipFill>
        <p:spPr>
          <a:xfrm>
            <a:off x="6126480" y="1234440"/>
            <a:ext cx="5303520" cy="2606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32588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EAF6FF"/>
          </a:solidFill>
          <a:ln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n ≥ 0: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n! = n × (n−1) × … × 2 × 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with 0! = 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852928"/>
            <a:ext cx="4800600" cy="2103120"/>
          </a:xfrm>
          <a:prstGeom prst="roundRect">
            <a:avLst>
              <a:gd name="adj" fmla="val 3478"/>
            </a:avLst>
          </a:prstGeom>
          <a:solidFill>
            <a:srgbClr val="0B1E3D"/>
          </a:solidFill>
          <a:ln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Algorithm Factorial(n)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 ← 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i ← 2 to n do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result ← result × 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return result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309360" y="457200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FF7E6"/>
          </a:solidFill>
          <a:ln w="12700">
            <a:solidFill>
              <a:srgbClr val="FFD5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for n = 5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→ 2 → 6 → 24 → 120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600200" y="5715000"/>
            <a:ext cx="8961120" cy="475488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12700">
            <a:solidFill>
              <a:srgbClr val="9DEC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case: n = 0 or n = 1 returns 1.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3: Linear Search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0652760" cy="749808"/>
          </a:xfrm>
          <a:prstGeom prst="roundRect">
            <a:avLst>
              <a:gd name="adj" fmla="val 9756"/>
            </a:avLst>
          </a:prstGeom>
          <a:solidFill>
            <a:srgbClr val="EAF6FF"/>
          </a:solidFill>
          <a:ln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Goal: find whether a target exists in a list.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Check elements from the beginning until found or the list ends.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560320"/>
            <a:ext cx="777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33375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i=0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2560320"/>
            <a:ext cx="777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94560" y="33375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i=1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2560320"/>
            <a:ext cx="777240" cy="685800"/>
          </a:xfrm>
          <a:prstGeom prst="roundRect">
            <a:avLst>
              <a:gd name="adj" fmla="val 10667"/>
            </a:avLst>
          </a:prstGeom>
          <a:solidFill>
            <a:srgbClr val="FFE08A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0" y="33375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i=2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2560320"/>
            <a:ext cx="777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06240" y="33375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i=3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94960" y="2898648"/>
            <a:ext cx="1005840" cy="0"/>
          </a:xfrm>
          <a:prstGeom prst="line">
            <a:avLst/>
          </a:prstGeom>
          <a:noFill/>
          <a:ln w="25400">
            <a:solidFill>
              <a:srgbClr val="15C3F9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537960" y="242316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9DEC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= 9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index 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77240" y="4160520"/>
            <a:ext cx="10652760" cy="1417320"/>
          </a:xfrm>
          <a:prstGeom prst="roundRect">
            <a:avLst>
              <a:gd name="adj" fmla="val 5161"/>
            </a:avLst>
          </a:prstGeom>
          <a:solidFill>
            <a:srgbClr val="0B1E3D"/>
          </a:solidFill>
          <a:ln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Algorithm LinearSearch(A, target)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i ← 0 to length(A) − 1 do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if A[i] = target then return 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return −1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4: Euclidean Algorithm for GCD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0652760" cy="566928"/>
          </a:xfrm>
          <a:prstGeom prst="roundRect">
            <a:avLst>
              <a:gd name="adj" fmla="val 12903"/>
            </a:avLst>
          </a:prstGeom>
          <a:solidFill>
            <a:srgbClr val="EAF6FF"/>
          </a:solidFill>
          <a:ln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GCD(a, b): largest integer that divides both a and b without a remainder.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5029200" cy="2468880"/>
          </a:xfrm>
          <a:prstGeom prst="roundRect">
            <a:avLst>
              <a:gd name="adj" fmla="val 2963"/>
            </a:avLst>
          </a:prstGeom>
          <a:solidFill>
            <a:srgbClr val="0B1E3D"/>
          </a:solidFill>
          <a:ln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Algorithm GCD(a, b)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while b ≠ 0 do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temp ← 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b ← a mod 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a ← temp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return 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2057400"/>
            <a:ext cx="21488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(48,18)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61504" y="2505456"/>
            <a:ext cx="0" cy="219456"/>
          </a:xfrm>
          <a:prstGeom prst="line">
            <a:avLst/>
          </a:prstGeom>
          <a:noFill/>
          <a:ln w="17780">
            <a:solidFill>
              <a:srgbClr val="15C3F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400800" y="2770632"/>
            <a:ext cx="21488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(18,12)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61504" y="3218688"/>
            <a:ext cx="0" cy="219456"/>
          </a:xfrm>
          <a:prstGeom prst="line">
            <a:avLst/>
          </a:prstGeom>
          <a:noFill/>
          <a:ln w="17780">
            <a:solidFill>
              <a:srgbClr val="15C3F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400800" y="3483864"/>
            <a:ext cx="21488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(12,6)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61504" y="3931920"/>
            <a:ext cx="0" cy="219456"/>
          </a:xfrm>
          <a:prstGeom prst="line">
            <a:avLst/>
          </a:prstGeom>
          <a:noFill/>
          <a:ln w="17780">
            <a:solidFill>
              <a:srgbClr val="15C3F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400800" y="4197096"/>
            <a:ext cx="2148840" cy="43891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9DEC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(6,0)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400800" y="516636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7E6"/>
          </a:solidFill>
          <a:ln w="12700">
            <a:solidFill>
              <a:srgbClr val="FFD5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b = 0, return a = 6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Mistakes and Quality Checklist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521208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Ambiguous steps: “process the data”</a:t>
            </a:r>
            <a:endParaRPr lang="en-US" sz="1800" dirty="0"/>
          </a:p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edge cases: empty list, n = 0</a:t>
            </a:r>
            <a:endParaRPr lang="en-US" sz="1800" dirty="0"/>
          </a:p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 without guaranteed termination</a:t>
            </a:r>
            <a:endParaRPr lang="en-US" sz="1800" dirty="0"/>
          </a:p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a variable before initialization</a:t>
            </a:r>
            <a:endParaRPr lang="en-US" sz="1800" dirty="0"/>
          </a:p>
          <a:p>
            <a:r>
              <a:rPr lang="en-US" sz="1800" dirty="0">
                <a:solidFill>
                  <a:srgbClr val="24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Confusing algorithm logic with syntax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325880"/>
            <a:ext cx="443484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 clear?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1984248"/>
            <a:ext cx="443484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clear?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642616"/>
            <a:ext cx="443484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step unambiguous?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0" y="3300984"/>
            <a:ext cx="443484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terminates?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3959352"/>
            <a:ext cx="443484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B9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traced by hand?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5120640"/>
            <a:ext cx="10012680" cy="685800"/>
          </a:xfrm>
          <a:prstGeom prst="roundRect">
            <a:avLst>
              <a:gd name="adj" fmla="val 10667"/>
            </a:avLst>
          </a:prstGeom>
          <a:solidFill>
            <a:srgbClr val="0B1E3D"/>
          </a:solidFill>
          <a:ln w="12700">
            <a:solidFill>
              <a:srgbClr val="0B1E3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algorithm is clear, finite, traceable, and independent of programming syntax.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E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84080" y="100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Analysis and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In-Class Practice: Trace and Design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EAF6FF"/>
          </a:solidFill>
          <a:ln w="12700">
            <a:solidFill>
              <a:srgbClr val="9ED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 — Trace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= [7, 3, 10, 6, 2]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max after each comparison.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63640" y="1325880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E7FBF8"/>
          </a:solidFill>
          <a:ln w="12700">
            <a:solidFill>
              <a:srgbClr val="A9EE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2 — Design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three numbers and output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smallest value using selection.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FFF7E6"/>
          </a:solidFill>
          <a:ln w="12700">
            <a:solidFill>
              <a:srgbClr val="FFD5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3 — Explain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“Repeat until the answer is good”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well-defined algorithm?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63640" y="3063240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F2EEFF"/>
          </a:solidFill>
          <a:ln w="12700">
            <a:solidFill>
              <a:srgbClr val="D0BE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4 — GCD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Euclid’s algorithm to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GCD(252, 105).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5166360"/>
            <a:ext cx="9966960" cy="566928"/>
          </a:xfrm>
          <a:prstGeom prst="roundRect">
            <a:avLst>
              <a:gd name="adj" fmla="val 12903"/>
            </a:avLst>
          </a:prstGeom>
          <a:solidFill>
            <a:srgbClr val="0B1E3D"/>
          </a:solidFill>
          <a:ln w="12700">
            <a:solidFill>
              <a:srgbClr val="0B1E3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activity: 4 groups • 5 minutes work • 1 minute explanation per group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modern_vector_3d_styled_illustration_batch_1.png">    </p:cNvPr>
          <p:cNvPicPr>
            <a:picLocks noChangeAspect="1"/>
          </p:cNvPicPr>
          <p:nvPr/>
        </p:nvPicPr>
        <p:blipFill>
          <a:blip r:embed="rId1"/>
          <a:srcRect l="0" r="0" t="32675" b="32675"/>
          <a:stretch/>
        </p:blipFill>
        <p:spPr>
          <a:xfrm>
            <a:off x="0" y="0"/>
            <a:ext cx="12191695" cy="2377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788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Chapter 1 Summary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77240" y="3703320"/>
            <a:ext cx="1078992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92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algorithm is a finite, precise, effective sequence of steps.</a:t>
            </a:r>
            <a:endParaRPr lang="en-US" sz="1920" dirty="0"/>
          </a:p>
          <a:p>
            <a:r>
              <a:rPr lang="en-US" sz="192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algorithms have input, output, definiteness, finiteness, and effectiveness.</a:t>
            </a:r>
            <a:endParaRPr lang="en-US" sz="1920" dirty="0"/>
          </a:p>
          <a:p>
            <a:r>
              <a:rPr lang="en-US" sz="192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can be represented by natural language, pseudocode, flowcharts, or code.</a:t>
            </a:r>
            <a:endParaRPr lang="en-US" sz="1920" dirty="0"/>
          </a:p>
          <a:p>
            <a:r>
              <a:rPr lang="en-US" sz="192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program implements an algorithm in a specific programming language.</a:t>
            </a:r>
            <a:endParaRPr lang="en-US" sz="1920" dirty="0"/>
          </a:p>
          <a:p>
            <a:r>
              <a:rPr lang="en-US" sz="192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Tracing small examples is the best way to verify understanding before analysis.</a:t>
            </a:r>
            <a:endParaRPr lang="en-US" sz="1920" dirty="0"/>
          </a:p>
        </p:txBody>
      </p:sp>
      <p:sp>
        <p:nvSpPr>
          <p:cNvPr id="5" name="Text 2"/>
          <p:cNvSpPr/>
          <p:nvPr/>
        </p:nvSpPr>
        <p:spPr>
          <a:xfrm>
            <a:off x="3474720" y="6080760"/>
            <a:ext cx="5303520" cy="438912"/>
          </a:xfrm>
          <a:prstGeom prst="roundRect">
            <a:avLst>
              <a:gd name="adj" fmla="val 16667"/>
            </a:avLst>
          </a:prstGeom>
          <a:solidFill>
            <a:srgbClr val="15C3F9"/>
          </a:solidFill>
          <a:ln>
            <a:solidFill>
              <a:srgbClr val="15C3F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Algorithm Analysis and Growth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1576304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Qena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Algorithms</dc:title>
  <dc:subject>Algorithms Analysis and Design — Chapter 1</dc:subject>
  <dc:creator>OpenAI</dc:creator>
  <cp:lastModifiedBy>OpenAI</cp:lastModifiedBy>
  <cp:revision>1</cp:revision>
  <dcterms:created xsi:type="dcterms:W3CDTF">2026-09-26T18:09:09Z</dcterms:created>
  <dcterms:modified xsi:type="dcterms:W3CDTF">2026-09-26T18:09:09Z</dcterms:modified>
</cp:coreProperties>
</file>